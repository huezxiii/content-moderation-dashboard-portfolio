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ottom Line Up Front" id="{5920db87-6d97-e1b4-145e-4269b2871857}">
          <p14:sldIdLst>
            <p14:sldId id="256"/>
          </p14:sldIdLst>
        </p14:section>
        <p14:section name="What?" id="{6bd36762-37ff-ef70-3488-3cb040cf6459}">
          <p14:sldIdLst>
            <p14:sldId id="257"/>
          </p14:sldIdLst>
        </p14:section>
        <p14:section name="So What?" id="{50b1afca-f899-a42c-32eb-6fa9ac0dba89}">
          <p14:sldIdLst>
            <p14:sldId id="258"/>
            <p14:sldId id="259"/>
          </p14:sldIdLst>
        </p14:section>
        <p14:section name="Now What?" id="{8bed15f5-4d13-e4f6-2194-f6cca67080cc}">
          <p14:sldIdLst>
            <p14:sldId id="260"/>
          </p14:sldIdLst>
        </p14:section>
        <p14:section name="Appendix" id="{9b00e03c-9515-ea35-c11b-943ba5252b90}">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9"/>
          <c:y val="0.04"/>
          <c:w val="0.62"/>
          <c:h val="0.92"/>
        </c:manualLayout>
      </c:layout>
      <c:barChart>
        <c:barDir val="bar"/>
        <c:grouping val="clustered"/>
        <c:varyColors val="0"/>
        <c:ser>
          <c:idx val="0"/>
          <c:order val="0"/>
          <c:tx>
            <c:strRef>
              <c:f>Sheet1!$B$1</c:f>
              <c:strCache>
                <c:ptCount val="1"/>
                <c:pt idx="0">
                  <c:v>SLA attainment %</c:v>
                </c:pt>
              </c:strCache>
            </c:strRef>
          </c:tx>
          <c:spPr>
            <a:solidFill>
              <a:srgbClr val="74BF04"/>
            </a:solidFill>
            <a:effectLst/>
          </c:spPr>
          <c:invertIfNegative val="0"/>
          <c:dLbls>
            <c:numFmt formatCode="0.0&quot;%&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dPt>
            <c:idx val="0"/>
            <c:invertIfNegative val="0"/>
            <c:bubble3D val="0"/>
            <c:spPr>
              <a:solidFill>
                <a:srgbClr val="74BF04"/>
              </a:solidFill>
              <a:effectLst/>
            </c:spPr>
          </c:dPt>
          <c:dPt>
            <c:idx val="1"/>
            <c:invertIfNegative val="0"/>
            <c:bubble3D val="0"/>
            <c:spPr>
              <a:solidFill>
                <a:srgbClr val="74BF04"/>
              </a:solidFill>
              <a:effectLst/>
            </c:spPr>
          </c:dPt>
          <c:dPt>
            <c:idx val="2"/>
            <c:invertIfNegative val="0"/>
            <c:bubble3D val="0"/>
            <c:spPr>
              <a:solidFill>
                <a:srgbClr val="C8475A"/>
              </a:solidFill>
              <a:effectLst/>
            </c:spPr>
          </c:dPt>
          <c:dPt>
            <c:idx val="3"/>
            <c:invertIfNegative val="0"/>
            <c:bubble3D val="0"/>
            <c:spPr>
              <a:solidFill>
                <a:srgbClr val="C8475A"/>
              </a:solidFill>
              <a:effectLst/>
            </c:spPr>
          </c:dPt>
          <c:dPt>
            <c:idx val="4"/>
            <c:invertIfNegative val="0"/>
            <c:bubble3D val="0"/>
            <c:spPr>
              <a:solidFill>
                <a:srgbClr val="C8475A"/>
              </a:solidFill>
              <a:effectLst/>
            </c:spPr>
          </c:dPt>
          <c:cat>
            <c:multiLvlStrRef>
              <c:f>Sheet1!$A$2:$A$6</c:f>
              <c:multiLvlStrCache>
                <c:ptCount val="5"/>
                <c:lvl>
                  <c:pt idx="0">
                    <c:v>Fraud &amp; Scams</c:v>
                  </c:pt>
                  <c:pt idx="1">
                    <c:v>Commercial Spam</c:v>
                  </c:pt>
                  <c:pt idx="2">
                    <c:v>Hate Speech</c:v>
                  </c:pt>
                  <c:pt idx="3">
                    <c:v>Violence (High Risk)</c:v>
                  </c:pt>
                  <c:pt idx="4">
                    <c:v>Emergency TCO</c:v>
                  </c:pt>
                </c:lvl>
              </c:multiLvlStrCache>
            </c:multiLvlStrRef>
          </c:cat>
          <c:val>
            <c:numRef>
              <c:f>Sheet1!$B$2:$B$6</c:f>
              <c:numCache>
                <c:formatCode>General</c:formatCode>
                <c:ptCount val="5"/>
                <c:pt idx="0">
                  <c:v>96.9</c:v>
                </c:pt>
                <c:pt idx="1">
                  <c:v>96.4</c:v>
                </c:pt>
                <c:pt idx="2">
                  <c:v>65.4</c:v>
                </c:pt>
                <c:pt idx="3">
                  <c:v>57.6</c:v>
                </c:pt>
                <c:pt idx="4">
                  <c:v>56.7</c:v>
                </c:pt>
              </c:numCache>
            </c:numRef>
          </c:val>
        </c:ser>
        <c:dLbls>
          <c:numFmt formatCode="0.0&quot;%&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AHT (s)</c:v>
                </c:pt>
              </c:strCache>
            </c:strRef>
          </c:tx>
          <c:spPr>
            <a:solidFill>
              <a:srgbClr val="A99FC0"/>
            </a:solidFill>
            <a:effectLst/>
          </c:spPr>
          <c:invertIfNegative val="0"/>
          <c:dLbls>
            <c:numFmt formatCode="0.0&quot;s&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dPt>
            <c:idx val="0"/>
            <c:invertIfNegative val="0"/>
            <c:bubble3D val="0"/>
            <c:spPr>
              <a:solidFill>
                <a:srgbClr val="A99FC0"/>
              </a:solidFill>
              <a:effectLst/>
            </c:spPr>
          </c:dPt>
          <c:dPt>
            <c:idx val="1"/>
            <c:invertIfNegative val="0"/>
            <c:bubble3D val="0"/>
            <c:spPr>
              <a:solidFill>
                <a:srgbClr val="A99FC0"/>
              </a:solidFill>
              <a:effectLst/>
            </c:spPr>
          </c:dPt>
          <c:dPt>
            <c:idx val="2"/>
            <c:invertIfNegative val="0"/>
            <c:bubble3D val="0"/>
            <c:spPr>
              <a:solidFill>
                <a:srgbClr val="492C73"/>
              </a:solidFill>
              <a:effectLst/>
            </c:spPr>
          </c:dPt>
          <c:dPt>
            <c:idx val="3"/>
            <c:invertIfNegative val="0"/>
            <c:bubble3D val="0"/>
            <c:spPr>
              <a:solidFill>
                <a:srgbClr val="492C73"/>
              </a:solidFill>
              <a:effectLst/>
            </c:spPr>
          </c:dPt>
          <c:cat>
            <c:multiLvlStrRef>
              <c:f>Sheet1!$A$2:$A$5</c:f>
              <c:multiLvlStrCache>
                <c:ptCount val="4"/>
                <c:lvl>
                  <c:pt idx="0">
                    <c:v>Text Post</c:v>
                  </c:pt>
                  <c:pt idx="1">
                    <c:v>Static Image</c:v>
                  </c:pt>
                  <c:pt idx="2">
                    <c:v>Short Video</c:v>
                  </c:pt>
                  <c:pt idx="3">
                    <c:v>Live Stream</c:v>
                  </c:pt>
                </c:lvl>
              </c:multiLvlStrCache>
            </c:multiLvlStrRef>
          </c:cat>
          <c:val>
            <c:numRef>
              <c:f>Sheet1!$B$2:$B$5</c:f>
              <c:numCache>
                <c:formatCode>General</c:formatCode>
                <c:ptCount val="4"/>
                <c:pt idx="0">
                  <c:v>28.4</c:v>
                </c:pt>
                <c:pt idx="1">
                  <c:v>54.2</c:v>
                </c:pt>
                <c:pt idx="2">
                  <c:v>148.6</c:v>
                </c:pt>
                <c:pt idx="3">
                  <c:v>242.1</c:v>
                </c:pt>
              </c:numCache>
            </c:numRef>
          </c:val>
        </c:ser>
        <c:dLbls>
          <c:numFmt formatCode="0.0&quot;s&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2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12"/>
          <c:w val="0.92"/>
          <c:h val="0.72"/>
        </c:manualLayout>
      </c:layout>
      <c:barChart>
        <c:barDir val="col"/>
        <c:grouping val="clustered"/>
        <c:varyColors val="0"/>
        <c:ser>
          <c:idx val="0"/>
          <c:order val="0"/>
          <c:tx>
            <c:strRef>
              <c:f>Sheet1!$B$1</c:f>
              <c:strCache>
                <c:ptCount val="1"/>
                <c:pt idx="0">
                  <c:v>Items/day</c:v>
                </c:pt>
              </c:strCache>
            </c:strRef>
          </c:tx>
          <c:spPr>
            <a:solidFill>
              <a:srgbClr val="A99FC0"/>
            </a:solidFill>
            <a:effectLst/>
          </c:spPr>
          <c:invertIfNegative val="0"/>
          <c:dLbls>
            <c:numFmt formatCode="0&quot;/day&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dPt>
            <c:idx val="0"/>
            <c:invertIfNegative val="0"/>
            <c:bubble3D val="0"/>
            <c:spPr>
              <a:solidFill>
                <a:srgbClr val="A99FC0"/>
              </a:solidFill>
              <a:effectLst/>
            </c:spPr>
          </c:dPt>
          <c:dPt>
            <c:idx val="1"/>
            <c:invertIfNegative val="0"/>
            <c:bubble3D val="0"/>
            <c:spPr>
              <a:solidFill>
                <a:srgbClr val="C8475A"/>
              </a:solidFill>
              <a:effectLst/>
            </c:spPr>
          </c:dPt>
          <c:dPt>
            <c:idx val="2"/>
            <c:invertIfNegative val="0"/>
            <c:bubble3D val="0"/>
            <c:spPr>
              <a:solidFill>
                <a:srgbClr val="66548C"/>
              </a:solidFill>
              <a:effectLst/>
            </c:spPr>
          </c:dPt>
          <c:cat>
            <c:multiLvlStrRef>
              <c:f>Sheet1!$A$2:$A$4</c:f>
              <c:multiLvlStrCache>
                <c:ptCount val="3"/>
                <c:lvl>
                  <c:pt idx="0">
                    <c:v>Days 1–17 (steady)</c:v>
                  </c:pt>
                  <c:pt idx="1">
                    <c:v>Days 18–21 (viral)</c:v>
                  </c:pt>
                  <c:pt idx="2">
                    <c:v>Days 22–30 (burn-off)</c:v>
                  </c:pt>
                </c:lvl>
              </c:multiLvlStrCache>
            </c:multiLvlStrRef>
          </c:cat>
          <c:val>
            <c:numRef>
              <c:f>Sheet1!$B$2:$B$4</c:f>
              <c:numCache>
                <c:formatCode>General</c:formatCode>
                <c:ptCount val="3"/>
                <c:pt idx="0">
                  <c:v>80</c:v>
                </c:pt>
                <c:pt idx="1">
                  <c:v>188</c:v>
                </c:pt>
                <c:pt idx="2">
                  <c:v>102</c:v>
                </c:pt>
              </c:numCache>
            </c:numRef>
          </c:val>
        </c:ser>
        <c:dLbls>
          <c:numFmt formatCode="0&quot;/day&quot;" sourceLinked="0"/>
          <c:txPr>
            <a:bodyPr/>
            <a:lstStyle/>
            <a:p>
              <a:pPr>
                <a:defRPr b="0" i="0" strike="noStrike" sz="1200" u="none">
                  <a:solidFill>
                    <a:srgbClr val="2318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catAx>
      <c:valAx>
        <c:axId val="2094734552"/>
        <c:scaling>
          <c:orientation val="minMax"/>
          <c:max val="2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Senior (AGENT_12–15)</c:v>
                </c:pt>
              </c:strCache>
            </c:strRef>
          </c:tx>
          <c:spPr>
            <a:solidFill>
              <a:srgbClr val="74BF04"/>
            </a:solidFill>
            <a:ln>
              <a:noFill/>
            </a:ln>
            <a:effectLst/>
          </c:spPr>
          <c:marker>
            <c:symbol val="circle"/>
            <c:size val="16"/>
            <c:spPr>
              <a:solidFill>
                <a:srgbClr val="74BF04"/>
              </a:solidFill>
              <a:ln w="9525" cap="flat">
                <a:solidFill>
                  <a:srgbClr val="74BF04"/>
                </a:solidFill>
                <a:prstDash val="solid"/>
                <a:round/>
              </a:ln>
              <a:effectLst/>
            </c:spPr>
          </c:marker>
          <c:xVal>
            <c:numRef>
              <c:f>Sheet1!$A$2:$A$4</c:f>
              <c:numCache>
                <c:formatCode>General</c:formatCode>
                <c:ptCount val="3"/>
                <c:pt idx="0">
                  <c:v>38</c:v>
                </c:pt>
                <c:pt idx="1">
                  <c:v>52</c:v>
                </c:pt>
                <c:pt idx="2">
                  <c:v>72</c:v>
                </c:pt>
              </c:numCache>
            </c:numRef>
          </c:xVal>
          <c:yVal>
            <c:numRef>
              <c:f>Sheet1!$B$2:$B$4</c:f>
              <c:numCache>
                <c:formatCode>General</c:formatCode>
                <c:ptCount val="3"/>
                <c:pt idx="0">
                  <c:v>99.4</c:v>
                </c:pt>
                <c:pt idx="1">
                  <c:v/>
                </c:pt>
                <c:pt idx="2">
                  <c:v/>
                </c:pt>
              </c:numCache>
            </c:numRef>
          </c:yVal>
          <c:smooth val="0"/>
        </c:ser>
        <c:ser>
          <c:idx val="1"/>
          <c:order val="1"/>
          <c:tx>
            <c:strRef>
              <c:f>Sheet1!$C$1</c:f>
              <c:strCache>
                <c:ptCount val="1"/>
                <c:pt idx="0">
                  <c:v>Core (AGENT_04–11)</c:v>
                </c:pt>
              </c:strCache>
            </c:strRef>
          </c:tx>
          <c:spPr>
            <a:solidFill>
              <a:srgbClr val="492C73"/>
            </a:solidFill>
            <a:ln>
              <a:noFill/>
            </a:ln>
            <a:effectLst/>
          </c:spPr>
          <c:marker>
            <c:symbol val="circle"/>
            <c:size val="16"/>
            <c:spPr>
              <a:solidFill>
                <a:srgbClr val="492C73"/>
              </a:solidFill>
              <a:ln w="9525" cap="flat">
                <a:solidFill>
                  <a:srgbClr val="492C73"/>
                </a:solidFill>
                <a:prstDash val="solid"/>
                <a:round/>
              </a:ln>
              <a:effectLst/>
            </c:spPr>
          </c:marker>
          <c:xVal>
            <c:numRef>
              <c:f>Sheet1!$A$2:$A$4</c:f>
              <c:numCache>
                <c:formatCode>General</c:formatCode>
                <c:ptCount val="3"/>
                <c:pt idx="0">
                  <c:v>38</c:v>
                </c:pt>
                <c:pt idx="1">
                  <c:v>52</c:v>
                </c:pt>
                <c:pt idx="2">
                  <c:v>72</c:v>
                </c:pt>
              </c:numCache>
            </c:numRef>
          </c:xVal>
          <c:yVal>
            <c:numRef>
              <c:f>Sheet1!$C$2:$C$4</c:f>
              <c:numCache>
                <c:formatCode>General</c:formatCode>
                <c:ptCount val="3"/>
                <c:pt idx="0">
                  <c:v/>
                </c:pt>
                <c:pt idx="1">
                  <c:v>98.7</c:v>
                </c:pt>
                <c:pt idx="2">
                  <c:v/>
                </c:pt>
              </c:numCache>
            </c:numRef>
          </c:yVal>
          <c:smooth val="0"/>
        </c:ser>
        <c:ser>
          <c:idx val="2"/>
          <c:order val="2"/>
          <c:tx>
            <c:strRef>
              <c:f>Sheet1!$D$1</c:f>
              <c:strCache>
                <c:ptCount val="1"/>
                <c:pt idx="0">
                  <c:v>New Hire (AGENT_01–03)</c:v>
                </c:pt>
              </c:strCache>
            </c:strRef>
          </c:tx>
          <c:spPr>
            <a:solidFill>
              <a:srgbClr val="E39A1C"/>
            </a:solidFill>
            <a:ln>
              <a:noFill/>
            </a:ln>
            <a:effectLst/>
          </c:spPr>
          <c:marker>
            <c:symbol val="circle"/>
            <c:size val="16"/>
            <c:spPr>
              <a:solidFill>
                <a:srgbClr val="E39A1C"/>
              </a:solidFill>
              <a:ln w="9525" cap="flat">
                <a:solidFill>
                  <a:srgbClr val="E39A1C"/>
                </a:solidFill>
                <a:prstDash val="solid"/>
                <a:round/>
              </a:ln>
              <a:effectLst/>
            </c:spPr>
          </c:marker>
          <c:xVal>
            <c:numRef>
              <c:f>Sheet1!$A$2:$A$4</c:f>
              <c:numCache>
                <c:formatCode>General</c:formatCode>
                <c:ptCount val="3"/>
                <c:pt idx="0">
                  <c:v>38</c:v>
                </c:pt>
                <c:pt idx="1">
                  <c:v>52</c:v>
                </c:pt>
                <c:pt idx="2">
                  <c:v>72</c:v>
                </c:pt>
              </c:numCache>
            </c:numRef>
          </c:xVal>
          <c:yVal>
            <c:numRef>
              <c:f>Sheet1!$D$2:$D$4</c:f>
              <c:numCache>
                <c:formatCode>General</c:formatCode>
                <c:ptCount val="3"/>
                <c:pt idx="0">
                  <c:v/>
                </c:pt>
                <c:pt idx="1">
                  <c:v/>
                </c:pt>
                <c:pt idx="2">
                  <c:v>93.8</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80"/>
          <c:min val="30"/>
        </c:scaling>
        <c:delete val="0"/>
        <c:axPos val="b"/>
        <c:title>
          <c:tx>
            <c:rich>
              <a:bodyPr/>
              <a:lstStyle/>
              <a:p>
                <a:pPr>
                  <a:defRPr sz="1100" b="0" i="0" u="none" strike="noStrike">
                    <a:solidFill>
                      <a:srgbClr val="66548C"/>
                    </a:solidFill>
                    <a:latin typeface="+mn-lt"/>
                  </a:defRPr>
                </a:pPr>
                <a:r>
                  <a:rPr sz="1100" b="0" i="0" u="none" strike="noStrike">
                    <a:solidFill>
                      <a:srgbClr val="66548C"/>
                    </a:solidFill>
                    <a:latin typeface="+mn-lt"/>
                  </a:rPr>
                  <a:t>Average handling time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231833"/>
                </a:solidFill>
                <a:latin typeface="+mn-lt"/>
              </a:defRPr>
            </a:pPr>
            <a:endParaRPr lang="en-US"/>
          </a:p>
        </c:txPr>
        <c:crossAx val="2094734552"/>
        <c:crosses val="autoZero"/>
        <c:auto val="1"/>
        <c:lblAlgn val="ctr"/>
        <c:noMultiLvlLbl val="1"/>
        <c:majorUnit val="10"/>
      </c:valAx>
      <c:valAx>
        <c:axId val="2094734552"/>
        <c:scaling>
          <c:orientation val="minMax"/>
          <c:max val="100"/>
          <c:min val="92"/>
        </c:scaling>
        <c:delete val="0"/>
        <c:axPos val="l"/>
        <c:majorGridlines>
          <c:spPr>
            <a:ln w="9525" cap="flat">
              <a:solidFill>
                <a:srgbClr val="E3DFEA"/>
              </a:solidFill>
              <a:prstDash val="solid"/>
              <a:round/>
            </a:ln>
          </c:spPr>
        </c:majorGridlines>
        <c:title>
          <c:tx>
            <c:rich>
              <a:bodyPr/>
              <a:lstStyle/>
              <a:p>
                <a:pPr>
                  <a:defRPr sz="1100" b="0" i="0" u="none" strike="noStrike">
                    <a:solidFill>
                      <a:srgbClr val="66548C"/>
                    </a:solidFill>
                    <a:latin typeface="+mn-lt"/>
                  </a:defRPr>
                </a:pPr>
                <a:r>
                  <a:rPr sz="1100" b="0" i="0" u="none" strike="noStrike">
                    <a:solidFill>
                      <a:srgbClr val="66548C"/>
                    </a:solidFill>
                    <a:latin typeface="+mn-lt"/>
                  </a:rPr>
                  <a:t>QA score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66548C"/>
                </a:solidFill>
                <a:latin typeface="+mn-lt"/>
              </a:defRPr>
            </a:pPr>
            <a:endParaRPr lang="en-US"/>
          </a:p>
        </c:txPr>
        <c:crossAx val="2094734554"/>
        <c:crosses val="autoZero"/>
        <c:crossBetween val="midCat"/>
        <c:majorUnit val="2"/>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 – 1:30 (90s)  ·  PACE: Confident, direct
CORE TALKING POINTS
1. The headline: content accuracy is exceptional (98.6% QA pass rate), but overall SLA compliance has slipped to 78.2%, below the 95.0% service agreement.
2. The discovery: the deficit is not systemic. Routine queues (Spam_Commercial and Fraud_Scams) operate at 96.6% SLA attainment.
3. The concentration: 100% of the SLA drag sits in (a) high-complexity video queues (Violence_HighRisk, Emergency_TCO) averaging ~109s AHT and (b) an isolated 4-day viral event (Days 18–21) that overwhelmed manual review capacity.
4. The takeaway: no additional headcount budget is needed. Rebalancing queue allocation and tuning triage thresholds restores SLA above 96.0% within 14 operational days.
SPOKEN SCRIPT
Good morning, leadership team. My name is Wesley Taguinod, and today I am presenting the operational performance briefing and SLA recovery strategy for our Content Moderation &amp; Trust and Safety operations.
[Pause 1s — glance at audience]
Across 2,800 operational reviews evaluated over the past 30 days, our account operates at:
• A 98.6% Audited QA Accuracy Rate,
• A weighted Average Handling Time of 52.5 seconds, and
• An overall SLA Attainment Rate of 78.2% — trailing our contractual 95.0% commitment.
[Gesture toward right KPI cards]
Here is the bottom line up front: our operational challenge is not a quality failure, and it is not widespread. Our frontline moderators are making sound, defensible decisions — our False Negative rate, which represents harmful content mistakenly left live, is just 0.59%.
Furthermore, our high-volume operational workflows — Commercial Spam and Fraud — are running smoothly above SLA targets at 96.6% compliance.
The SLA breach is strictly isolated to two specific operational bottlenecks:
1. Extreme media complexity in our Violence and Emergency TCO queues, where video handling times average 109 seconds per item, and
2. An acute, 4-day viral surge between September 24 and 27 that temporarily created an unstaffed queue backlog.
Because this issue is localized, we do not need to hire additional full-time agents. By reallocating existing bandwidth from our automated spam queues and applying Erlang-C capacity leveling, we can bring the entire account back into full SLA compliance above 96.0%. Let me show you what the operational data reveals.
[Transition: advance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1:30 – 3:30 (120s)  ·  PACE: Methodical, grounded
CORE TALKING POINTS
1. Mathematical rigor: all AHT figures are duration-weighted across total seconds; SLA compliance is calculated at the transaction level, not by averaging queue percentages.
2. The queue divide: deterministic queues (Spam &amp; Fraud) = 1,346 reviews (48.1% of volume) at 12–36s AHT and 96.6% SLA; contextual &amp; egregious queues (Violence, Hate Speech, TCO) = 1,454 reviews at 44–110s AHT and 57%–65% SLA.
3. HITL efficiency: automated ML filters deflect nearly half of incoming volume (47.8%), letting human reviewers focus on contextual judgment.
SPOKEN SCRIPT
To understand where our performance variance originates, we decomposed our 2,800 reviews across our 5 operational queues and 4 content modalities.
[Point to left chart: Queue SLA Attainment]
The queue-level data reveals a dramatic split:
• On one side, Commercial Spam and Fraud &amp; Scams are model operations. Handling nearly half of our entire account volume — 1,346 interactions — they maintain 96.4% and 96.9% SLA compliance, with handling times under 37 seconds.
• On the other side, our contextual and high-risk queues drag the entire account down: Hate Speech operates at 65.4% SLA, while Violence and Emergency TCO run at 57.6% and 56.7%.
[Point to right visual: HITL Funnel]
Now look at how content flows into agent hands. Our Human-in-the-Loop automation engine handles nearly 48% of volume without human touch — 25% auto-approved and 22% auto-rejected based on hash matching and high-confidence AI classifiers.
This leaves roughly 47% for manual frontline review and 5% for Tier-2 senior escalations.
This distribution tells us our AI triage is functioning, but the manual queues are bearing an uneven burden of complex media. To solve this, we must look at media modality and temporal arrival patterns.
[Transition: advance to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3:30 – 6:00 (150s)  ·  PACE: Analytical core
CORE TALKING POINTS
1. The media multiplier: AHT is driven by media modality, not agent inefficiency. A short video takes 5× longer to evaluate than a text post.
2. The surge shock: the account was staffed for ~80 items/day. During the Days 18–21 viral spike, arrivals surged 135%, creating an immediate queuing delay.
3. Workforce protection constraint: egregious material restricts agents to 5.5-hour exposure shifts. Forcing 10-hour shifts would violate duty-of-care policy.
SPOKEN SCRIPT
This brings us to the core diagnostic question: why did SLA compliance fall to 78%, and what specifically caused the backlog?
Our deep dive identified two undeniable root causes.
[Focus on left card: Media Modality Complexity]
First, look at the media modality breakdown on the left.
• Reviewing a standard text post takes an agent just 28.4 seconds.
• Evaluating a static image takes 54 seconds.
• However, short-form video jumps to 148 seconds, and live streams average over 4 minutes per review.
Here is the critical operational insight: video and live streams account for only 28% of incoming volume, but they consume 64% of all productive agent review hours. When a queue shifts toward video content, standard capacity models break.
[Focus on right card: The Viral Surge]
Second, on the right, we examine our 30-day temporal trend.
For the first 17 days of the month, our account performed flawlessly: averaging 80 reviews a day with a 97.4% SLA attainment.
Then, between September 24 and 27 — Days 18 through 21 — a viral incident occurred. Daily volume spiked by 135%, peaking at nearly 200 items per day.
[Point out the SLA dip in Days 18–21]
Because our 15 frontline agents were sized for steady-state volume, queue wait times exploded. In our Emergency TCO queue — which carries a strict 1-hour legal removal SLA under European regulations — TAT exceeded 70 minutes, driving our SLA attainment down to 48% during that 4-day window.
Furthermore, because 719 of these reviews involved egregious content, operational safety rules properly restricted agent shifts to 5.5 hours with mandatory wellness intervals.
The conclusion is clear: our agents did not work slower. The queue experienced a structural mismatch between video-heavy arrival curves and fixed shift schedules.
[Transition: advance to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6:00 – 8:00 (120s)  ·  PACE: Objective, diagnostic
CORE TALKING POINTS
1. Tenure matures rapidly: senior agents are 47% faster and make 75% fewer audit errors than new hires; coaching and familiarity drive efficiency.
2. Error taxonomy isolation: total audit errors were low; false negatives occurred almost exclusively when new hires evaluated nuanced hate speech or disguised slurs.
3. Mathematical proof of the gap: BA guide capacity formulas show 15 FTEs were sufficient at steady state, but peak video volume required 22 FTEs.
SPOKEN SCRIPT
To turn this diagnostic into an actionable staffing model, we cross-analyzed agent performance and applied our Erlang-C capacity equations.
[Point to left scatter: Speed vs Quality]
On the left, we map our 15 agents across handling speed and audited accuracy.
Notice the clear clustering by tenure group:
• Our senior agents in green — Agents 12 through 15 — represent elite performance: achieving 99.4% QA accuracy while maintaining an agile 38-second handle time.
• Our core agents in purple deliver steady, compliant execution at 98.7% accuracy.
• Our three new hires in amber — Agents 01, 02, and 03 — average 72 seconds AHT and 93.8% accuracy.
When we audited their specific errors, they were not careless mistakes; they were False Negatives in hate speech where subtle regional slang escaped detection.
[Focus on right box: Erlang-C Gap]
Now look at the workforce math on the right.
Using Section 5 of our operational guide, we calculate that on standard 8-hour shifts with 25% shrinkage and 80% occupancy, each agent delivers 4.8 productive hours daily.
However, for agents rotating into our high-risk violence queues, mandatory wellness safeguards reduce shift length to 5.5 hours and raise shrinkage to 30%, yielding only 3.08 productive hours.
During our steady-state period, our 15 FTEs provided 72 productive hours daily against a 60-hour workload — a healthy 12-hour surplus.
But when the viral spike hit, workload surged to 102 hours. As our Erlang-C simulator demonstrates, required staffing jumped to 22 FTEs, leaving a 7-agent deficit that pushed queue delay probability above 34%.
This is the exact mathematical reason our SLA dipped. The good news is, now that we have quantified the shortfall, the solution does not require hiring 7 new people.
[Transition: advance to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8:00 – 10:00 (120s)  ·  PACE: Decisive, ROI-focused
CORE TALKING POINTS
1. Zero budget required: solutions optimize existing agent capacity, queue routing and minor AI threshold calibration.
2. Measurable accountability: each of the 3 actions has an owner, a milestone timeline and a measurable KPI target.
3. Sustainable workforce health: wellness safeguards and exposure caps are preserved, so speed gains do not induce burnout or attrition.
SPOKEN SCRIPT
That brings us to our decisive operational plan: how do we permanently fix this without increasing payroll?
We propose three targeted, data-backed operational interventions ready for execution tomorrow morning.
[Point to Action 1]
Action 1: Dynamic Cross-Queue Reallocation &amp; Erlang-C Leveling.
• Because Commercial Spam and Fraud currently operate with excess capacity at 96.6% SLA, we will cross-train and dynamically reallocate 3 FTEs into high-risk queues during peak diurnal arrival hours (11:00 AM to 8:00 PM).
• By automating de-duplication on bulk commercial spam, we immediately recapture 15 productive agent hours per week.
[Point to Action 2]
Action 2: AI Triage Calibration &amp; Senior Video Routing.
• We will adjust our automated triage confidence score for verified commercial accounts from 92% down to 88%, expanding auto-resolution from 47.8% to 54.0%.
• Simultaneously, we will route short-form video exclusively to our senior agent cohort, utilizing their 38-second navigation speed to compress video AHT from 148 seconds down to 115 seconds.
[Point to Action 3]
Action 3: Targeted Calibration &amp; Automated Wellness Rotation.
• We will institute daily 20-minute calibration huddles between Senior Agents and our 3 new hires, closing the subtle slang gap and eliminating False Negatives in hate speech.
• We will automate shift scheduling so that no agent exceeds 2 consecutive hours in egregious queues, rotating them into lightweight spam review to protect workforce mental health.
[Highlight bottom banner: Executive Takeaway]
Here is the final executive takeaway:
• This plan requires zero new hires and zero external software expenditures.
• Within 14 operational days, our capacity model projects account-wide SLA attainment will rebound from 78.2% to 96.5%, while keeping our audited accuracy firmly above 98.5%.
• Most importantly, our European 1-hour emergency legal SLA will achieve 98.0% compliance, safeguarding platform integrity and avoiding regulatory fines.
Thank you for your time and leadership. I will now open the floor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 use during the 2:00 synthesis &amp; leadership Q&amp;A.
Q1: "If we reallocate 3 agents from Spam to High-Risk Video, won't our Spam queue SLA collapse?"
"No. Commercial Spam currently operates at 12.3 seconds AHT with a 96.4% SLA and an automated triage rate of 75%. Because spam items are largely deterministic and auto-rejected by hash algorithms, our capacity model indicates Spam can maintain a 94.5% SLA with 3 fewer FTEs, while those same 3 agents provide 45 hours of critical relief to our breached video queues."
Q2: "Why not simply mandate 8-hour shifts for all agents to clear the backlog?"
"Mandating 8-hour shifts in high-risk violence queues directly breaches industry duty-of-care guidelines and leads to rapid cognitive fatigue. In our data, when agents spend more than 2 consecutive hours in egregious queues, False Negatives increase by 40%. The 5.5-hour shift cap paired with rotation to non-egregious workflows maintains our 98.6% accuracy without driving agent attrition."
Q3: "How does lowering the AI triage threshold from 92% to 88% affect False Positives?"
"We tested this in our historical audit logs: lowering the threshold to 88% on Commercial Spam only increases the False Positive risk by 0.08%, well within our acceptable risk tolerance of 2.0%. More importantly, any disputed removal in spam is resolved via our post-moderation appeals workflow, which already operates at a low 15.8% overturn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_ONLY">
    <p:bg>
      <p:bgPr>
        <a:solidFill>
          <a:schemeClr val="accent1"/>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bg1"/>
                </a:solidFill>
                <a:latin typeface="Calibri" pitchFamily="34" charset="0"/>
                <a:ea typeface="Calibri" pitchFamily="34" charset="-122"/>
                <a:cs typeface="Calibri" pitchFamily="34" charset="-120"/>
              </a:rPr>
              <a:t>ApexTrust Operations  ·  Content Moderation Executive Briefing  ·  Sep 6 – Oct 5, 2026</a:t>
            </a:r>
            <a:endParaRPr lang="en-US" sz="1000" dirty="0"/>
          </a:p>
        </p:txBody>
      </p:sp>
      <p:sp>
        <p:nvSpPr>
          <p:cNvPr id="3" name="Text 1"/>
          <p:cNvSpPr/>
          <p:nvPr>
            <p:ph idx="101" type="body" hasCustomPrompt="1"/>
          </p:nvPr>
        </p:nvSpPr>
        <p:spPr>
          <a:xfrm>
            <a:off x="548640" y="347472"/>
            <a:ext cx="8229600" cy="292608"/>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TITLE_ONLY">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ApexTrust Operations  ·  Content Moderation Executive Briefing  ·  Sep 6 – Oct 5, 2026</a:t>
            </a:r>
            <a:endParaRPr lang="en-US" sz="1000" dirty="0"/>
          </a:p>
        </p:txBody>
      </p:sp>
      <p:sp>
        <p:nvSpPr>
          <p:cNvPr id="3" name="Text 1"/>
          <p:cNvSpPr/>
          <p:nvPr>
            <p:ph idx="101" type="body" hasCustomPrompt="1"/>
          </p:nvPr>
        </p:nvSpPr>
        <p:spPr>
          <a:xfrm>
            <a:off x="548640" y="347472"/>
            <a:ext cx="8229600" cy="292608"/>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4" name="Text 1"/>
          <p:cNvSpPr/>
          <p:nvPr>
            <p:ph idx="102" type="title" hasCustomPrompt="1"/>
          </p:nvPr>
        </p:nvSpPr>
        <p:spPr>
          <a:xfrm>
            <a:off x="548640" y="658368"/>
            <a:ext cx="11094415" cy="64008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2.xml"/><Relationship Id="rId4" Type="http://schemas.openxmlformats.org/officeDocument/2006/relationships/chart" Target="/ppt/charts/chart3.xml"/><Relationship Id="rId1" Type="http://schemas.openxmlformats.org/officeDocument/2006/relationships/image" Target="../media/image-3-1.png"/><Relationship Id="rId3"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EXECUTIVE BRIEFING  ·  BOTTOM LINE UP FRONT</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bg1"/>
                </a:solidFill>
              </a:rPr>
              <a:t>Trust &amp; Safety Operations: SLA Recovery Briefing</a:t>
            </a:r>
            <a:endParaRPr lang="en-US" sz="3200" dirty="0"/>
          </a:p>
        </p:txBody>
      </p:sp>
      <p:sp>
        <p:nvSpPr>
          <p:cNvPr id="4" name="Text 2"/>
          <p:cNvSpPr txBox="1"/>
          <p:nvPr/>
        </p:nvSpPr>
        <p:spPr>
          <a:xfrm>
            <a:off x="548640" y="1481328"/>
            <a:ext cx="5394960" cy="640080"/>
          </a:xfrm>
          <a:prstGeom prst="rect">
            <a:avLst/>
          </a:prstGeom>
          <a:noFill/>
          <a:ln/>
        </p:spPr>
        <p:txBody>
          <a:bodyPr wrap="square" lIns="0" tIns="0" rIns="0" bIns="0" rtlCol="0" anchor="t"/>
          <a:lstStyle/>
          <a:p>
            <a:pPr indent="0" marL="0">
              <a:buNone/>
            </a:pPr>
            <a:r>
              <a:rPr lang="en-US" sz="1800" i="1" dirty="0">
                <a:solidFill>
                  <a:schemeClr val="bg1"/>
                </a:solidFill>
              </a:rPr>
              <a:t>Queue Analytics, SLA Recovery &amp; Workforce Capacity Optimization</a:t>
            </a:r>
            <a:endParaRPr lang="en-US" sz="1800" dirty="0"/>
          </a:p>
        </p:txBody>
      </p:sp>
      <p:sp>
        <p:nvSpPr>
          <p:cNvPr id="5" name="Text 3"/>
          <p:cNvSpPr txBox="1"/>
          <p:nvPr/>
        </p:nvSpPr>
        <p:spPr>
          <a:xfrm>
            <a:off x="548640" y="2212848"/>
            <a:ext cx="5394960" cy="548640"/>
          </a:xfrm>
          <a:prstGeom prst="rect">
            <a:avLst/>
          </a:prstGeom>
          <a:noFill/>
          <a:ln/>
        </p:spPr>
        <p:txBody>
          <a:bodyPr wrap="square" lIns="0" tIns="0" rIns="0" bIns="0" rtlCol="0" anchor="t"/>
          <a:lstStyle/>
          <a:p>
            <a:pPr indent="0" marL="0">
              <a:buNone/>
            </a:pPr>
            <a:r>
              <a:rPr lang="en-US" sz="1400" b="1" dirty="0">
                <a:solidFill>
                  <a:schemeClr val="bg1"/>
                </a:solidFill>
              </a:rPr>
              <a:t>Wesley Taguinod</a:t>
            </a:r>
            <a:endParaRPr lang="en-US" sz="1400" dirty="0"/>
          </a:p>
          <a:p>
            <a:pPr indent="0" marL="0">
              <a:buNone/>
            </a:pPr>
            <a:r>
              <a:rPr lang="en-US" sz="1400" dirty="0">
                <a:solidFill>
                  <a:schemeClr val="bg1"/>
                </a:solidFill>
              </a:rPr>
              <a:t>Operations Business Analyst  ·  2,800 reviews, Sep 6 – Oct 5, 2026</a:t>
            </a:r>
            <a:endParaRPr lang="en-US" sz="1400" dirty="0"/>
          </a:p>
        </p:txBody>
      </p:sp>
      <p:sp>
        <p:nvSpPr>
          <p:cNvPr id="6" name="Bottom line card"/>
          <p:cNvSpPr/>
          <p:nvPr/>
        </p:nvSpPr>
        <p:spPr>
          <a:xfrm>
            <a:off x="548640" y="3063240"/>
            <a:ext cx="5394960" cy="3063240"/>
          </a:xfrm>
          <a:prstGeom prst="roundRect">
            <a:avLst>
              <a:gd name="adj" fmla="val 3582"/>
            </a:avLst>
          </a:prstGeom>
          <a:solidFill>
            <a:schemeClr val="bg1"/>
          </a:solidFill>
          <a:ln/>
          <a:effectLst>
            <a:outerShdw sx="100000" sy="100000" kx="0" ky="0" algn="bl" rotWithShape="0" blurRad="101600" dist="25400" dir="5400000">
              <a:srgbClr val="000000">
                <a:alpha val="10000"/>
              </a:srgbClr>
            </a:outerShdw>
          </a:effectLst>
        </p:spPr>
      </p:sp>
      <p:sp>
        <p:nvSpPr>
          <p:cNvPr id="7" name="Bottom line circle"/>
          <p:cNvSpPr/>
          <p:nvPr/>
        </p:nvSpPr>
        <p:spPr>
          <a:xfrm>
            <a:off x="868680" y="3310128"/>
            <a:ext cx="548640" cy="548640"/>
          </a:xfrm>
          <a:prstGeom prst="ellipse">
            <a:avLst/>
          </a:prstGeom>
          <a:solidFill>
            <a:schemeClr val="accent1"/>
          </a:solidFill>
          <a:ln/>
        </p:spPr>
      </p:sp>
      <p:pic>
        <p:nvPicPr>
          <p:cNvPr id="8" name="Bottom line icon" descr="Bottom line">    </p:cNvPr>
          <p:cNvPicPr>
            <a:picLocks noChangeAspect="1"/>
          </p:cNvPicPr>
          <p:nvPr/>
        </p:nvPicPr>
        <p:blipFill>
          <a:blip r:embed="rId1"/>
          <a:stretch>
            <a:fillRect/>
          </a:stretch>
        </p:blipFill>
        <p:spPr>
          <a:xfrm>
            <a:off x="1005840" y="3447288"/>
            <a:ext cx="274320" cy="274320"/>
          </a:xfrm>
          <a:prstGeom prst="rect">
            <a:avLst/>
          </a:prstGeom>
        </p:spPr>
      </p:pic>
      <p:sp>
        <p:nvSpPr>
          <p:cNvPr id="9" name="Text 6"/>
          <p:cNvSpPr txBox="1"/>
          <p:nvPr/>
        </p:nvSpPr>
        <p:spPr>
          <a:xfrm>
            <a:off x="1554480" y="3383280"/>
            <a:ext cx="4114800" cy="411480"/>
          </a:xfrm>
          <a:prstGeom prst="rect">
            <a:avLst/>
          </a:prstGeom>
          <a:noFill/>
          <a:ln/>
        </p:spPr>
        <p:txBody>
          <a:bodyPr wrap="square" lIns="0" tIns="0" rIns="0" bIns="0" rtlCol="0" anchor="ctr"/>
          <a:lstStyle/>
          <a:p>
            <a:pPr indent="0" marL="0">
              <a:buNone/>
            </a:pPr>
            <a:r>
              <a:rPr lang="en-US" sz="1400" b="1" spc="200" kern="0" dirty="0">
                <a:solidFill>
                  <a:schemeClr val="accent1"/>
                </a:solidFill>
              </a:rPr>
              <a:t>THE BOTTOM LINE</a:t>
            </a:r>
            <a:endParaRPr lang="en-US" sz="1400" dirty="0"/>
          </a:p>
        </p:txBody>
      </p:sp>
      <p:sp>
        <p:nvSpPr>
          <p:cNvPr id="10" name="Text 7"/>
          <p:cNvSpPr txBox="1"/>
          <p:nvPr/>
        </p:nvSpPr>
        <p:spPr>
          <a:xfrm>
            <a:off x="868680" y="4023360"/>
            <a:ext cx="4754880" cy="1920240"/>
          </a:xfrm>
          <a:prstGeom prst="rect">
            <a:avLst/>
          </a:prstGeom>
          <a:noFill/>
          <a:ln/>
        </p:spPr>
        <p:txBody>
          <a:bodyPr wrap="square" lIns="0" tIns="0" rIns="0" bIns="0" rtlCol="0" anchor="t"/>
          <a:lstStyle/>
          <a:p>
            <a:pPr indent="0" marL="0">
              <a:buNone/>
            </a:pPr>
            <a:r>
              <a:rPr lang="en-US" sz="1600" b="1" dirty="0">
                <a:solidFill>
                  <a:schemeClr val="tx1"/>
                </a:solidFill>
              </a:rPr>
              <a:t>Quality is strong and the SLA gap is not systemic. </a:t>
            </a:r>
            <a:pPr indent="0" marL="0">
              <a:buNone/>
            </a:pPr>
            <a:r>
              <a:rPr lang="en-US" sz="1600" dirty="0">
                <a:solidFill>
                  <a:schemeClr val="tx1"/>
                </a:solidFill>
              </a:rPr>
              <a:t>The miss is concentrated in video-heavy Violence &amp; Emergency TCO queues (~109s AHT) and a 4-day viral surge (Sep 24–27).</a:t>
            </a:r>
            <a:endParaRPr lang="en-US" sz="1600" dirty="0"/>
          </a:p>
          <a:p>
            <a:pPr indent="0" marL="0">
              <a:buNone/>
            </a:pPr>
            <a:r>
              <a:rPr lang="en-US" sz="800" dirty="0">
                <a:solidFill>
                  <a:schemeClr val="tx1"/>
                </a:solidFill>
              </a:rPr>
              <a:t> </a:t>
            </a:r>
            <a:endParaRPr lang="en-US" sz="1600" dirty="0"/>
          </a:p>
          <a:p>
            <a:pPr indent="0" marL="0">
              <a:buNone/>
            </a:pPr>
            <a:r>
              <a:rPr lang="en-US" sz="1600" dirty="0">
                <a:solidFill>
                  <a:schemeClr val="tx1"/>
                </a:solidFill>
              </a:rPr>
              <a:t>Rebalancing existing capacity restores SLA to </a:t>
            </a:r>
            <a:pPr indent="0" marL="0">
              <a:buNone/>
            </a:pPr>
            <a:r>
              <a:rPr lang="en-US" sz="1600" b="1" dirty="0">
                <a:solidFill>
                  <a:schemeClr val="accent1"/>
                </a:solidFill>
              </a:rPr>
              <a:t>≥96% within 14 days, with zero new hires.</a:t>
            </a:r>
            <a:endParaRPr lang="en-US" sz="1600" dirty="0"/>
          </a:p>
        </p:txBody>
      </p:sp>
      <p:sp>
        <p:nvSpPr>
          <p:cNvPr id="11" name="KPI Reviews handled"/>
          <p:cNvSpPr/>
          <p:nvPr/>
        </p:nvSpPr>
        <p:spPr>
          <a:xfrm>
            <a:off x="6400800" y="1481328"/>
            <a:ext cx="2483968" cy="2240280"/>
          </a:xfrm>
          <a:prstGeom prst="roundRect">
            <a:avLst>
              <a:gd name="adj" fmla="val 4898"/>
            </a:avLst>
          </a:prstGeom>
          <a:solidFill>
            <a:schemeClr val="accent4">
              <a:alpha val="55000"/>
            </a:schemeClr>
          </a:solidFill>
          <a:ln/>
        </p:spPr>
      </p:sp>
      <p:sp>
        <p:nvSpPr>
          <p:cNvPr id="12" name="Text 9"/>
          <p:cNvSpPr txBox="1"/>
          <p:nvPr/>
        </p:nvSpPr>
        <p:spPr>
          <a:xfrm>
            <a:off x="6720840" y="17556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2,800</a:t>
            </a:r>
            <a:endParaRPr lang="en-US" sz="4800" dirty="0"/>
          </a:p>
        </p:txBody>
      </p:sp>
      <p:sp>
        <p:nvSpPr>
          <p:cNvPr id="13" name="Text 10"/>
          <p:cNvSpPr txBox="1"/>
          <p:nvPr/>
        </p:nvSpPr>
        <p:spPr>
          <a:xfrm>
            <a:off x="6720840" y="26700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Reviews handled</a:t>
            </a:r>
            <a:endParaRPr lang="en-US" sz="1500" dirty="0"/>
          </a:p>
        </p:txBody>
      </p:sp>
      <p:sp>
        <p:nvSpPr>
          <p:cNvPr id="14" name="Text 11"/>
          <p:cNvSpPr txBox="1"/>
          <p:nvPr/>
        </p:nvSpPr>
        <p:spPr>
          <a:xfrm>
            <a:off x="6720840" y="3054096"/>
            <a:ext cx="1843888" cy="502920"/>
          </a:xfrm>
          <a:prstGeom prst="rect">
            <a:avLst/>
          </a:prstGeom>
          <a:noFill/>
          <a:ln/>
        </p:spPr>
        <p:txBody>
          <a:bodyPr wrap="square" lIns="0" tIns="0" rIns="0" bIns="0" rtlCol="0" anchor="t"/>
          <a:lstStyle/>
          <a:p>
            <a:pPr indent="0" marL="0">
              <a:buNone/>
            </a:pPr>
            <a:r>
              <a:rPr lang="en-US" sz="1200" dirty="0">
                <a:solidFill>
                  <a:schemeClr val="bg1"/>
                </a:solidFill>
              </a:rPr>
              <a:t>47.8% resolved by automated HITL filters</a:t>
            </a:r>
            <a:endParaRPr lang="en-US" sz="1200" dirty="0"/>
          </a:p>
        </p:txBody>
      </p:sp>
      <p:sp>
        <p:nvSpPr>
          <p:cNvPr id="15" name="KPI SLA attainment"/>
          <p:cNvSpPr/>
          <p:nvPr/>
        </p:nvSpPr>
        <p:spPr>
          <a:xfrm>
            <a:off x="9159088" y="1481328"/>
            <a:ext cx="2483968" cy="2240280"/>
          </a:xfrm>
          <a:prstGeom prst="roundRect">
            <a:avLst>
              <a:gd name="adj" fmla="val 4898"/>
            </a:avLst>
          </a:prstGeom>
          <a:solidFill>
            <a:schemeClr val="accent4">
              <a:alpha val="55000"/>
            </a:schemeClr>
          </a:solidFill>
          <a:ln/>
        </p:spPr>
      </p:sp>
      <p:sp>
        <p:nvSpPr>
          <p:cNvPr id="16" name="Text 13"/>
          <p:cNvSpPr txBox="1"/>
          <p:nvPr/>
        </p:nvSpPr>
        <p:spPr>
          <a:xfrm>
            <a:off x="9479128" y="1755648"/>
            <a:ext cx="1843888" cy="868680"/>
          </a:xfrm>
          <a:prstGeom prst="rect">
            <a:avLst/>
          </a:prstGeom>
          <a:noFill/>
          <a:ln/>
        </p:spPr>
        <p:txBody>
          <a:bodyPr wrap="square" lIns="0" tIns="0" rIns="0" bIns="0" rtlCol="0" anchor="ctr"/>
          <a:lstStyle/>
          <a:p>
            <a:pPr indent="0" marL="0">
              <a:buNone/>
            </a:pPr>
            <a:r>
              <a:rPr lang="en-US" sz="4800" b="1" dirty="0">
                <a:solidFill>
                  <a:schemeClr val="accent5"/>
                </a:solidFill>
                <a:latin typeface="Arial" pitchFamily="34" charset="0"/>
                <a:ea typeface="Arial" pitchFamily="34" charset="-122"/>
                <a:cs typeface="Arial" pitchFamily="34" charset="-120"/>
              </a:rPr>
              <a:t>78.2%</a:t>
            </a:r>
            <a:endParaRPr lang="en-US" sz="4800" dirty="0"/>
          </a:p>
        </p:txBody>
      </p:sp>
      <p:sp>
        <p:nvSpPr>
          <p:cNvPr id="17" name="Text 14"/>
          <p:cNvSpPr txBox="1"/>
          <p:nvPr/>
        </p:nvSpPr>
        <p:spPr>
          <a:xfrm>
            <a:off x="9479128" y="26700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SLA attainment</a:t>
            </a:r>
            <a:endParaRPr lang="en-US" sz="1500" dirty="0"/>
          </a:p>
        </p:txBody>
      </p:sp>
      <p:sp>
        <p:nvSpPr>
          <p:cNvPr id="18" name="Text 15"/>
          <p:cNvSpPr txBox="1"/>
          <p:nvPr/>
        </p:nvSpPr>
        <p:spPr>
          <a:xfrm>
            <a:off x="9479128" y="3054096"/>
            <a:ext cx="1843888" cy="502920"/>
          </a:xfrm>
          <a:prstGeom prst="rect">
            <a:avLst/>
          </a:prstGeom>
          <a:noFill/>
          <a:ln/>
        </p:spPr>
        <p:txBody>
          <a:bodyPr wrap="square" lIns="0" tIns="0" rIns="0" bIns="0" rtlCol="0" anchor="t"/>
          <a:lstStyle/>
          <a:p>
            <a:pPr indent="0" marL="0">
              <a:buNone/>
            </a:pPr>
            <a:r>
              <a:rPr lang="en-US" sz="1200" dirty="0">
                <a:solidFill>
                  <a:schemeClr val="bg1"/>
                </a:solidFill>
              </a:rPr>
              <a:t>vs. 95.0% contractual target</a:t>
            </a:r>
            <a:endParaRPr lang="en-US" sz="1200" dirty="0"/>
          </a:p>
        </p:txBody>
      </p:sp>
      <p:sp>
        <p:nvSpPr>
          <p:cNvPr id="19" name="KPI Fleet weighted AHT"/>
          <p:cNvSpPr/>
          <p:nvPr/>
        </p:nvSpPr>
        <p:spPr>
          <a:xfrm>
            <a:off x="6400800" y="3995928"/>
            <a:ext cx="2483968" cy="2240280"/>
          </a:xfrm>
          <a:prstGeom prst="roundRect">
            <a:avLst>
              <a:gd name="adj" fmla="val 4898"/>
            </a:avLst>
          </a:prstGeom>
          <a:solidFill>
            <a:schemeClr val="accent4">
              <a:alpha val="55000"/>
            </a:schemeClr>
          </a:solidFill>
          <a:ln/>
        </p:spPr>
      </p:sp>
      <p:sp>
        <p:nvSpPr>
          <p:cNvPr id="20" name="Text 17"/>
          <p:cNvSpPr txBox="1"/>
          <p:nvPr/>
        </p:nvSpPr>
        <p:spPr>
          <a:xfrm>
            <a:off x="6720840" y="42702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52.5s</a:t>
            </a:r>
            <a:endParaRPr lang="en-US" sz="4800" dirty="0"/>
          </a:p>
        </p:txBody>
      </p:sp>
      <p:sp>
        <p:nvSpPr>
          <p:cNvPr id="21" name="Text 18"/>
          <p:cNvSpPr txBox="1"/>
          <p:nvPr/>
        </p:nvSpPr>
        <p:spPr>
          <a:xfrm>
            <a:off x="6720840" y="51846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Fleet weighted AHT</a:t>
            </a:r>
            <a:endParaRPr lang="en-US" sz="1500" dirty="0"/>
          </a:p>
        </p:txBody>
      </p:sp>
      <p:sp>
        <p:nvSpPr>
          <p:cNvPr id="22" name="Text 19"/>
          <p:cNvSpPr txBox="1"/>
          <p:nvPr/>
        </p:nvSpPr>
        <p:spPr>
          <a:xfrm>
            <a:off x="6720840" y="5568696"/>
            <a:ext cx="1843888" cy="502920"/>
          </a:xfrm>
          <a:prstGeom prst="rect">
            <a:avLst/>
          </a:prstGeom>
          <a:noFill/>
          <a:ln/>
        </p:spPr>
        <p:txBody>
          <a:bodyPr wrap="square" lIns="0" tIns="0" rIns="0" bIns="0" rtlCol="0" anchor="t"/>
          <a:lstStyle/>
          <a:p>
            <a:pPr indent="0" marL="0">
              <a:buNone/>
            </a:pPr>
            <a:r>
              <a:rPr lang="en-US" sz="1200" dirty="0">
                <a:solidFill>
                  <a:schemeClr val="bg1"/>
                </a:solidFill>
              </a:rPr>
              <a:t>Duration-weighted across all queues</a:t>
            </a:r>
            <a:endParaRPr lang="en-US" sz="1200" dirty="0"/>
          </a:p>
        </p:txBody>
      </p:sp>
      <p:sp>
        <p:nvSpPr>
          <p:cNvPr id="23" name="KPI Audited QA accuracy"/>
          <p:cNvSpPr/>
          <p:nvPr/>
        </p:nvSpPr>
        <p:spPr>
          <a:xfrm>
            <a:off x="9159088" y="3995928"/>
            <a:ext cx="2483968" cy="2240280"/>
          </a:xfrm>
          <a:prstGeom prst="roundRect">
            <a:avLst>
              <a:gd name="adj" fmla="val 4898"/>
            </a:avLst>
          </a:prstGeom>
          <a:solidFill>
            <a:schemeClr val="accent4">
              <a:alpha val="55000"/>
            </a:schemeClr>
          </a:solidFill>
          <a:ln/>
        </p:spPr>
      </p:sp>
      <p:sp>
        <p:nvSpPr>
          <p:cNvPr id="24" name="Text 21"/>
          <p:cNvSpPr txBox="1"/>
          <p:nvPr/>
        </p:nvSpPr>
        <p:spPr>
          <a:xfrm>
            <a:off x="9479128" y="4270248"/>
            <a:ext cx="1843888" cy="868680"/>
          </a:xfrm>
          <a:prstGeom prst="rect">
            <a:avLst/>
          </a:prstGeom>
          <a:noFill/>
          <a:ln/>
        </p:spPr>
        <p:txBody>
          <a:bodyPr wrap="square" lIns="0" tIns="0" rIns="0" bIns="0" rtlCol="0" anchor="ctr"/>
          <a:lstStyle/>
          <a:p>
            <a:pPr indent="0" marL="0">
              <a:buNone/>
            </a:pPr>
            <a:r>
              <a:rPr lang="en-US" sz="4800" b="1" dirty="0">
                <a:solidFill>
                  <a:schemeClr val="accent2"/>
                </a:solidFill>
                <a:latin typeface="Arial" pitchFamily="34" charset="0"/>
                <a:ea typeface="Arial" pitchFamily="34" charset="-122"/>
                <a:cs typeface="Arial" pitchFamily="34" charset="-120"/>
              </a:rPr>
              <a:t>98.6%</a:t>
            </a:r>
            <a:endParaRPr lang="en-US" sz="4800" dirty="0"/>
          </a:p>
        </p:txBody>
      </p:sp>
      <p:sp>
        <p:nvSpPr>
          <p:cNvPr id="25" name="Text 22"/>
          <p:cNvSpPr txBox="1"/>
          <p:nvPr/>
        </p:nvSpPr>
        <p:spPr>
          <a:xfrm>
            <a:off x="9479128" y="5184648"/>
            <a:ext cx="1935328" cy="365760"/>
          </a:xfrm>
          <a:prstGeom prst="rect">
            <a:avLst/>
          </a:prstGeom>
          <a:noFill/>
          <a:ln/>
        </p:spPr>
        <p:txBody>
          <a:bodyPr wrap="square" lIns="0" tIns="0" rIns="0" bIns="0" rtlCol="0" anchor="t"/>
          <a:lstStyle/>
          <a:p>
            <a:pPr indent="0" marL="0">
              <a:buNone/>
            </a:pPr>
            <a:r>
              <a:rPr lang="en-US" sz="1500" b="1" dirty="0">
                <a:solidFill>
                  <a:schemeClr val="bg1"/>
                </a:solidFill>
              </a:rPr>
              <a:t>Audited QA accuracy</a:t>
            </a:r>
            <a:endParaRPr lang="en-US" sz="1500" dirty="0"/>
          </a:p>
        </p:txBody>
      </p:sp>
      <p:sp>
        <p:nvSpPr>
          <p:cNvPr id="26" name="Text 23"/>
          <p:cNvSpPr txBox="1"/>
          <p:nvPr/>
        </p:nvSpPr>
        <p:spPr>
          <a:xfrm>
            <a:off x="9479128" y="5568696"/>
            <a:ext cx="1843888" cy="502920"/>
          </a:xfrm>
          <a:prstGeom prst="rect">
            <a:avLst/>
          </a:prstGeom>
          <a:noFill/>
          <a:ln/>
        </p:spPr>
        <p:txBody>
          <a:bodyPr wrap="square" lIns="0" tIns="0" rIns="0" bIns="0" rtlCol="0" anchor="t"/>
          <a:lstStyle/>
          <a:p>
            <a:pPr indent="0" marL="0">
              <a:buNone/>
            </a:pPr>
            <a:r>
              <a:rPr lang="en-US" sz="1200" dirty="0">
                <a:solidFill>
                  <a:schemeClr val="bg1"/>
                </a:solidFill>
              </a:rPr>
              <a:t>1.18% false positives · 0.59% false negatives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WHAT?  ·  BASELINE OPERATIONS</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Baseline Operations: Queue &amp; Modality Breakdown</a:t>
            </a:r>
            <a:endParaRPr lang="en-US" sz="3200" dirty="0"/>
          </a:p>
        </p:txBody>
      </p:sp>
      <p:sp>
        <p:nvSpPr>
          <p:cNvPr id="4" name="Throughput reviews"/>
          <p:cNvSpPr/>
          <p:nvPr/>
        </p:nvSpPr>
        <p:spPr>
          <a:xfrm>
            <a:off x="548640"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5" name="Text 3"/>
          <p:cNvSpPr txBox="1"/>
          <p:nvPr/>
        </p:nvSpPr>
        <p:spPr>
          <a:xfrm>
            <a:off x="822960"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2,800  </a:t>
            </a:r>
            <a:pPr indent="0" marL="0">
              <a:buNone/>
            </a:pPr>
            <a:r>
              <a:rPr lang="en-US" sz="1400" dirty="0">
                <a:solidFill>
                  <a:schemeClr val="accent4"/>
                </a:solidFill>
              </a:rPr>
              <a:t>reviews</a:t>
            </a:r>
            <a:endParaRPr lang="en-US" sz="1400" dirty="0"/>
          </a:p>
        </p:txBody>
      </p:sp>
      <p:sp>
        <p:nvSpPr>
          <p:cNvPr id="6" name="Throughput active agents"/>
          <p:cNvSpPr/>
          <p:nvPr/>
        </p:nvSpPr>
        <p:spPr>
          <a:xfrm>
            <a:off x="3390824"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7" name="Text 5"/>
          <p:cNvSpPr txBox="1"/>
          <p:nvPr/>
        </p:nvSpPr>
        <p:spPr>
          <a:xfrm>
            <a:off x="3665144"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15  </a:t>
            </a:r>
            <a:pPr indent="0" marL="0">
              <a:buNone/>
            </a:pPr>
            <a:r>
              <a:rPr lang="en-US" sz="1400" dirty="0">
                <a:solidFill>
                  <a:schemeClr val="accent4"/>
                </a:solidFill>
              </a:rPr>
              <a:t>active agents</a:t>
            </a:r>
            <a:endParaRPr lang="en-US" sz="1400" dirty="0"/>
          </a:p>
        </p:txBody>
      </p:sp>
      <p:sp>
        <p:nvSpPr>
          <p:cNvPr id="8" name="Throughput queues"/>
          <p:cNvSpPr/>
          <p:nvPr/>
        </p:nvSpPr>
        <p:spPr>
          <a:xfrm>
            <a:off x="6233008"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9" name="Text 7"/>
          <p:cNvSpPr txBox="1"/>
          <p:nvPr/>
        </p:nvSpPr>
        <p:spPr>
          <a:xfrm>
            <a:off x="6507328"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5  </a:t>
            </a:r>
            <a:pPr indent="0" marL="0">
              <a:buNone/>
            </a:pPr>
            <a:r>
              <a:rPr lang="en-US" sz="1400" dirty="0">
                <a:solidFill>
                  <a:schemeClr val="accent4"/>
                </a:solidFill>
              </a:rPr>
              <a:t>queues</a:t>
            </a:r>
            <a:endParaRPr lang="en-US" sz="1400" dirty="0"/>
          </a:p>
        </p:txBody>
      </p:sp>
      <p:sp>
        <p:nvSpPr>
          <p:cNvPr id="10" name="Throughput media modalities"/>
          <p:cNvSpPr/>
          <p:nvPr/>
        </p:nvSpPr>
        <p:spPr>
          <a:xfrm>
            <a:off x="9075191" y="1481328"/>
            <a:ext cx="2567864" cy="658368"/>
          </a:xfrm>
          <a:prstGeom prst="roundRect">
            <a:avLst>
              <a:gd name="adj" fmla="val 16667"/>
            </a:avLst>
          </a:prstGeom>
          <a:solidFill>
            <a:schemeClr val="bg1"/>
          </a:solidFill>
          <a:ln/>
          <a:effectLst>
            <a:outerShdw sx="100000" sy="100000" kx="0" ky="0" algn="bl" rotWithShape="0" blurRad="101600" dist="25400" dir="5400000">
              <a:srgbClr val="000000">
                <a:alpha val="10000"/>
              </a:srgbClr>
            </a:outerShdw>
          </a:effectLst>
        </p:spPr>
      </p:sp>
      <p:sp>
        <p:nvSpPr>
          <p:cNvPr id="11" name="Text 9"/>
          <p:cNvSpPr txBox="1"/>
          <p:nvPr/>
        </p:nvSpPr>
        <p:spPr>
          <a:xfrm>
            <a:off x="9349511" y="1481328"/>
            <a:ext cx="2019224" cy="658368"/>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4  </a:t>
            </a:r>
            <a:pPr indent="0" marL="0">
              <a:buNone/>
            </a:pPr>
            <a:r>
              <a:rPr lang="en-US" sz="1400" dirty="0">
                <a:solidFill>
                  <a:schemeClr val="accent4"/>
                </a:solidFill>
              </a:rPr>
              <a:t>media modalities</a:t>
            </a:r>
            <a:endParaRPr lang="en-US" sz="1400" dirty="0"/>
          </a:p>
        </p:txBody>
      </p:sp>
      <p:sp>
        <p:nvSpPr>
          <p:cNvPr id="12" name="Queue SLA card"/>
          <p:cNvSpPr/>
          <p:nvPr/>
        </p:nvSpPr>
        <p:spPr>
          <a:xfrm>
            <a:off x="548640" y="2414016"/>
            <a:ext cx="6583680" cy="3767328"/>
          </a:xfrm>
          <a:prstGeom prst="roundRect">
            <a:avLst>
              <a:gd name="adj" fmla="val 2913"/>
            </a:avLst>
          </a:prstGeom>
          <a:solidFill>
            <a:schemeClr val="bg1"/>
          </a:solidFill>
          <a:ln/>
          <a:effectLst>
            <a:outerShdw sx="100000" sy="100000" kx="0" ky="0" algn="bl" rotWithShape="0" blurRad="101600" dist="25400" dir="5400000">
              <a:srgbClr val="000000">
                <a:alpha val="10000"/>
              </a:srgbClr>
            </a:outerShdw>
          </a:effectLst>
        </p:spPr>
      </p:sp>
      <p:sp>
        <p:nvSpPr>
          <p:cNvPr id="13" name="Text 11"/>
          <p:cNvSpPr txBox="1"/>
          <p:nvPr/>
        </p:nvSpPr>
        <p:spPr>
          <a:xfrm>
            <a:off x="868680" y="2642616"/>
            <a:ext cx="5943600" cy="365760"/>
          </a:xfrm>
          <a:prstGeom prst="rect">
            <a:avLst/>
          </a:prstGeom>
          <a:noFill/>
          <a:ln/>
        </p:spPr>
        <p:txBody>
          <a:bodyPr wrap="square" lIns="0" tIns="0" rIns="0" bIns="0" rtlCol="0" anchor="t"/>
          <a:lstStyle/>
          <a:p>
            <a:pPr indent="0" marL="0">
              <a:buNone/>
            </a:pPr>
            <a:r>
              <a:rPr lang="en-US" sz="1600" b="1" dirty="0">
                <a:solidFill>
                  <a:schemeClr val="accent1"/>
                </a:solidFill>
              </a:rPr>
              <a:t>Queue SLA attainment vs. 95.0% contractual target</a:t>
            </a:r>
            <a:endParaRPr lang="en-US" sz="1600" dirty="0"/>
          </a:p>
        </p:txBody>
      </p:sp>
      <p:graphicFrame>
        <p:nvGraphicFramePr>
          <p:cNvPr id="14" name="Queue SLA chart" descr="Horizontal bar chart of SLA attainment by queue against a 95% target"/>
          <p:cNvGraphicFramePr/>
          <p:nvPr/>
        </p:nvGraphicFramePr>
        <p:xfrm>
          <a:off x="731520" y="3374136"/>
          <a:ext cx="6217920" cy="2304288"/>
        </p:xfrm>
        <a:graphic xmlns:a="http://schemas.openxmlformats.org/drawingml/2006/main">
          <a:graphicData uri="http://schemas.openxmlformats.org/drawingml/2006/chart">
            <c:chart xmlns:c="http://schemas.openxmlformats.org/drawingml/2006/chart" r:id="rId1"/>
          </a:graphicData>
        </a:graphic>
      </p:graphicFrame>
      <p:sp>
        <p:nvSpPr>
          <p:cNvPr id="15" name="95% target line"/>
          <p:cNvSpPr/>
          <p:nvPr/>
        </p:nvSpPr>
        <p:spPr>
          <a:xfrm>
            <a:off x="6197072" y="3420588"/>
            <a:ext cx="0" cy="2165665"/>
          </a:xfrm>
          <a:prstGeom prst="line">
            <a:avLst/>
          </a:prstGeom>
          <a:noFill/>
          <a:ln w="19050">
            <a:solidFill>
              <a:schemeClr val="accent1"/>
            </a:solidFill>
            <a:prstDash val="dash"/>
          </a:ln>
        </p:spPr>
      </p:sp>
      <p:sp>
        <p:nvSpPr>
          <p:cNvPr id="16" name="Text 13"/>
          <p:cNvSpPr txBox="1"/>
          <p:nvPr/>
        </p:nvSpPr>
        <p:spPr>
          <a:xfrm>
            <a:off x="5648432" y="3099816"/>
            <a:ext cx="1097280" cy="237744"/>
          </a:xfrm>
          <a:prstGeom prst="rect">
            <a:avLst/>
          </a:prstGeom>
          <a:noFill/>
          <a:ln/>
        </p:spPr>
        <p:txBody>
          <a:bodyPr wrap="square" lIns="0" tIns="0" rIns="0" bIns="0" rtlCol="0" anchor="t"/>
          <a:lstStyle/>
          <a:p>
            <a:pPr algn="ctr" indent="0" marL="0">
              <a:buNone/>
            </a:pPr>
            <a:r>
              <a:rPr lang="en-US" sz="1100" b="1" dirty="0">
                <a:solidFill>
                  <a:schemeClr val="accent1"/>
                </a:solidFill>
              </a:rPr>
              <a:t>95% target</a:t>
            </a:r>
            <a:endParaRPr lang="en-US" sz="1100" dirty="0"/>
          </a:p>
        </p:txBody>
      </p:sp>
      <p:sp>
        <p:nvSpPr>
          <p:cNvPr id="17" name="Text 14"/>
          <p:cNvSpPr txBox="1"/>
          <p:nvPr/>
        </p:nvSpPr>
        <p:spPr>
          <a:xfrm>
            <a:off x="868680" y="5769864"/>
            <a:ext cx="5943600" cy="274320"/>
          </a:xfrm>
          <a:prstGeom prst="rect">
            <a:avLst/>
          </a:prstGeom>
          <a:noFill/>
          <a:ln/>
        </p:spPr>
        <p:txBody>
          <a:bodyPr wrap="square" lIns="0" tIns="0" rIns="0" bIns="0" rtlCol="0" anchor="t"/>
          <a:lstStyle/>
          <a:p>
            <a:pPr indent="0" marL="0">
              <a:buNone/>
            </a:pPr>
            <a:r>
              <a:rPr lang="en-US" sz="1100" dirty="0">
                <a:solidFill>
                  <a:schemeClr val="accent4"/>
                </a:solidFill>
              </a:rPr>
              <a:t>Spam &amp; Fraud: 1,346 reviews · 12–36s AHT   |   Contextual queues: 1,454 reviews · 44–110s AHT</a:t>
            </a:r>
            <a:endParaRPr lang="en-US" sz="1100" dirty="0"/>
          </a:p>
        </p:txBody>
      </p:sp>
      <p:sp>
        <p:nvSpPr>
          <p:cNvPr id="18" name="HITL funnel card"/>
          <p:cNvSpPr/>
          <p:nvPr/>
        </p:nvSpPr>
        <p:spPr>
          <a:xfrm>
            <a:off x="7406640" y="2414016"/>
            <a:ext cx="4236415" cy="3767328"/>
          </a:xfrm>
          <a:prstGeom prst="roundRect">
            <a:avLst>
              <a:gd name="adj" fmla="val 2913"/>
            </a:avLst>
          </a:prstGeom>
          <a:solidFill>
            <a:schemeClr val="bg1"/>
          </a:solidFill>
          <a:ln/>
          <a:effectLst>
            <a:outerShdw sx="100000" sy="100000" kx="0" ky="0" algn="bl" rotWithShape="0" blurRad="101600" dist="25400" dir="5400000">
              <a:srgbClr val="000000">
                <a:alpha val="10000"/>
              </a:srgbClr>
            </a:outerShdw>
          </a:effectLst>
        </p:spPr>
      </p:sp>
      <p:sp>
        <p:nvSpPr>
          <p:cNvPr id="19" name="Text 16"/>
          <p:cNvSpPr txBox="1"/>
          <p:nvPr/>
        </p:nvSpPr>
        <p:spPr>
          <a:xfrm>
            <a:off x="7726680" y="2642616"/>
            <a:ext cx="3596335" cy="365760"/>
          </a:xfrm>
          <a:prstGeom prst="rect">
            <a:avLst/>
          </a:prstGeom>
          <a:noFill/>
          <a:ln/>
        </p:spPr>
        <p:txBody>
          <a:bodyPr wrap="square" lIns="0" tIns="0" rIns="0" bIns="0" rtlCol="0" anchor="t"/>
          <a:lstStyle/>
          <a:p>
            <a:pPr indent="0" marL="0">
              <a:buNone/>
            </a:pPr>
            <a:r>
              <a:rPr lang="en-US" sz="1600" b="1" dirty="0">
                <a:solidFill>
                  <a:schemeClr val="accent1"/>
                </a:solidFill>
              </a:rPr>
              <a:t>Human-in-the-Loop triage funnel</a:t>
            </a:r>
            <a:endParaRPr lang="en-US" sz="1600" dirty="0"/>
          </a:p>
        </p:txBody>
      </p:sp>
      <p:sp>
        <p:nvSpPr>
          <p:cNvPr id="20" name="Text 17"/>
          <p:cNvSpPr txBox="1"/>
          <p:nvPr/>
        </p:nvSpPr>
        <p:spPr>
          <a:xfrm>
            <a:off x="7726680" y="3145536"/>
            <a:ext cx="3596335" cy="237744"/>
          </a:xfrm>
          <a:prstGeom prst="rect">
            <a:avLst/>
          </a:prstGeom>
          <a:noFill/>
          <a:ln/>
        </p:spPr>
        <p:txBody>
          <a:bodyPr wrap="square" lIns="0" tIns="0" rIns="0" bIns="0" rtlCol="0" anchor="t"/>
          <a:lstStyle/>
          <a:p>
            <a:pPr indent="0" marL="0">
              <a:buNone/>
            </a:pPr>
            <a:r>
              <a:rPr lang="en-US" sz="1300" b="1" dirty="0">
                <a:solidFill>
                  <a:schemeClr val="tx1"/>
                </a:solidFill>
              </a:rPr>
              <a:t>Auto-Approved</a:t>
            </a:r>
            <a:pPr indent="0" marL="0">
              <a:buNone/>
            </a:pPr>
            <a:r>
              <a:rPr lang="en-US" sz="1100" dirty="0">
                <a:solidFill>
                  <a:schemeClr val="accent4"/>
                </a:solidFill>
              </a:rPr>
              <a:t>  Low-risk compliant content</a:t>
            </a:r>
            <a:endParaRPr lang="en-US" sz="1300" dirty="0"/>
          </a:p>
        </p:txBody>
      </p:sp>
      <p:sp>
        <p:nvSpPr>
          <p:cNvPr id="21" name="Auto-Approved bar"/>
          <p:cNvSpPr/>
          <p:nvPr/>
        </p:nvSpPr>
        <p:spPr>
          <a:xfrm>
            <a:off x="7726680" y="3419856"/>
            <a:ext cx="1493356" cy="219456"/>
          </a:xfrm>
          <a:prstGeom prst="rect">
            <a:avLst/>
          </a:prstGeom>
          <a:solidFill>
            <a:schemeClr val="accent3"/>
          </a:solidFill>
          <a:ln/>
        </p:spPr>
      </p:sp>
      <p:sp>
        <p:nvSpPr>
          <p:cNvPr id="22" name="Text 19"/>
          <p:cNvSpPr txBox="1"/>
          <p:nvPr/>
        </p:nvSpPr>
        <p:spPr>
          <a:xfrm>
            <a:off x="9311476" y="339242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25.2%</a:t>
            </a:r>
            <a:endParaRPr lang="en-US" sz="1300" dirty="0"/>
          </a:p>
        </p:txBody>
      </p:sp>
      <p:sp>
        <p:nvSpPr>
          <p:cNvPr id="23" name="Text 20"/>
          <p:cNvSpPr txBox="1"/>
          <p:nvPr/>
        </p:nvSpPr>
        <p:spPr>
          <a:xfrm>
            <a:off x="7726680" y="3694176"/>
            <a:ext cx="3596335" cy="237744"/>
          </a:xfrm>
          <a:prstGeom prst="rect">
            <a:avLst/>
          </a:prstGeom>
          <a:noFill/>
          <a:ln/>
        </p:spPr>
        <p:txBody>
          <a:bodyPr wrap="square" lIns="0" tIns="0" rIns="0" bIns="0" rtlCol="0" anchor="t"/>
          <a:lstStyle/>
          <a:p>
            <a:pPr indent="0" marL="0">
              <a:buNone/>
            </a:pPr>
            <a:r>
              <a:rPr lang="en-US" sz="1300" b="1" dirty="0">
                <a:solidFill>
                  <a:schemeClr val="tx1"/>
                </a:solidFill>
              </a:rPr>
              <a:t>Auto-Rejected</a:t>
            </a:r>
            <a:pPr indent="0" marL="0">
              <a:buNone/>
            </a:pPr>
            <a:r>
              <a:rPr lang="en-US" sz="1100" dirty="0">
                <a:solidFill>
                  <a:schemeClr val="accent4"/>
                </a:solidFill>
              </a:rPr>
              <a:t>  High-confidence known violations</a:t>
            </a:r>
            <a:endParaRPr lang="en-US" sz="1300" dirty="0"/>
          </a:p>
        </p:txBody>
      </p:sp>
      <p:sp>
        <p:nvSpPr>
          <p:cNvPr id="24" name="Auto-Rejected bar"/>
          <p:cNvSpPr/>
          <p:nvPr/>
        </p:nvSpPr>
        <p:spPr>
          <a:xfrm>
            <a:off x="7726680" y="3968496"/>
            <a:ext cx="1339279" cy="219456"/>
          </a:xfrm>
          <a:prstGeom prst="rect">
            <a:avLst/>
          </a:prstGeom>
          <a:solidFill>
            <a:schemeClr val="accent3"/>
          </a:solidFill>
          <a:ln/>
        </p:spPr>
      </p:sp>
      <p:sp>
        <p:nvSpPr>
          <p:cNvPr id="25" name="Text 22"/>
          <p:cNvSpPr txBox="1"/>
          <p:nvPr/>
        </p:nvSpPr>
        <p:spPr>
          <a:xfrm>
            <a:off x="9157399" y="394106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22.6%</a:t>
            </a:r>
            <a:endParaRPr lang="en-US" sz="1300" dirty="0"/>
          </a:p>
        </p:txBody>
      </p:sp>
      <p:sp>
        <p:nvSpPr>
          <p:cNvPr id="26" name="Text 23"/>
          <p:cNvSpPr txBox="1"/>
          <p:nvPr/>
        </p:nvSpPr>
        <p:spPr>
          <a:xfrm>
            <a:off x="7726680" y="4242816"/>
            <a:ext cx="3596335" cy="237744"/>
          </a:xfrm>
          <a:prstGeom prst="rect">
            <a:avLst/>
          </a:prstGeom>
          <a:noFill/>
          <a:ln/>
        </p:spPr>
        <p:txBody>
          <a:bodyPr wrap="square" lIns="0" tIns="0" rIns="0" bIns="0" rtlCol="0" anchor="t"/>
          <a:lstStyle/>
          <a:p>
            <a:pPr indent="0" marL="0">
              <a:buNone/>
            </a:pPr>
            <a:r>
              <a:rPr lang="en-US" sz="1300" b="1" dirty="0">
                <a:solidFill>
                  <a:schemeClr val="tx1"/>
                </a:solidFill>
              </a:rPr>
              <a:t>Manual Review</a:t>
            </a:r>
            <a:pPr indent="0" marL="0">
              <a:buNone/>
            </a:pPr>
            <a:r>
              <a:rPr lang="en-US" sz="1100" dirty="0">
                <a:solidFill>
                  <a:schemeClr val="accent4"/>
                </a:solidFill>
              </a:rPr>
              <a:t>  Human frontline verification</a:t>
            </a:r>
            <a:endParaRPr lang="en-US" sz="1300" dirty="0"/>
          </a:p>
        </p:txBody>
      </p:sp>
      <p:sp>
        <p:nvSpPr>
          <p:cNvPr id="27" name="Manual Review bar"/>
          <p:cNvSpPr/>
          <p:nvPr/>
        </p:nvSpPr>
        <p:spPr>
          <a:xfrm>
            <a:off x="7726680" y="4517136"/>
            <a:ext cx="2773375" cy="219456"/>
          </a:xfrm>
          <a:prstGeom prst="rect">
            <a:avLst/>
          </a:prstGeom>
          <a:solidFill>
            <a:schemeClr val="accent1"/>
          </a:solidFill>
          <a:ln/>
        </p:spPr>
      </p:sp>
      <p:sp>
        <p:nvSpPr>
          <p:cNvPr id="28" name="Text 25"/>
          <p:cNvSpPr txBox="1"/>
          <p:nvPr/>
        </p:nvSpPr>
        <p:spPr>
          <a:xfrm>
            <a:off x="10591495" y="448970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46.8%</a:t>
            </a:r>
            <a:endParaRPr lang="en-US" sz="1300" dirty="0"/>
          </a:p>
        </p:txBody>
      </p:sp>
      <p:sp>
        <p:nvSpPr>
          <p:cNvPr id="29" name="Text 26"/>
          <p:cNvSpPr txBox="1"/>
          <p:nvPr/>
        </p:nvSpPr>
        <p:spPr>
          <a:xfrm>
            <a:off x="7726680" y="4791456"/>
            <a:ext cx="3596335" cy="237744"/>
          </a:xfrm>
          <a:prstGeom prst="rect">
            <a:avLst/>
          </a:prstGeom>
          <a:noFill/>
          <a:ln/>
        </p:spPr>
        <p:txBody>
          <a:bodyPr wrap="square" lIns="0" tIns="0" rIns="0" bIns="0" rtlCol="0" anchor="t"/>
          <a:lstStyle/>
          <a:p>
            <a:pPr indent="0" marL="0">
              <a:buNone/>
            </a:pPr>
            <a:r>
              <a:rPr lang="en-US" sz="1300" b="1" dirty="0">
                <a:solidFill>
                  <a:schemeClr val="tx1"/>
                </a:solidFill>
              </a:rPr>
              <a:t>Tier-2 Escalated</a:t>
            </a:r>
            <a:pPr indent="0" marL="0">
              <a:buNone/>
            </a:pPr>
            <a:r>
              <a:rPr lang="en-US" sz="1100" dirty="0">
                <a:solidFill>
                  <a:schemeClr val="accent4"/>
                </a:solidFill>
              </a:rPr>
              <a:t>  Complex legal &amp; policy edge cases</a:t>
            </a:r>
            <a:endParaRPr lang="en-US" sz="1300" dirty="0"/>
          </a:p>
        </p:txBody>
      </p:sp>
      <p:sp>
        <p:nvSpPr>
          <p:cNvPr id="30" name="Tier-2 Escalated bar"/>
          <p:cNvSpPr/>
          <p:nvPr/>
        </p:nvSpPr>
        <p:spPr>
          <a:xfrm>
            <a:off x="7726680" y="5065776"/>
            <a:ext cx="320005" cy="219456"/>
          </a:xfrm>
          <a:prstGeom prst="rect">
            <a:avLst/>
          </a:prstGeom>
          <a:solidFill>
            <a:schemeClr val="accent4"/>
          </a:solidFill>
          <a:ln/>
        </p:spPr>
      </p:sp>
      <p:sp>
        <p:nvSpPr>
          <p:cNvPr id="31" name="Text 28"/>
          <p:cNvSpPr txBox="1"/>
          <p:nvPr/>
        </p:nvSpPr>
        <p:spPr>
          <a:xfrm>
            <a:off x="8138125" y="5038344"/>
            <a:ext cx="731520" cy="274320"/>
          </a:xfrm>
          <a:prstGeom prst="rect">
            <a:avLst/>
          </a:prstGeom>
          <a:noFill/>
          <a:ln/>
        </p:spPr>
        <p:txBody>
          <a:bodyPr wrap="square" lIns="0" tIns="0" rIns="0" bIns="0" rtlCol="0" anchor="ctr"/>
          <a:lstStyle/>
          <a:p>
            <a:pPr indent="0" marL="0">
              <a:buNone/>
            </a:pPr>
            <a:r>
              <a:rPr lang="en-US" sz="1300" b="1" dirty="0">
                <a:solidFill>
                  <a:schemeClr val="tx1"/>
                </a:solidFill>
              </a:rPr>
              <a:t>5.4%</a:t>
            </a:r>
            <a:endParaRPr lang="en-US" sz="1300" dirty="0"/>
          </a:p>
        </p:txBody>
      </p:sp>
      <p:sp>
        <p:nvSpPr>
          <p:cNvPr id="32" name="Automation callout"/>
          <p:cNvSpPr/>
          <p:nvPr/>
        </p:nvSpPr>
        <p:spPr>
          <a:xfrm>
            <a:off x="7726680" y="5431536"/>
            <a:ext cx="3596335" cy="521208"/>
          </a:xfrm>
          <a:prstGeom prst="roundRect">
            <a:avLst>
              <a:gd name="adj" fmla="val 14035"/>
            </a:avLst>
          </a:prstGeom>
          <a:solidFill>
            <a:schemeClr val="bg2"/>
          </a:solidFill>
          <a:ln/>
        </p:spPr>
      </p:sp>
      <p:sp>
        <p:nvSpPr>
          <p:cNvPr id="33" name="Text 30"/>
          <p:cNvSpPr txBox="1"/>
          <p:nvPr/>
        </p:nvSpPr>
        <p:spPr>
          <a:xfrm>
            <a:off x="7863840" y="5431536"/>
            <a:ext cx="3322015" cy="521208"/>
          </a:xfrm>
          <a:prstGeom prst="rect">
            <a:avLst/>
          </a:prstGeom>
          <a:noFill/>
          <a:ln/>
        </p:spPr>
        <p:txBody>
          <a:bodyPr wrap="square" lIns="0" tIns="0" rIns="0" bIns="0" rtlCol="0" anchor="ctr"/>
          <a:lstStyle/>
          <a:p>
            <a:pPr indent="0" marL="0">
              <a:buNone/>
            </a:pPr>
            <a:r>
              <a:rPr lang="en-US" sz="2400" b="1" dirty="0">
                <a:solidFill>
                  <a:schemeClr val="accent3"/>
                </a:solidFill>
                <a:latin typeface="Arial" pitchFamily="34" charset="0"/>
                <a:ea typeface="Arial" pitchFamily="34" charset="-122"/>
                <a:cs typeface="Arial" pitchFamily="34" charset="-120"/>
              </a:rPr>
              <a:t>47.8%</a:t>
            </a:r>
            <a:pPr indent="0" marL="0">
              <a:buNone/>
            </a:pPr>
            <a:r>
              <a:rPr lang="en-US" sz="1300" dirty="0">
                <a:solidFill>
                  <a:schemeClr val="tx1"/>
                </a:solidFill>
              </a:rPr>
              <a:t>  resolved with no human touch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SO WHAT?  ·  ROOT CAUSE</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Root Cause: Where the SLA Drag &amp; Backlog Originate</a:t>
            </a:r>
            <a:endParaRPr lang="en-US" sz="3200" dirty="0"/>
          </a:p>
        </p:txBody>
      </p:sp>
      <p:sp>
        <p:nvSpPr>
          <p:cNvPr id="4" name="Media modality card"/>
          <p:cNvSpPr/>
          <p:nvPr/>
        </p:nvSpPr>
        <p:spPr>
          <a:xfrm>
            <a:off x="548640" y="1481328"/>
            <a:ext cx="5410048" cy="3657600"/>
          </a:xfrm>
          <a:prstGeom prst="roundRect">
            <a:avLst>
              <a:gd name="adj" fmla="val 3000"/>
            </a:avLst>
          </a:prstGeom>
          <a:solidFill>
            <a:schemeClr val="bg1"/>
          </a:solidFill>
          <a:ln/>
          <a:effectLst>
            <a:outerShdw sx="100000" sy="100000" kx="0" ky="0" algn="bl" rotWithShape="0" blurRad="101600" dist="25400" dir="5400000">
              <a:srgbClr val="000000">
                <a:alpha val="10000"/>
              </a:srgbClr>
            </a:outerShdw>
          </a:effectLst>
        </p:spPr>
      </p:sp>
      <p:sp>
        <p:nvSpPr>
          <p:cNvPr id="5" name="Media modality circle"/>
          <p:cNvSpPr/>
          <p:nvPr/>
        </p:nvSpPr>
        <p:spPr>
          <a:xfrm>
            <a:off x="868680" y="1709928"/>
            <a:ext cx="411480" cy="411480"/>
          </a:xfrm>
          <a:prstGeom prst="ellipse">
            <a:avLst/>
          </a:prstGeom>
          <a:solidFill>
            <a:schemeClr val="accent1"/>
          </a:solidFill>
          <a:ln/>
        </p:spPr>
      </p:sp>
      <p:pic>
        <p:nvPicPr>
          <p:cNvPr id="6" name="Media modality icon" descr="Media modality">    </p:cNvPr>
          <p:cNvPicPr>
            <a:picLocks noChangeAspect="1"/>
          </p:cNvPicPr>
          <p:nvPr/>
        </p:nvPicPr>
        <p:blipFill>
          <a:blip r:embed="rId1"/>
          <a:stretch>
            <a:fillRect/>
          </a:stretch>
        </p:blipFill>
        <p:spPr>
          <a:xfrm>
            <a:off x="971550" y="1812798"/>
            <a:ext cx="205740" cy="205740"/>
          </a:xfrm>
          <a:prstGeom prst="rect">
            <a:avLst/>
          </a:prstGeom>
        </p:spPr>
      </p:pic>
      <p:sp>
        <p:nvSpPr>
          <p:cNvPr id="7" name="Text 4"/>
          <p:cNvSpPr txBox="1"/>
          <p:nvPr/>
        </p:nvSpPr>
        <p:spPr>
          <a:xfrm>
            <a:off x="1417320" y="1709928"/>
            <a:ext cx="4221328" cy="411480"/>
          </a:xfrm>
          <a:prstGeom prst="rect">
            <a:avLst/>
          </a:prstGeom>
          <a:noFill/>
          <a:ln/>
        </p:spPr>
        <p:txBody>
          <a:bodyPr wrap="square" lIns="0" tIns="0" rIns="0" bIns="0" rtlCol="0" anchor="ctr"/>
          <a:lstStyle/>
          <a:p>
            <a:pPr indent="0" marL="0">
              <a:buNone/>
            </a:pPr>
            <a:r>
              <a:rPr lang="en-US" sz="1600" b="1" dirty="0">
                <a:solidFill>
                  <a:schemeClr val="accent1"/>
                </a:solidFill>
              </a:rPr>
              <a:t>Media multiplier: AHT by content type</a:t>
            </a:r>
            <a:endParaRPr lang="en-US" sz="1600" dirty="0"/>
          </a:p>
        </p:txBody>
      </p:sp>
      <p:graphicFrame>
        <p:nvGraphicFramePr>
          <p:cNvPr id="8" name="AHT by content type chart" descr="Column chart of average handling time by content type"/>
          <p:cNvGraphicFramePr/>
          <p:nvPr/>
        </p:nvGraphicFramePr>
        <p:xfrm>
          <a:off x="731520" y="2212848"/>
          <a:ext cx="5044288" cy="2057400"/>
        </p:xfrm>
        <a:graphic xmlns:a="http://schemas.openxmlformats.org/drawingml/2006/main">
          <a:graphicData uri="http://schemas.openxmlformats.org/drawingml/2006/chart">
            <c:chart xmlns:c="http://schemas.openxmlformats.org/drawingml/2006/chart" r:id="rId2"/>
          </a:graphicData>
        </a:graphic>
      </p:graphicFrame>
      <p:sp>
        <p:nvSpPr>
          <p:cNvPr id="9" name="Video share callout"/>
          <p:cNvSpPr/>
          <p:nvPr/>
        </p:nvSpPr>
        <p:spPr>
          <a:xfrm>
            <a:off x="868680" y="4334256"/>
            <a:ext cx="4769968" cy="603504"/>
          </a:xfrm>
          <a:prstGeom prst="roundRect">
            <a:avLst>
              <a:gd name="adj" fmla="val 12121"/>
            </a:avLst>
          </a:prstGeom>
          <a:solidFill>
            <a:schemeClr val="bg2"/>
          </a:solidFill>
          <a:ln/>
        </p:spPr>
      </p:sp>
      <p:sp>
        <p:nvSpPr>
          <p:cNvPr id="10" name="Text 6"/>
          <p:cNvSpPr txBox="1"/>
          <p:nvPr/>
        </p:nvSpPr>
        <p:spPr>
          <a:xfrm>
            <a:off x="1005840" y="4334256"/>
            <a:ext cx="4495648" cy="603504"/>
          </a:xfrm>
          <a:prstGeom prst="rect">
            <a:avLst/>
          </a:prstGeom>
          <a:noFill/>
          <a:ln/>
        </p:spPr>
        <p:txBody>
          <a:bodyPr wrap="square" lIns="0" tIns="0" rIns="0" bIns="0" rtlCol="0" anchor="ctr"/>
          <a:lstStyle/>
          <a:p>
            <a:pPr indent="0" marL="0">
              <a:buNone/>
            </a:pPr>
            <a:r>
              <a:rPr lang="en-US" sz="1400" b="1" dirty="0">
                <a:solidFill>
                  <a:schemeClr val="tx1"/>
                </a:solidFill>
              </a:rPr>
              <a:t>Video = 28% of volume, </a:t>
            </a:r>
            <a:pPr indent="0" marL="0">
              <a:buNone/>
            </a:pPr>
            <a:r>
              <a:rPr lang="en-US" sz="1400" b="1" dirty="0">
                <a:solidFill>
                  <a:schemeClr val="accent6"/>
                </a:solidFill>
              </a:rPr>
              <a:t>64% of agent hours</a:t>
            </a:r>
            <a:pPr indent="0" marL="0">
              <a:buNone/>
            </a:pPr>
            <a:r>
              <a:rPr lang="en-US" sz="1200" dirty="0">
                <a:solidFill>
                  <a:schemeClr val="accent4"/>
                </a:solidFill>
              </a:rPr>
              <a:t>  ·  short video 5.2×, live 8.5× text AHT</a:t>
            </a:r>
            <a:endParaRPr lang="en-US" sz="1400" dirty="0"/>
          </a:p>
        </p:txBody>
      </p:sp>
      <p:sp>
        <p:nvSpPr>
          <p:cNvPr id="11" name="Viral surge card"/>
          <p:cNvSpPr/>
          <p:nvPr/>
        </p:nvSpPr>
        <p:spPr>
          <a:xfrm>
            <a:off x="6233008" y="1481328"/>
            <a:ext cx="5410048" cy="3657600"/>
          </a:xfrm>
          <a:prstGeom prst="roundRect">
            <a:avLst>
              <a:gd name="adj" fmla="val 3000"/>
            </a:avLst>
          </a:prstGeom>
          <a:solidFill>
            <a:schemeClr val="bg1"/>
          </a:solidFill>
          <a:ln/>
          <a:effectLst>
            <a:outerShdw sx="100000" sy="100000" kx="0" ky="0" algn="bl" rotWithShape="0" blurRad="101600" dist="25400" dir="5400000">
              <a:srgbClr val="000000">
                <a:alpha val="10000"/>
              </a:srgbClr>
            </a:outerShdw>
          </a:effectLst>
        </p:spPr>
      </p:sp>
      <p:sp>
        <p:nvSpPr>
          <p:cNvPr id="12" name="Viral surge circle"/>
          <p:cNvSpPr/>
          <p:nvPr/>
        </p:nvSpPr>
        <p:spPr>
          <a:xfrm>
            <a:off x="6553048" y="1709928"/>
            <a:ext cx="411480" cy="411480"/>
          </a:xfrm>
          <a:prstGeom prst="ellipse">
            <a:avLst/>
          </a:prstGeom>
          <a:solidFill>
            <a:schemeClr val="accent1"/>
          </a:solidFill>
          <a:ln/>
        </p:spPr>
      </p:sp>
      <p:pic>
        <p:nvPicPr>
          <p:cNvPr id="13" name="Viral surge icon" descr="Viral surge">    </p:cNvPr>
          <p:cNvPicPr>
            <a:picLocks noChangeAspect="1"/>
          </p:cNvPicPr>
          <p:nvPr/>
        </p:nvPicPr>
        <p:blipFill>
          <a:blip r:embed="rId3"/>
          <a:stretch>
            <a:fillRect/>
          </a:stretch>
        </p:blipFill>
        <p:spPr>
          <a:xfrm>
            <a:off x="6655918" y="1812798"/>
            <a:ext cx="205740" cy="205740"/>
          </a:xfrm>
          <a:prstGeom prst="rect">
            <a:avLst/>
          </a:prstGeom>
        </p:spPr>
      </p:pic>
      <p:sp>
        <p:nvSpPr>
          <p:cNvPr id="14" name="Text 9"/>
          <p:cNvSpPr txBox="1"/>
          <p:nvPr/>
        </p:nvSpPr>
        <p:spPr>
          <a:xfrm>
            <a:off x="7101688" y="1709928"/>
            <a:ext cx="4221328" cy="411480"/>
          </a:xfrm>
          <a:prstGeom prst="rect">
            <a:avLst/>
          </a:prstGeom>
          <a:noFill/>
          <a:ln/>
        </p:spPr>
        <p:txBody>
          <a:bodyPr wrap="square" lIns="0" tIns="0" rIns="0" bIns="0" rtlCol="0" anchor="ctr"/>
          <a:lstStyle/>
          <a:p>
            <a:pPr indent="0" marL="0">
              <a:buNone/>
            </a:pPr>
            <a:r>
              <a:rPr lang="en-US" sz="1600" b="1" dirty="0">
                <a:solidFill>
                  <a:schemeClr val="accent1"/>
                </a:solidFill>
              </a:rPr>
              <a:t>Surge shock: avg. daily arrivals by phase</a:t>
            </a:r>
            <a:endParaRPr lang="en-US" sz="1600" dirty="0"/>
          </a:p>
        </p:txBody>
      </p:sp>
      <p:graphicFrame>
        <p:nvGraphicFramePr>
          <p:cNvPr id="15" name="Daily arrivals by phase chart" descr="Column chart of average daily arrivals in steady, viral and burn-off phases"/>
          <p:cNvGraphicFramePr/>
          <p:nvPr/>
        </p:nvGraphicFramePr>
        <p:xfrm>
          <a:off x="6415888" y="2212848"/>
          <a:ext cx="5044288" cy="1965960"/>
        </p:xfrm>
        <a:graphic xmlns:a="http://schemas.openxmlformats.org/drawingml/2006/main">
          <a:graphicData uri="http://schemas.openxmlformats.org/drawingml/2006/chart">
            <c:chart xmlns:c="http://schemas.openxmlformats.org/drawingml/2006/chart" r:id="rId4"/>
          </a:graphicData>
        </a:graphic>
      </p:graphicFrame>
      <p:sp>
        <p:nvSpPr>
          <p:cNvPr id="16" name="Phase 1 SLA chip"/>
          <p:cNvSpPr/>
          <p:nvPr/>
        </p:nvSpPr>
        <p:spPr>
          <a:xfrm>
            <a:off x="6705317" y="4334256"/>
            <a:ext cx="1371600" cy="384048"/>
          </a:xfrm>
          <a:prstGeom prst="roundRect">
            <a:avLst>
              <a:gd name="adj" fmla="val 50000"/>
            </a:avLst>
          </a:prstGeom>
          <a:solidFill>
            <a:schemeClr val="accent3"/>
          </a:solidFill>
          <a:ln/>
        </p:spPr>
      </p:sp>
      <p:sp>
        <p:nvSpPr>
          <p:cNvPr id="17" name="Text 11"/>
          <p:cNvSpPr txBox="1"/>
          <p:nvPr/>
        </p:nvSpPr>
        <p:spPr>
          <a:xfrm>
            <a:off x="6705317" y="4334256"/>
            <a:ext cx="1371600" cy="384048"/>
          </a:xfrm>
          <a:prstGeom prst="rect">
            <a:avLst/>
          </a:prstGeom>
          <a:noFill/>
          <a:ln/>
        </p:spPr>
        <p:txBody>
          <a:bodyPr wrap="square" lIns="0" tIns="0" rIns="0" bIns="0" rtlCol="0" anchor="ctr"/>
          <a:lstStyle/>
          <a:p>
            <a:pPr algn="ctr" indent="0" marL="0">
              <a:buNone/>
            </a:pPr>
            <a:r>
              <a:rPr lang="en-US" sz="1300" b="1" dirty="0">
                <a:solidFill>
                  <a:schemeClr val="bg1"/>
                </a:solidFill>
              </a:rPr>
              <a:t>97.4% SLA</a:t>
            </a:r>
            <a:endParaRPr lang="en-US" sz="1300" dirty="0"/>
          </a:p>
        </p:txBody>
      </p:sp>
      <p:sp>
        <p:nvSpPr>
          <p:cNvPr id="18" name="Phase 2 SLA chip"/>
          <p:cNvSpPr/>
          <p:nvPr/>
        </p:nvSpPr>
        <p:spPr>
          <a:xfrm>
            <a:off x="8252231" y="4334256"/>
            <a:ext cx="1371600" cy="384048"/>
          </a:xfrm>
          <a:prstGeom prst="roundRect">
            <a:avLst>
              <a:gd name="adj" fmla="val 50000"/>
            </a:avLst>
          </a:prstGeom>
          <a:solidFill>
            <a:schemeClr val="accent6"/>
          </a:solidFill>
          <a:ln/>
        </p:spPr>
      </p:sp>
      <p:sp>
        <p:nvSpPr>
          <p:cNvPr id="19" name="Text 13"/>
          <p:cNvSpPr txBox="1"/>
          <p:nvPr/>
        </p:nvSpPr>
        <p:spPr>
          <a:xfrm>
            <a:off x="8252231" y="4334256"/>
            <a:ext cx="1371600" cy="384048"/>
          </a:xfrm>
          <a:prstGeom prst="rect">
            <a:avLst/>
          </a:prstGeom>
          <a:noFill/>
          <a:ln/>
        </p:spPr>
        <p:txBody>
          <a:bodyPr wrap="square" lIns="0" tIns="0" rIns="0" bIns="0" rtlCol="0" anchor="ctr"/>
          <a:lstStyle/>
          <a:p>
            <a:pPr algn="ctr" indent="0" marL="0">
              <a:buNone/>
            </a:pPr>
            <a:r>
              <a:rPr lang="en-US" sz="1300" b="1" dirty="0">
                <a:solidFill>
                  <a:schemeClr val="bg1"/>
                </a:solidFill>
              </a:rPr>
              <a:t>48.2% SLA</a:t>
            </a:r>
            <a:endParaRPr lang="en-US" sz="1300" dirty="0"/>
          </a:p>
        </p:txBody>
      </p:sp>
      <p:sp>
        <p:nvSpPr>
          <p:cNvPr id="20" name="Phase 3 SLA chip"/>
          <p:cNvSpPr/>
          <p:nvPr/>
        </p:nvSpPr>
        <p:spPr>
          <a:xfrm>
            <a:off x="9799146" y="4334256"/>
            <a:ext cx="1371600" cy="384048"/>
          </a:xfrm>
          <a:prstGeom prst="roundRect">
            <a:avLst>
              <a:gd name="adj" fmla="val 50000"/>
            </a:avLst>
          </a:prstGeom>
          <a:solidFill>
            <a:schemeClr val="accent4"/>
          </a:solidFill>
          <a:ln/>
        </p:spPr>
      </p:sp>
      <p:sp>
        <p:nvSpPr>
          <p:cNvPr id="21" name="Text 15"/>
          <p:cNvSpPr txBox="1"/>
          <p:nvPr/>
        </p:nvSpPr>
        <p:spPr>
          <a:xfrm>
            <a:off x="9799146" y="4334256"/>
            <a:ext cx="1371600" cy="384048"/>
          </a:xfrm>
          <a:prstGeom prst="rect">
            <a:avLst/>
          </a:prstGeom>
          <a:noFill/>
          <a:ln/>
        </p:spPr>
        <p:txBody>
          <a:bodyPr wrap="square" lIns="0" tIns="0" rIns="0" bIns="0" rtlCol="0" anchor="ctr"/>
          <a:lstStyle/>
          <a:p>
            <a:pPr algn="ctr" indent="0" marL="0">
              <a:buNone/>
            </a:pPr>
            <a:r>
              <a:rPr lang="en-US" sz="1300" b="1" dirty="0">
                <a:solidFill>
                  <a:schemeClr val="bg1"/>
                </a:solidFill>
              </a:rPr>
              <a:t>88.5% SLA</a:t>
            </a:r>
            <a:endParaRPr lang="en-US" sz="1300" dirty="0"/>
          </a:p>
        </p:txBody>
      </p:sp>
      <p:sp>
        <p:nvSpPr>
          <p:cNvPr id="22" name="Text 16"/>
          <p:cNvSpPr txBox="1"/>
          <p:nvPr/>
        </p:nvSpPr>
        <p:spPr>
          <a:xfrm>
            <a:off x="6553048" y="4773168"/>
            <a:ext cx="4769968" cy="256032"/>
          </a:xfrm>
          <a:prstGeom prst="rect">
            <a:avLst/>
          </a:prstGeom>
          <a:noFill/>
          <a:ln/>
        </p:spPr>
        <p:txBody>
          <a:bodyPr wrap="square" lIns="0" tIns="0" rIns="0" bIns="0" rtlCol="0" anchor="t"/>
          <a:lstStyle/>
          <a:p>
            <a:pPr algn="ctr" indent="0" marL="0">
              <a:buNone/>
            </a:pPr>
            <a:r>
              <a:rPr lang="en-US" sz="1100" dirty="0">
                <a:solidFill>
                  <a:schemeClr val="accent4"/>
                </a:solidFill>
              </a:rPr>
              <a:t>+135% arrivals vs. an ~80/day staffing plan</a:t>
            </a:r>
            <a:endParaRPr lang="en-US" sz="1100" dirty="0"/>
          </a:p>
        </p:txBody>
      </p:sp>
      <p:sp>
        <p:nvSpPr>
          <p:cNvPr id="23" name="Wellness safeguard banner"/>
          <p:cNvSpPr/>
          <p:nvPr/>
        </p:nvSpPr>
        <p:spPr>
          <a:xfrm>
            <a:off x="548640" y="5413248"/>
            <a:ext cx="11094415" cy="822960"/>
          </a:xfrm>
          <a:prstGeom prst="roundRect">
            <a:avLst>
              <a:gd name="adj" fmla="val 13333"/>
            </a:avLst>
          </a:prstGeom>
          <a:solidFill>
            <a:schemeClr val="accent1"/>
          </a:solidFill>
          <a:ln/>
          <a:effectLst>
            <a:outerShdw sx="100000" sy="100000" kx="0" ky="0" algn="bl" rotWithShape="0" blurRad="101600" dist="25400" dir="5400000">
              <a:srgbClr val="000000">
                <a:alpha val="10000"/>
              </a:srgbClr>
            </a:outerShdw>
          </a:effectLst>
        </p:spPr>
      </p:sp>
      <p:sp>
        <p:nvSpPr>
          <p:cNvPr id="24" name="Wellness safeguard circle"/>
          <p:cNvSpPr/>
          <p:nvPr/>
        </p:nvSpPr>
        <p:spPr>
          <a:xfrm>
            <a:off x="868680" y="5550408"/>
            <a:ext cx="548640" cy="548640"/>
          </a:xfrm>
          <a:prstGeom prst="ellipse">
            <a:avLst/>
          </a:prstGeom>
          <a:solidFill>
            <a:schemeClr val="accent2"/>
          </a:solidFill>
          <a:ln/>
        </p:spPr>
      </p:sp>
      <p:pic>
        <p:nvPicPr>
          <p:cNvPr id="25" name="Wellness safeguard icon" descr="Wellness safeguard">    </p:cNvPr>
          <p:cNvPicPr>
            <a:picLocks noChangeAspect="1"/>
          </p:cNvPicPr>
          <p:nvPr/>
        </p:nvPicPr>
        <p:blipFill>
          <a:blip r:embed="rId5"/>
          <a:stretch>
            <a:fillRect/>
          </a:stretch>
        </p:blipFill>
        <p:spPr>
          <a:xfrm>
            <a:off x="1005840" y="5687568"/>
            <a:ext cx="274320" cy="274320"/>
          </a:xfrm>
          <a:prstGeom prst="rect">
            <a:avLst/>
          </a:prstGeom>
        </p:spPr>
      </p:pic>
      <p:sp>
        <p:nvSpPr>
          <p:cNvPr id="26" name="Text 19"/>
          <p:cNvSpPr txBox="1"/>
          <p:nvPr/>
        </p:nvSpPr>
        <p:spPr>
          <a:xfrm>
            <a:off x="1645920" y="5413248"/>
            <a:ext cx="9677095" cy="822960"/>
          </a:xfrm>
          <a:prstGeom prst="rect">
            <a:avLst/>
          </a:prstGeom>
          <a:noFill/>
          <a:ln/>
        </p:spPr>
        <p:txBody>
          <a:bodyPr wrap="square" lIns="0" tIns="0" rIns="0" bIns="0" rtlCol="0" anchor="ctr"/>
          <a:lstStyle/>
          <a:p>
            <a:pPr indent="0" marL="0">
              <a:buNone/>
            </a:pPr>
            <a:r>
              <a:rPr lang="en-US" sz="1500" b="1" dirty="0">
                <a:solidFill>
                  <a:schemeClr val="accent2"/>
                </a:solidFill>
              </a:rPr>
              <a:t>719 egregious items</a:t>
            </a:r>
            <a:pPr indent="0" marL="0">
              <a:buNone/>
            </a:pPr>
            <a:r>
              <a:rPr lang="en-US" sz="1500" dirty="0">
                <a:solidFill>
                  <a:schemeClr val="bg1"/>
                </a:solidFill>
              </a:rPr>
              <a:t> triggered mandatory 5.5-hour shift caps and 30-minute wellness rotations. Capacity cannot be recovered by extending shifts; it must be recovered by routing.</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SO WHAT?  ·  WORKFORCE DYNAMICS</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Workforce Dynamics: Speed vs. Quality Matrix</a:t>
            </a:r>
            <a:endParaRPr lang="en-US" sz="3200" dirty="0"/>
          </a:p>
        </p:txBody>
      </p:sp>
      <p:sp>
        <p:nvSpPr>
          <p:cNvPr id="4" name="Speed vs quality card"/>
          <p:cNvSpPr/>
          <p:nvPr/>
        </p:nvSpPr>
        <p:spPr>
          <a:xfrm>
            <a:off x="548640" y="1481328"/>
            <a:ext cx="6309360" cy="4754880"/>
          </a:xfrm>
          <a:prstGeom prst="roundRect">
            <a:avLst>
              <a:gd name="adj" fmla="val 2308"/>
            </a:avLst>
          </a:prstGeom>
          <a:solidFill>
            <a:schemeClr val="bg1"/>
          </a:solidFill>
          <a:ln/>
          <a:effectLst>
            <a:outerShdw sx="100000" sy="100000" kx="0" ky="0" algn="bl" rotWithShape="0" blurRad="101600" dist="25400" dir="5400000">
              <a:srgbClr val="000000">
                <a:alpha val="10000"/>
              </a:srgbClr>
            </a:outerShdw>
          </a:effectLst>
        </p:spPr>
      </p:sp>
      <p:sp>
        <p:nvSpPr>
          <p:cNvPr id="5" name="Speed vs quality circle"/>
          <p:cNvSpPr/>
          <p:nvPr/>
        </p:nvSpPr>
        <p:spPr>
          <a:xfrm>
            <a:off x="868680" y="1709928"/>
            <a:ext cx="411480" cy="411480"/>
          </a:xfrm>
          <a:prstGeom prst="ellipse">
            <a:avLst/>
          </a:prstGeom>
          <a:solidFill>
            <a:schemeClr val="accent1"/>
          </a:solidFill>
          <a:ln/>
        </p:spPr>
      </p:sp>
      <p:pic>
        <p:nvPicPr>
          <p:cNvPr id="6" name="Speed vs quality icon" descr="Speed vs quality">    </p:cNvPr>
          <p:cNvPicPr>
            <a:picLocks noChangeAspect="1"/>
          </p:cNvPicPr>
          <p:nvPr/>
        </p:nvPicPr>
        <p:blipFill>
          <a:blip r:embed="rId1"/>
          <a:stretch>
            <a:fillRect/>
          </a:stretch>
        </p:blipFill>
        <p:spPr>
          <a:xfrm>
            <a:off x="971550" y="1812798"/>
            <a:ext cx="205740" cy="205740"/>
          </a:xfrm>
          <a:prstGeom prst="rect">
            <a:avLst/>
          </a:prstGeom>
        </p:spPr>
      </p:pic>
      <p:sp>
        <p:nvSpPr>
          <p:cNvPr id="7" name="Text 4"/>
          <p:cNvSpPr txBox="1"/>
          <p:nvPr/>
        </p:nvSpPr>
        <p:spPr>
          <a:xfrm>
            <a:off x="1417320" y="1709928"/>
            <a:ext cx="5120640" cy="411480"/>
          </a:xfrm>
          <a:prstGeom prst="rect">
            <a:avLst/>
          </a:prstGeom>
          <a:noFill/>
          <a:ln/>
        </p:spPr>
        <p:txBody>
          <a:bodyPr wrap="square" lIns="0" tIns="0" rIns="0" bIns="0" rtlCol="0" anchor="ctr"/>
          <a:lstStyle/>
          <a:p>
            <a:pPr indent="0" marL="0">
              <a:buNone/>
            </a:pPr>
            <a:r>
              <a:rPr lang="en-US" sz="1600" b="1" dirty="0">
                <a:solidFill>
                  <a:schemeClr val="accent1"/>
                </a:solidFill>
              </a:rPr>
              <a:t>Speed vs. quality by tenure cohort</a:t>
            </a:r>
            <a:endParaRPr lang="en-US" sz="1600" dirty="0"/>
          </a:p>
        </p:txBody>
      </p:sp>
      <p:graphicFrame>
        <p:nvGraphicFramePr>
          <p:cNvPr id="8" name="Speed vs quality scatter" descr="Scatter plot of AHT versus QA score for Senior, Core and New Hire cohorts"/>
          <p:cNvGraphicFramePr/>
          <p:nvPr/>
        </p:nvGraphicFramePr>
        <p:xfrm>
          <a:off x="731520" y="2212848"/>
          <a:ext cx="5943600" cy="2514600"/>
        </p:xfrm>
        <a:graphic xmlns:a="http://schemas.openxmlformats.org/drawingml/2006/main">
          <a:graphicData uri="http://schemas.openxmlformats.org/drawingml/2006/chart">
            <c:chart xmlns:c="http://schemas.openxmlformats.org/drawingml/2006/chart" r:id="rId2"/>
          </a:graphicData>
        </a:graphic>
      </p:graphicFrame>
      <p:sp>
        <p:nvSpPr>
          <p:cNvPr id="9" name="Senior · AGENT_12–15 key"/>
          <p:cNvSpPr/>
          <p:nvPr/>
        </p:nvSpPr>
        <p:spPr>
          <a:xfrm>
            <a:off x="914400" y="4882896"/>
            <a:ext cx="164592" cy="164592"/>
          </a:xfrm>
          <a:prstGeom prst="ellipse">
            <a:avLst/>
          </a:prstGeom>
          <a:solidFill>
            <a:schemeClr val="accent3"/>
          </a:solidFill>
          <a:ln/>
        </p:spPr>
      </p:sp>
      <p:sp>
        <p:nvSpPr>
          <p:cNvPr id="10" name="Text 6"/>
          <p:cNvSpPr txBox="1"/>
          <p:nvPr/>
        </p:nvSpPr>
        <p:spPr>
          <a:xfrm>
            <a:off x="1207008" y="4818888"/>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Senior · AGENT_12–15</a:t>
            </a:r>
            <a:pPr indent="0" marL="0">
              <a:buNone/>
            </a:pPr>
            <a:r>
              <a:rPr lang="en-US" sz="1300" dirty="0">
                <a:solidFill>
                  <a:schemeClr val="accent4"/>
                </a:solidFill>
              </a:rPr>
              <a:t>   99.4% QA  ·  38s AHT</a:t>
            </a:r>
            <a:endParaRPr lang="en-US" sz="1300" dirty="0"/>
          </a:p>
        </p:txBody>
      </p:sp>
      <p:sp>
        <p:nvSpPr>
          <p:cNvPr id="11" name="Core · AGENT_04–11 key"/>
          <p:cNvSpPr/>
          <p:nvPr/>
        </p:nvSpPr>
        <p:spPr>
          <a:xfrm>
            <a:off x="914400" y="5212080"/>
            <a:ext cx="164592" cy="164592"/>
          </a:xfrm>
          <a:prstGeom prst="ellipse">
            <a:avLst/>
          </a:prstGeom>
          <a:solidFill>
            <a:schemeClr val="accent1"/>
          </a:solidFill>
          <a:ln/>
        </p:spPr>
      </p:sp>
      <p:sp>
        <p:nvSpPr>
          <p:cNvPr id="12" name="Text 8"/>
          <p:cNvSpPr txBox="1"/>
          <p:nvPr/>
        </p:nvSpPr>
        <p:spPr>
          <a:xfrm>
            <a:off x="1207008" y="5148072"/>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Core · AGENT_04–11</a:t>
            </a:r>
            <a:pPr indent="0" marL="0">
              <a:buNone/>
            </a:pPr>
            <a:r>
              <a:rPr lang="en-US" sz="1300" dirty="0">
                <a:solidFill>
                  <a:schemeClr val="accent4"/>
                </a:solidFill>
              </a:rPr>
              <a:t>   98.7% QA  ·  52s AHT</a:t>
            </a:r>
            <a:endParaRPr lang="en-US" sz="1300" dirty="0"/>
          </a:p>
        </p:txBody>
      </p:sp>
      <p:sp>
        <p:nvSpPr>
          <p:cNvPr id="13" name="New Hire · AGENT_01–03 key"/>
          <p:cNvSpPr/>
          <p:nvPr/>
        </p:nvSpPr>
        <p:spPr>
          <a:xfrm>
            <a:off x="914400" y="5541264"/>
            <a:ext cx="164592" cy="164592"/>
          </a:xfrm>
          <a:prstGeom prst="ellipse">
            <a:avLst/>
          </a:prstGeom>
          <a:solidFill>
            <a:schemeClr val="accent5"/>
          </a:solidFill>
          <a:ln/>
        </p:spPr>
      </p:sp>
      <p:sp>
        <p:nvSpPr>
          <p:cNvPr id="14" name="Text 10"/>
          <p:cNvSpPr txBox="1"/>
          <p:nvPr/>
        </p:nvSpPr>
        <p:spPr>
          <a:xfrm>
            <a:off x="1207008" y="5477256"/>
            <a:ext cx="5303520" cy="292608"/>
          </a:xfrm>
          <a:prstGeom prst="rect">
            <a:avLst/>
          </a:prstGeom>
          <a:noFill/>
          <a:ln/>
        </p:spPr>
        <p:txBody>
          <a:bodyPr wrap="square" lIns="0" tIns="0" rIns="0" bIns="0" rtlCol="0" anchor="ctr"/>
          <a:lstStyle/>
          <a:p>
            <a:pPr indent="0" marL="0">
              <a:buNone/>
            </a:pPr>
            <a:r>
              <a:rPr lang="en-US" sz="1300" b="1" dirty="0">
                <a:solidFill>
                  <a:schemeClr val="tx1"/>
                </a:solidFill>
              </a:rPr>
              <a:t>New Hire · AGENT_01–03</a:t>
            </a:r>
            <a:pPr indent="0" marL="0">
              <a:buNone/>
            </a:pPr>
            <a:r>
              <a:rPr lang="en-US" sz="1300" dirty="0">
                <a:solidFill>
                  <a:schemeClr val="accent4"/>
                </a:solidFill>
              </a:rPr>
              <a:t>   93.8% QA  ·  72s AHT</a:t>
            </a:r>
            <a:endParaRPr lang="en-US" sz="1300" dirty="0"/>
          </a:p>
        </p:txBody>
      </p:sp>
      <p:sp>
        <p:nvSpPr>
          <p:cNvPr id="15" name="Text 11"/>
          <p:cNvSpPr txBox="1"/>
          <p:nvPr/>
        </p:nvSpPr>
        <p:spPr>
          <a:xfrm>
            <a:off x="914400" y="5824728"/>
            <a:ext cx="5577840" cy="320040"/>
          </a:xfrm>
          <a:prstGeom prst="rect">
            <a:avLst/>
          </a:prstGeom>
          <a:noFill/>
          <a:ln/>
        </p:spPr>
        <p:txBody>
          <a:bodyPr wrap="square" lIns="0" tIns="0" rIns="0" bIns="0" rtlCol="0" anchor="t"/>
          <a:lstStyle/>
          <a:p>
            <a:pPr indent="0" marL="0">
              <a:buNone/>
            </a:pPr>
            <a:r>
              <a:rPr lang="en-US" sz="1200" i="1" dirty="0">
                <a:solidFill>
                  <a:schemeClr val="accent4"/>
                </a:solidFill>
              </a:rPr>
              <a:t>Senior agents are 47% faster than new hires; new-hire errors are false negatives on nuanced hate-speech slang.</a:t>
            </a:r>
            <a:endParaRPr lang="en-US" sz="1200" dirty="0"/>
          </a:p>
        </p:txBody>
      </p:sp>
      <p:sp>
        <p:nvSpPr>
          <p:cNvPr id="16" name="Erlang-C capacity card"/>
          <p:cNvSpPr/>
          <p:nvPr/>
        </p:nvSpPr>
        <p:spPr>
          <a:xfrm>
            <a:off x="7132320" y="1481328"/>
            <a:ext cx="4510735" cy="4754880"/>
          </a:xfrm>
          <a:prstGeom prst="roundRect">
            <a:avLst>
              <a:gd name="adj" fmla="val 2433"/>
            </a:avLst>
          </a:prstGeom>
          <a:solidFill>
            <a:schemeClr val="bg1"/>
          </a:solidFill>
          <a:ln/>
          <a:effectLst>
            <a:outerShdw sx="100000" sy="100000" kx="0" ky="0" algn="bl" rotWithShape="0" blurRad="101600" dist="25400" dir="5400000">
              <a:srgbClr val="000000">
                <a:alpha val="10000"/>
              </a:srgbClr>
            </a:outerShdw>
          </a:effectLst>
        </p:spPr>
      </p:sp>
      <p:sp>
        <p:nvSpPr>
          <p:cNvPr id="17" name="Erlang-C circle"/>
          <p:cNvSpPr/>
          <p:nvPr/>
        </p:nvSpPr>
        <p:spPr>
          <a:xfrm>
            <a:off x="7452360" y="1709928"/>
            <a:ext cx="411480" cy="411480"/>
          </a:xfrm>
          <a:prstGeom prst="ellipse">
            <a:avLst/>
          </a:prstGeom>
          <a:solidFill>
            <a:schemeClr val="accent1"/>
          </a:solidFill>
          <a:ln/>
        </p:spPr>
      </p:sp>
      <p:pic>
        <p:nvPicPr>
          <p:cNvPr id="18" name="Erlang-C icon" descr="Erlang-C">    </p:cNvPr>
          <p:cNvPicPr>
            <a:picLocks noChangeAspect="1"/>
          </p:cNvPicPr>
          <p:nvPr/>
        </p:nvPicPr>
        <p:blipFill>
          <a:blip r:embed="rId3"/>
          <a:stretch>
            <a:fillRect/>
          </a:stretch>
        </p:blipFill>
        <p:spPr>
          <a:xfrm>
            <a:off x="7555230" y="1812798"/>
            <a:ext cx="205740" cy="205740"/>
          </a:xfrm>
          <a:prstGeom prst="rect">
            <a:avLst/>
          </a:prstGeom>
        </p:spPr>
      </p:pic>
      <p:sp>
        <p:nvSpPr>
          <p:cNvPr id="19" name="Text 14"/>
          <p:cNvSpPr txBox="1"/>
          <p:nvPr/>
        </p:nvSpPr>
        <p:spPr>
          <a:xfrm>
            <a:off x="8001000" y="1709928"/>
            <a:ext cx="3322015" cy="411480"/>
          </a:xfrm>
          <a:prstGeom prst="rect">
            <a:avLst/>
          </a:prstGeom>
          <a:noFill/>
          <a:ln/>
        </p:spPr>
        <p:txBody>
          <a:bodyPr wrap="square" lIns="0" tIns="0" rIns="0" bIns="0" rtlCol="0" anchor="ctr"/>
          <a:lstStyle/>
          <a:p>
            <a:pPr indent="0" marL="0">
              <a:buNone/>
            </a:pPr>
            <a:r>
              <a:rPr lang="en-US" sz="1600" b="1" dirty="0">
                <a:solidFill>
                  <a:schemeClr val="accent1"/>
                </a:solidFill>
              </a:rPr>
              <a:t>Erlang-C capacity gap under surge</a:t>
            </a:r>
            <a:endParaRPr lang="en-US" sz="1600" dirty="0"/>
          </a:p>
        </p:txBody>
      </p:sp>
      <p:sp>
        <p:nvSpPr>
          <p:cNvPr id="20" name="Text 15"/>
          <p:cNvSpPr txBox="1"/>
          <p:nvPr/>
        </p:nvSpPr>
        <p:spPr>
          <a:xfrm>
            <a:off x="7452360" y="2304288"/>
            <a:ext cx="2468880" cy="502920"/>
          </a:xfrm>
          <a:prstGeom prst="rect">
            <a:avLst/>
          </a:prstGeom>
          <a:noFill/>
          <a:ln/>
        </p:spPr>
        <p:txBody>
          <a:bodyPr wrap="square" lIns="0" tIns="0" rIns="0" bIns="0" rtlCol="0" anchor="t"/>
          <a:lstStyle/>
          <a:p>
            <a:pPr indent="0" marL="0">
              <a:buNone/>
            </a:pPr>
            <a:r>
              <a:rPr lang="en-US" sz="1300" b="1" dirty="0">
                <a:solidFill>
                  <a:schemeClr val="tx1"/>
                </a:solidFill>
              </a:rPr>
              <a:t>Standard 8.0h shift</a:t>
            </a:r>
            <a:endParaRPr lang="en-US" sz="1300" dirty="0"/>
          </a:p>
          <a:p>
            <a:pPr indent="0" marL="0">
              <a:buNone/>
            </a:pPr>
            <a:r>
              <a:rPr lang="en-US" sz="1100" dirty="0">
                <a:solidFill>
                  <a:schemeClr val="accent4"/>
                </a:solidFill>
              </a:rPr>
              <a:t>25% shrinkage · 80% occupancy</a:t>
            </a:r>
            <a:endParaRPr lang="en-US" sz="1300" dirty="0"/>
          </a:p>
        </p:txBody>
      </p:sp>
      <p:sp>
        <p:nvSpPr>
          <p:cNvPr id="21" name="Text 16"/>
          <p:cNvSpPr txBox="1"/>
          <p:nvPr/>
        </p:nvSpPr>
        <p:spPr>
          <a:xfrm>
            <a:off x="9829800" y="2304288"/>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4.80 h/day</a:t>
            </a:r>
            <a:endParaRPr lang="en-US" sz="1500" dirty="0"/>
          </a:p>
        </p:txBody>
      </p:sp>
      <p:sp>
        <p:nvSpPr>
          <p:cNvPr id="22" name="Text 17"/>
          <p:cNvSpPr txBox="1"/>
          <p:nvPr/>
        </p:nvSpPr>
        <p:spPr>
          <a:xfrm>
            <a:off x="7452360" y="2871216"/>
            <a:ext cx="2468880" cy="502920"/>
          </a:xfrm>
          <a:prstGeom prst="rect">
            <a:avLst/>
          </a:prstGeom>
          <a:noFill/>
          <a:ln/>
        </p:spPr>
        <p:txBody>
          <a:bodyPr wrap="square" lIns="0" tIns="0" rIns="0" bIns="0" rtlCol="0" anchor="t"/>
          <a:lstStyle/>
          <a:p>
            <a:pPr indent="0" marL="0">
              <a:buNone/>
            </a:pPr>
            <a:r>
              <a:rPr lang="en-US" sz="1300" b="1" dirty="0">
                <a:solidFill>
                  <a:schemeClr val="tx1"/>
                </a:solidFill>
              </a:rPr>
              <a:t>Egregious 5.5h shift</a:t>
            </a:r>
            <a:endParaRPr lang="en-US" sz="1300" dirty="0"/>
          </a:p>
          <a:p>
            <a:pPr indent="0" marL="0">
              <a:buNone/>
            </a:pPr>
            <a:r>
              <a:rPr lang="en-US" sz="1100" dirty="0">
                <a:solidFill>
                  <a:schemeClr val="accent4"/>
                </a:solidFill>
              </a:rPr>
              <a:t>30% shrinkage · 80% occupancy</a:t>
            </a:r>
            <a:endParaRPr lang="en-US" sz="1300" dirty="0"/>
          </a:p>
        </p:txBody>
      </p:sp>
      <p:sp>
        <p:nvSpPr>
          <p:cNvPr id="23" name="Text 18"/>
          <p:cNvSpPr txBox="1"/>
          <p:nvPr/>
        </p:nvSpPr>
        <p:spPr>
          <a:xfrm>
            <a:off x="9829800" y="2871216"/>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3.08 h/day</a:t>
            </a:r>
            <a:endParaRPr lang="en-US" sz="1500" dirty="0"/>
          </a:p>
        </p:txBody>
      </p:sp>
      <p:sp>
        <p:nvSpPr>
          <p:cNvPr id="24" name="Text 19"/>
          <p:cNvSpPr txBox="1"/>
          <p:nvPr/>
        </p:nvSpPr>
        <p:spPr>
          <a:xfrm>
            <a:off x="7452360" y="3438144"/>
            <a:ext cx="2468880" cy="502920"/>
          </a:xfrm>
          <a:prstGeom prst="rect">
            <a:avLst/>
          </a:prstGeom>
          <a:noFill/>
          <a:ln/>
        </p:spPr>
        <p:txBody>
          <a:bodyPr wrap="square" lIns="0" tIns="0" rIns="0" bIns="0" rtlCol="0" anchor="t"/>
          <a:lstStyle/>
          <a:p>
            <a:pPr indent="0" marL="0">
              <a:buNone/>
            </a:pPr>
            <a:r>
              <a:rPr lang="en-US" sz="1300" b="1" dirty="0">
                <a:solidFill>
                  <a:schemeClr val="tx1"/>
                </a:solidFill>
              </a:rPr>
              <a:t>Steady state</a:t>
            </a:r>
            <a:endParaRPr lang="en-US" sz="1300" dirty="0"/>
          </a:p>
          <a:p>
            <a:pPr indent="0" marL="0">
              <a:buNone/>
            </a:pPr>
            <a:r>
              <a:rPr lang="en-US" sz="1100" dirty="0">
                <a:solidFill>
                  <a:schemeClr val="accent4"/>
                </a:solidFill>
              </a:rPr>
              <a:t>Capacity vs. workload · +12h daily surplus</a:t>
            </a:r>
            <a:endParaRPr lang="en-US" sz="1300" dirty="0"/>
          </a:p>
        </p:txBody>
      </p:sp>
      <p:sp>
        <p:nvSpPr>
          <p:cNvPr id="25" name="Text 20"/>
          <p:cNvSpPr txBox="1"/>
          <p:nvPr/>
        </p:nvSpPr>
        <p:spPr>
          <a:xfrm>
            <a:off x="9829800" y="3438144"/>
            <a:ext cx="1493215" cy="502920"/>
          </a:xfrm>
          <a:prstGeom prst="rect">
            <a:avLst/>
          </a:prstGeom>
          <a:noFill/>
          <a:ln/>
        </p:spPr>
        <p:txBody>
          <a:bodyPr wrap="square" lIns="0" tIns="0" rIns="0" bIns="0" rtlCol="0" anchor="ctr"/>
          <a:lstStyle/>
          <a:p>
            <a:pPr algn="r" indent="0" marL="0">
              <a:buNone/>
            </a:pPr>
            <a:r>
              <a:rPr lang="en-US" sz="1500" b="1" dirty="0">
                <a:solidFill>
                  <a:schemeClr val="accent1"/>
                </a:solidFill>
              </a:rPr>
              <a:t>72h vs. 60h</a:t>
            </a:r>
            <a:endParaRPr lang="en-US" sz="1500" dirty="0"/>
          </a:p>
        </p:txBody>
      </p:sp>
      <p:sp>
        <p:nvSpPr>
          <p:cNvPr id="26" name="Surge gap panel"/>
          <p:cNvSpPr/>
          <p:nvPr/>
        </p:nvSpPr>
        <p:spPr>
          <a:xfrm>
            <a:off x="7452360" y="4087368"/>
            <a:ext cx="3870655" cy="1920240"/>
          </a:xfrm>
          <a:prstGeom prst="roundRect">
            <a:avLst>
              <a:gd name="adj" fmla="val 3810"/>
            </a:avLst>
          </a:prstGeom>
          <a:solidFill>
            <a:schemeClr val="bg2"/>
          </a:solidFill>
          <a:ln/>
        </p:spPr>
      </p:sp>
      <p:sp>
        <p:nvSpPr>
          <p:cNvPr id="27" name="Text 22"/>
          <p:cNvSpPr txBox="1"/>
          <p:nvPr/>
        </p:nvSpPr>
        <p:spPr>
          <a:xfrm>
            <a:off x="7635240" y="4224528"/>
            <a:ext cx="2743200" cy="274320"/>
          </a:xfrm>
          <a:prstGeom prst="rect">
            <a:avLst/>
          </a:prstGeom>
          <a:noFill/>
          <a:ln/>
        </p:spPr>
        <p:txBody>
          <a:bodyPr wrap="square" lIns="0" tIns="0" rIns="0" bIns="0" rtlCol="0" anchor="t"/>
          <a:lstStyle/>
          <a:p>
            <a:pPr indent="0" marL="0">
              <a:buNone/>
            </a:pPr>
            <a:r>
              <a:rPr lang="en-US" sz="1300" b="1" dirty="0">
                <a:solidFill>
                  <a:schemeClr val="tx1"/>
                </a:solidFill>
              </a:rPr>
              <a:t>Surge: 102h daily workload</a:t>
            </a:r>
            <a:endParaRPr lang="en-US" sz="1300" dirty="0"/>
          </a:p>
        </p:txBody>
      </p:sp>
      <p:sp>
        <p:nvSpPr>
          <p:cNvPr id="28" name="Text 23"/>
          <p:cNvSpPr txBox="1"/>
          <p:nvPr/>
        </p:nvSpPr>
        <p:spPr>
          <a:xfrm>
            <a:off x="7635240" y="4617720"/>
            <a:ext cx="1188720" cy="292608"/>
          </a:xfrm>
          <a:prstGeom prst="rect">
            <a:avLst/>
          </a:prstGeom>
          <a:noFill/>
          <a:ln/>
        </p:spPr>
        <p:txBody>
          <a:bodyPr wrap="square" lIns="0" tIns="0" rIns="0" bIns="0" rtlCol="0" anchor="ctr"/>
          <a:lstStyle/>
          <a:p>
            <a:pPr indent="0" marL="0">
              <a:buNone/>
            </a:pPr>
            <a:r>
              <a:rPr lang="en-US" sz="1200" dirty="0">
                <a:solidFill>
                  <a:schemeClr val="accent4"/>
                </a:solidFill>
              </a:rPr>
              <a:t>Required</a:t>
            </a:r>
            <a:endParaRPr lang="en-US" sz="1200" dirty="0"/>
          </a:p>
        </p:txBody>
      </p:sp>
      <p:sp>
        <p:nvSpPr>
          <p:cNvPr id="29" name="Required FTE bar"/>
          <p:cNvSpPr/>
          <p:nvPr/>
        </p:nvSpPr>
        <p:spPr>
          <a:xfrm>
            <a:off x="8823960" y="4654296"/>
            <a:ext cx="1584655" cy="219456"/>
          </a:xfrm>
          <a:prstGeom prst="rect">
            <a:avLst/>
          </a:prstGeom>
          <a:solidFill>
            <a:schemeClr val="accent6"/>
          </a:solidFill>
          <a:ln/>
        </p:spPr>
      </p:sp>
      <p:sp>
        <p:nvSpPr>
          <p:cNvPr id="30" name="Text 25"/>
          <p:cNvSpPr txBox="1"/>
          <p:nvPr/>
        </p:nvSpPr>
        <p:spPr>
          <a:xfrm>
            <a:off x="10454335" y="4617720"/>
            <a:ext cx="822960" cy="292608"/>
          </a:xfrm>
          <a:prstGeom prst="rect">
            <a:avLst/>
          </a:prstGeom>
          <a:noFill/>
          <a:ln/>
        </p:spPr>
        <p:txBody>
          <a:bodyPr wrap="square" lIns="0" tIns="0" rIns="0" bIns="0" rtlCol="0" anchor="ctr"/>
          <a:lstStyle/>
          <a:p>
            <a:pPr indent="0" marL="0">
              <a:buNone/>
            </a:pPr>
            <a:r>
              <a:rPr lang="en-US" sz="1200" b="1" dirty="0">
                <a:solidFill>
                  <a:schemeClr val="tx1"/>
                </a:solidFill>
              </a:rPr>
              <a:t>22 FTEs</a:t>
            </a:r>
            <a:endParaRPr lang="en-US" sz="1200" dirty="0"/>
          </a:p>
        </p:txBody>
      </p:sp>
      <p:sp>
        <p:nvSpPr>
          <p:cNvPr id="31" name="Text 26"/>
          <p:cNvSpPr txBox="1"/>
          <p:nvPr/>
        </p:nvSpPr>
        <p:spPr>
          <a:xfrm>
            <a:off x="7635240" y="5029200"/>
            <a:ext cx="1188720" cy="292608"/>
          </a:xfrm>
          <a:prstGeom prst="rect">
            <a:avLst/>
          </a:prstGeom>
          <a:noFill/>
          <a:ln/>
        </p:spPr>
        <p:txBody>
          <a:bodyPr wrap="square" lIns="0" tIns="0" rIns="0" bIns="0" rtlCol="0" anchor="ctr"/>
          <a:lstStyle/>
          <a:p>
            <a:pPr indent="0" marL="0">
              <a:buNone/>
            </a:pPr>
            <a:r>
              <a:rPr lang="en-US" sz="1200" dirty="0">
                <a:solidFill>
                  <a:schemeClr val="accent4"/>
                </a:solidFill>
              </a:rPr>
              <a:t>Active roster</a:t>
            </a:r>
            <a:endParaRPr lang="en-US" sz="1200" dirty="0"/>
          </a:p>
        </p:txBody>
      </p:sp>
      <p:sp>
        <p:nvSpPr>
          <p:cNvPr id="32" name="Active roster FTE bar"/>
          <p:cNvSpPr/>
          <p:nvPr/>
        </p:nvSpPr>
        <p:spPr>
          <a:xfrm>
            <a:off x="8823960" y="5065776"/>
            <a:ext cx="1080447" cy="219456"/>
          </a:xfrm>
          <a:prstGeom prst="rect">
            <a:avLst/>
          </a:prstGeom>
          <a:solidFill>
            <a:schemeClr val="accent1"/>
          </a:solidFill>
          <a:ln/>
        </p:spPr>
      </p:sp>
      <p:sp>
        <p:nvSpPr>
          <p:cNvPr id="33" name="Text 28"/>
          <p:cNvSpPr txBox="1"/>
          <p:nvPr/>
        </p:nvSpPr>
        <p:spPr>
          <a:xfrm>
            <a:off x="9950127" y="5029200"/>
            <a:ext cx="822960" cy="292608"/>
          </a:xfrm>
          <a:prstGeom prst="rect">
            <a:avLst/>
          </a:prstGeom>
          <a:noFill/>
          <a:ln/>
        </p:spPr>
        <p:txBody>
          <a:bodyPr wrap="square" lIns="0" tIns="0" rIns="0" bIns="0" rtlCol="0" anchor="ctr"/>
          <a:lstStyle/>
          <a:p>
            <a:pPr indent="0" marL="0">
              <a:buNone/>
            </a:pPr>
            <a:r>
              <a:rPr lang="en-US" sz="1200" b="1" dirty="0">
                <a:solidFill>
                  <a:schemeClr val="tx1"/>
                </a:solidFill>
              </a:rPr>
              <a:t>15 FTEs</a:t>
            </a:r>
            <a:endParaRPr lang="en-US" sz="1200" dirty="0"/>
          </a:p>
        </p:txBody>
      </p:sp>
      <p:sp>
        <p:nvSpPr>
          <p:cNvPr id="34" name="Text 29"/>
          <p:cNvSpPr txBox="1"/>
          <p:nvPr/>
        </p:nvSpPr>
        <p:spPr>
          <a:xfrm>
            <a:off x="7635240" y="5367528"/>
            <a:ext cx="3504895" cy="365760"/>
          </a:xfrm>
          <a:prstGeom prst="rect">
            <a:avLst/>
          </a:prstGeom>
          <a:noFill/>
          <a:ln/>
        </p:spPr>
        <p:txBody>
          <a:bodyPr wrap="square" lIns="0" tIns="0" rIns="0" bIns="0" rtlCol="0" anchor="ctr"/>
          <a:lstStyle/>
          <a:p>
            <a:pPr indent="0" marL="0">
              <a:buNone/>
            </a:pPr>
            <a:r>
              <a:rPr lang="en-US" sz="2200" b="1" dirty="0">
                <a:solidFill>
                  <a:schemeClr val="accent6"/>
                </a:solidFill>
                <a:latin typeface="Arial" pitchFamily="34" charset="0"/>
                <a:ea typeface="Arial" pitchFamily="34" charset="-122"/>
                <a:cs typeface="Arial" pitchFamily="34" charset="-120"/>
              </a:rPr>
              <a:t>−7 FTE deficit</a:t>
            </a:r>
            <a:endParaRPr lang="en-US" sz="2200" dirty="0"/>
          </a:p>
        </p:txBody>
      </p:sp>
      <p:sp>
        <p:nvSpPr>
          <p:cNvPr id="35" name="Text 30"/>
          <p:cNvSpPr txBox="1"/>
          <p:nvPr/>
        </p:nvSpPr>
        <p:spPr>
          <a:xfrm>
            <a:off x="7635240" y="5715000"/>
            <a:ext cx="3504895" cy="228600"/>
          </a:xfrm>
          <a:prstGeom prst="rect">
            <a:avLst/>
          </a:prstGeom>
          <a:noFill/>
          <a:ln/>
        </p:spPr>
        <p:txBody>
          <a:bodyPr wrap="square" lIns="0" tIns="0" rIns="0" bIns="0" rtlCol="0" anchor="t"/>
          <a:lstStyle/>
          <a:p>
            <a:pPr indent="0" marL="0">
              <a:buNone/>
            </a:pPr>
            <a:r>
              <a:rPr lang="en-US" sz="1200" dirty="0">
                <a:solidFill>
                  <a:schemeClr val="tx1"/>
                </a:solidFill>
              </a:rPr>
              <a:t>34.2% simulated queue-wait probability at peak</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2"/>
                </a:solidFill>
              </a:rPr>
              <a:t>NOW WHAT?  ·  ACTION PLAN</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bg1"/>
                </a:solidFill>
              </a:rPr>
              <a:t>Action Plan: Rebalance Capacity, Not Headcount</a:t>
            </a:r>
            <a:endParaRPr lang="en-US" sz="3200" dirty="0"/>
          </a:p>
        </p:txBody>
      </p:sp>
      <p:sp>
        <p:nvSpPr>
          <p:cNvPr id="4" name="ACTION 1 card"/>
          <p:cNvSpPr/>
          <p:nvPr/>
        </p:nvSpPr>
        <p:spPr>
          <a:xfrm>
            <a:off x="548640"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5" name="ACTION 1 circle"/>
          <p:cNvSpPr/>
          <p:nvPr/>
        </p:nvSpPr>
        <p:spPr>
          <a:xfrm>
            <a:off x="868680" y="1755648"/>
            <a:ext cx="566928" cy="566928"/>
          </a:xfrm>
          <a:prstGeom prst="ellipse">
            <a:avLst/>
          </a:prstGeom>
          <a:solidFill>
            <a:schemeClr val="accent1"/>
          </a:solidFill>
          <a:ln/>
        </p:spPr>
      </p:sp>
      <p:pic>
        <p:nvPicPr>
          <p:cNvPr id="6" name="ACTION 1 icon" descr="ACTION 1">    </p:cNvPr>
          <p:cNvPicPr>
            <a:picLocks noChangeAspect="1"/>
          </p:cNvPicPr>
          <p:nvPr/>
        </p:nvPicPr>
        <p:blipFill>
          <a:blip r:embed="rId1"/>
          <a:stretch>
            <a:fillRect/>
          </a:stretch>
        </p:blipFill>
        <p:spPr>
          <a:xfrm>
            <a:off x="1010412" y="1897380"/>
            <a:ext cx="283464" cy="283464"/>
          </a:xfrm>
          <a:prstGeom prst="rect">
            <a:avLst/>
          </a:prstGeom>
        </p:spPr>
      </p:pic>
      <p:sp>
        <p:nvSpPr>
          <p:cNvPr id="7" name="Text 4"/>
          <p:cNvSpPr txBox="1"/>
          <p:nvPr/>
        </p:nvSpPr>
        <p:spPr>
          <a:xfrm>
            <a:off x="1600200"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1</a:t>
            </a:r>
            <a:endParaRPr lang="en-US" sz="1300" dirty="0"/>
          </a:p>
        </p:txBody>
      </p:sp>
      <p:sp>
        <p:nvSpPr>
          <p:cNvPr id="8" name="Text 5"/>
          <p:cNvSpPr txBox="1"/>
          <p:nvPr/>
        </p:nvSpPr>
        <p:spPr>
          <a:xfrm>
            <a:off x="868680"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Cross-queue reallocation &amp; Erlang-C leveling</a:t>
            </a:r>
            <a:endParaRPr lang="en-US" sz="1700" dirty="0"/>
          </a:p>
        </p:txBody>
      </p:sp>
      <p:sp>
        <p:nvSpPr>
          <p:cNvPr id="9" name="Text 6"/>
          <p:cNvSpPr txBox="1"/>
          <p:nvPr/>
        </p:nvSpPr>
        <p:spPr>
          <a:xfrm>
            <a:off x="868680"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Shift 3 FTEs from Spam &amp; Fraud into high-risk queues during peak hours (11 AM – 8 PM)</a:t>
            </a:r>
            <a:endParaRPr lang="en-US" sz="1400" dirty="0"/>
          </a:p>
          <a:p>
            <a:pPr marL="177800" indent="-177800">
              <a:spcAft>
                <a:spcPts val="800"/>
              </a:spcAft>
              <a:buSzPct val="100000"/>
              <a:buChar char="•"/>
            </a:pPr>
            <a:r>
              <a:rPr lang="en-US" sz="1400" dirty="0">
                <a:solidFill>
                  <a:schemeClr val="tx1"/>
                </a:solidFill>
              </a:rPr>
              <a:t>Automate de-duplication of low-risk commercial posts to free 15 agent hours a week</a:t>
            </a:r>
            <a:endParaRPr lang="en-US" sz="1400" dirty="0"/>
          </a:p>
        </p:txBody>
      </p:sp>
      <p:sp>
        <p:nvSpPr>
          <p:cNvPr id="10" name="ACTION 2 card"/>
          <p:cNvSpPr/>
          <p:nvPr/>
        </p:nvSpPr>
        <p:spPr>
          <a:xfrm>
            <a:off x="4338218"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11" name="ACTION 2 circle"/>
          <p:cNvSpPr/>
          <p:nvPr/>
        </p:nvSpPr>
        <p:spPr>
          <a:xfrm>
            <a:off x="4658258" y="1755648"/>
            <a:ext cx="566928" cy="566928"/>
          </a:xfrm>
          <a:prstGeom prst="ellipse">
            <a:avLst/>
          </a:prstGeom>
          <a:solidFill>
            <a:schemeClr val="accent2"/>
          </a:solidFill>
          <a:ln/>
        </p:spPr>
      </p:sp>
      <p:pic>
        <p:nvPicPr>
          <p:cNvPr id="12" name="ACTION 2 icon" descr="ACTION 2">    </p:cNvPr>
          <p:cNvPicPr>
            <a:picLocks noChangeAspect="1"/>
          </p:cNvPicPr>
          <p:nvPr/>
        </p:nvPicPr>
        <p:blipFill>
          <a:blip r:embed="rId2"/>
          <a:stretch>
            <a:fillRect/>
          </a:stretch>
        </p:blipFill>
        <p:spPr>
          <a:xfrm>
            <a:off x="4799990" y="1897380"/>
            <a:ext cx="283464" cy="283464"/>
          </a:xfrm>
          <a:prstGeom prst="rect">
            <a:avLst/>
          </a:prstGeom>
        </p:spPr>
      </p:pic>
      <p:sp>
        <p:nvSpPr>
          <p:cNvPr id="13" name="Text 9"/>
          <p:cNvSpPr txBox="1"/>
          <p:nvPr/>
        </p:nvSpPr>
        <p:spPr>
          <a:xfrm>
            <a:off x="5389778"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2</a:t>
            </a:r>
            <a:endParaRPr lang="en-US" sz="1300" dirty="0"/>
          </a:p>
        </p:txBody>
      </p:sp>
      <p:sp>
        <p:nvSpPr>
          <p:cNvPr id="14" name="Text 10"/>
          <p:cNvSpPr txBox="1"/>
          <p:nvPr/>
        </p:nvSpPr>
        <p:spPr>
          <a:xfrm>
            <a:off x="4658258"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AI triage tuning &amp; senior video routing</a:t>
            </a:r>
            <a:endParaRPr lang="en-US" sz="1700" dirty="0"/>
          </a:p>
        </p:txBody>
      </p:sp>
      <p:sp>
        <p:nvSpPr>
          <p:cNvPr id="15" name="Text 11"/>
          <p:cNvSpPr txBox="1"/>
          <p:nvPr/>
        </p:nvSpPr>
        <p:spPr>
          <a:xfrm>
            <a:off x="4658258"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Lower auto-approval threshold for verified commercial accounts from 92% to 88%</a:t>
            </a:r>
            <a:endParaRPr lang="en-US" sz="1400" dirty="0"/>
          </a:p>
          <a:p>
            <a:pPr marL="177800" indent="-177800">
              <a:spcAft>
                <a:spcPts val="800"/>
              </a:spcAft>
              <a:buSzPct val="100000"/>
              <a:buChar char="•"/>
            </a:pPr>
            <a:r>
              <a:rPr lang="en-US" sz="1400" dirty="0">
                <a:solidFill>
                  <a:schemeClr val="tx1"/>
                </a:solidFill>
              </a:rPr>
              <a:t>Route high-risk video to senior agents (AGENT_12–15) to cut video AHT by 22%</a:t>
            </a:r>
            <a:endParaRPr lang="en-US" sz="1400" dirty="0"/>
          </a:p>
        </p:txBody>
      </p:sp>
      <p:sp>
        <p:nvSpPr>
          <p:cNvPr id="16" name="ACTION 3 card"/>
          <p:cNvSpPr/>
          <p:nvPr/>
        </p:nvSpPr>
        <p:spPr>
          <a:xfrm>
            <a:off x="8127797" y="1481328"/>
            <a:ext cx="3515258" cy="3401568"/>
          </a:xfrm>
          <a:prstGeom prst="roundRect">
            <a:avLst>
              <a:gd name="adj" fmla="val 3226"/>
            </a:avLst>
          </a:prstGeom>
          <a:solidFill>
            <a:schemeClr val="bg1"/>
          </a:solidFill>
          <a:ln/>
          <a:effectLst>
            <a:outerShdw sx="100000" sy="100000" kx="0" ky="0" algn="bl" rotWithShape="0" blurRad="101600" dist="25400" dir="5400000">
              <a:srgbClr val="000000">
                <a:alpha val="10000"/>
              </a:srgbClr>
            </a:outerShdw>
          </a:effectLst>
        </p:spPr>
      </p:sp>
      <p:sp>
        <p:nvSpPr>
          <p:cNvPr id="17" name="ACTION 3 circle"/>
          <p:cNvSpPr/>
          <p:nvPr/>
        </p:nvSpPr>
        <p:spPr>
          <a:xfrm>
            <a:off x="8447837" y="1755648"/>
            <a:ext cx="566928" cy="566928"/>
          </a:xfrm>
          <a:prstGeom prst="ellipse">
            <a:avLst/>
          </a:prstGeom>
          <a:solidFill>
            <a:schemeClr val="accent3"/>
          </a:solidFill>
          <a:ln/>
        </p:spPr>
      </p:sp>
      <p:pic>
        <p:nvPicPr>
          <p:cNvPr id="18" name="ACTION 3 icon" descr="ACTION 3">    </p:cNvPr>
          <p:cNvPicPr>
            <a:picLocks noChangeAspect="1"/>
          </p:cNvPicPr>
          <p:nvPr/>
        </p:nvPicPr>
        <p:blipFill>
          <a:blip r:embed="rId3"/>
          <a:stretch>
            <a:fillRect/>
          </a:stretch>
        </p:blipFill>
        <p:spPr>
          <a:xfrm>
            <a:off x="8589569" y="1897380"/>
            <a:ext cx="283464" cy="283464"/>
          </a:xfrm>
          <a:prstGeom prst="rect">
            <a:avLst/>
          </a:prstGeom>
        </p:spPr>
      </p:pic>
      <p:sp>
        <p:nvSpPr>
          <p:cNvPr id="19" name="Text 14"/>
          <p:cNvSpPr txBox="1"/>
          <p:nvPr/>
        </p:nvSpPr>
        <p:spPr>
          <a:xfrm>
            <a:off x="9179357" y="1755648"/>
            <a:ext cx="2143658" cy="566928"/>
          </a:xfrm>
          <a:prstGeom prst="rect">
            <a:avLst/>
          </a:prstGeom>
          <a:noFill/>
          <a:ln/>
        </p:spPr>
        <p:txBody>
          <a:bodyPr wrap="square" lIns="0" tIns="0" rIns="0" bIns="0" rtlCol="0" anchor="ctr"/>
          <a:lstStyle/>
          <a:p>
            <a:pPr indent="0" marL="0">
              <a:buNone/>
            </a:pPr>
            <a:r>
              <a:rPr lang="en-US" sz="1300" b="1" spc="200" kern="0" dirty="0">
                <a:solidFill>
                  <a:schemeClr val="accent4"/>
                </a:solidFill>
              </a:rPr>
              <a:t>ACTION 3</a:t>
            </a:r>
            <a:endParaRPr lang="en-US" sz="1300" dirty="0"/>
          </a:p>
        </p:txBody>
      </p:sp>
      <p:sp>
        <p:nvSpPr>
          <p:cNvPr id="20" name="Text 15"/>
          <p:cNvSpPr txBox="1"/>
          <p:nvPr/>
        </p:nvSpPr>
        <p:spPr>
          <a:xfrm>
            <a:off x="8447837" y="2468880"/>
            <a:ext cx="2875178" cy="640080"/>
          </a:xfrm>
          <a:prstGeom prst="rect">
            <a:avLst/>
          </a:prstGeom>
          <a:noFill/>
          <a:ln/>
        </p:spPr>
        <p:txBody>
          <a:bodyPr wrap="square" lIns="0" tIns="0" rIns="0" bIns="0" rtlCol="0" anchor="t"/>
          <a:lstStyle/>
          <a:p>
            <a:pPr indent="0" marL="0">
              <a:buNone/>
            </a:pPr>
            <a:r>
              <a:rPr lang="en-US" sz="1700" b="1" dirty="0">
                <a:solidFill>
                  <a:schemeClr val="accent1"/>
                </a:solidFill>
              </a:rPr>
              <a:t>Hate-speech calibration &amp; wellness scheduling</a:t>
            </a:r>
            <a:endParaRPr lang="en-US" sz="1700" dirty="0"/>
          </a:p>
        </p:txBody>
      </p:sp>
      <p:sp>
        <p:nvSpPr>
          <p:cNvPr id="21" name="Text 16"/>
          <p:cNvSpPr txBox="1"/>
          <p:nvPr/>
        </p:nvSpPr>
        <p:spPr>
          <a:xfrm>
            <a:off x="8447837" y="3218688"/>
            <a:ext cx="2875178" cy="1481328"/>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Pair new hires with senior mentors for 20-minute daily calibration on dog whistles</a:t>
            </a:r>
            <a:endParaRPr lang="en-US" sz="1400" dirty="0"/>
          </a:p>
          <a:p>
            <a:pPr marL="177800" indent="-177800">
              <a:spcAft>
                <a:spcPts val="800"/>
              </a:spcAft>
              <a:buSzPct val="100000"/>
              <a:buChar char="•"/>
            </a:pPr>
            <a:r>
              <a:rPr lang="en-US" sz="1400" dirty="0">
                <a:solidFill>
                  <a:schemeClr val="tx1"/>
                </a:solidFill>
              </a:rPr>
              <a:t>Automate rotation: 5.5h caps and ≤2 consecutive hours in egregious queues</a:t>
            </a:r>
            <a:endParaRPr lang="en-US" sz="1400" dirty="0"/>
          </a:p>
        </p:txBody>
      </p:sp>
      <p:sp>
        <p:nvSpPr>
          <p:cNvPr id="22" name="Executive ROI banner"/>
          <p:cNvSpPr/>
          <p:nvPr/>
        </p:nvSpPr>
        <p:spPr>
          <a:xfrm>
            <a:off x="548640" y="5157216"/>
            <a:ext cx="11094415" cy="1078992"/>
          </a:xfrm>
          <a:prstGeom prst="roundRect">
            <a:avLst>
              <a:gd name="adj" fmla="val 10169"/>
            </a:avLst>
          </a:prstGeom>
          <a:solidFill>
            <a:schemeClr val="accent2"/>
          </a:solidFill>
          <a:ln/>
        </p:spPr>
      </p:sp>
      <p:sp>
        <p:nvSpPr>
          <p:cNvPr id="23" name="Text 18"/>
          <p:cNvSpPr txBox="1"/>
          <p:nvPr/>
        </p:nvSpPr>
        <p:spPr>
          <a:xfrm>
            <a:off x="868680"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0 new hires</a:t>
            </a:r>
            <a:endParaRPr lang="en-US" sz="3000" dirty="0"/>
          </a:p>
        </p:txBody>
      </p:sp>
      <p:sp>
        <p:nvSpPr>
          <p:cNvPr id="24" name="Text 19"/>
          <p:cNvSpPr txBox="1"/>
          <p:nvPr/>
        </p:nvSpPr>
        <p:spPr>
          <a:xfrm>
            <a:off x="868680"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and zero external software spend</a:t>
            </a:r>
            <a:endParaRPr lang="en-US" sz="1400" dirty="0"/>
          </a:p>
        </p:txBody>
      </p:sp>
      <p:sp>
        <p:nvSpPr>
          <p:cNvPr id="25" name="Text 20"/>
          <p:cNvSpPr txBox="1"/>
          <p:nvPr/>
        </p:nvSpPr>
        <p:spPr>
          <a:xfrm>
            <a:off x="4353458"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78.2% → ≥96.5%</a:t>
            </a:r>
            <a:endParaRPr lang="en-US" sz="3000" dirty="0"/>
          </a:p>
        </p:txBody>
      </p:sp>
      <p:sp>
        <p:nvSpPr>
          <p:cNvPr id="26" name="Text 21"/>
          <p:cNvSpPr txBox="1"/>
          <p:nvPr/>
        </p:nvSpPr>
        <p:spPr>
          <a:xfrm>
            <a:off x="4353458"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account SLA within 14 days</a:t>
            </a:r>
            <a:endParaRPr lang="en-US" sz="1400" dirty="0"/>
          </a:p>
        </p:txBody>
      </p:sp>
      <p:sp>
        <p:nvSpPr>
          <p:cNvPr id="27" name="Text 22"/>
          <p:cNvSpPr txBox="1"/>
          <p:nvPr/>
        </p:nvSpPr>
        <p:spPr>
          <a:xfrm>
            <a:off x="7838237" y="5294376"/>
            <a:ext cx="3301898" cy="566928"/>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≥98.0%</a:t>
            </a:r>
            <a:endParaRPr lang="en-US" sz="3000" dirty="0"/>
          </a:p>
        </p:txBody>
      </p:sp>
      <p:sp>
        <p:nvSpPr>
          <p:cNvPr id="28" name="Text 23"/>
          <p:cNvSpPr txBox="1"/>
          <p:nvPr/>
        </p:nvSpPr>
        <p:spPr>
          <a:xfrm>
            <a:off x="7838237" y="5870448"/>
            <a:ext cx="3301898" cy="320040"/>
          </a:xfrm>
          <a:prstGeom prst="rect">
            <a:avLst/>
          </a:prstGeom>
          <a:noFill/>
          <a:ln/>
        </p:spPr>
        <p:txBody>
          <a:bodyPr wrap="square" lIns="0" tIns="0" rIns="0" bIns="0" rtlCol="0" anchor="t"/>
          <a:lstStyle/>
          <a:p>
            <a:pPr indent="0" marL="0">
              <a:buNone/>
            </a:pPr>
            <a:r>
              <a:rPr lang="en-US" sz="1400" dirty="0">
                <a:solidFill>
                  <a:schemeClr val="tx1"/>
                </a:solidFill>
              </a:rPr>
              <a:t>TCO 1-hour emergency SLA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200" kern="0" dirty="0">
                <a:solidFill>
                  <a:schemeClr val="accent3"/>
                </a:solidFill>
              </a:rPr>
              <a:t>APPENDIX  ·  LEADERSHIP Q&amp;A</a:t>
            </a:r>
            <a:endParaRPr lang="en-US" sz="1300" dirty="0"/>
          </a:p>
        </p:txBody>
      </p:sp>
      <p:sp>
        <p:nvSpPr>
          <p:cNvPr id="3" name="Text 1"/>
          <p:cNvSpPr/>
          <p:nvPr>
            <p:ph idx="102" type="title" hasCustomPrompt="1"/>
          </p:nvPr>
        </p:nvSpPr>
        <p:spPr>
          <a:xfrm>
            <a:off x="548640" y="658368"/>
            <a:ext cx="11094415" cy="640080"/>
          </a:xfrm>
          <a:prstGeom prst="rect">
            <a:avLst/>
          </a:prstGeom>
          <a:noFill/>
          <a:ln/>
        </p:spPr>
        <p:txBody>
          <a:bodyPr wrap="square" lIns="0" tIns="0" rIns="0" bIns="0" rtlCol="0" anchor="ctr"/>
          <a:lstStyle/>
          <a:p>
            <a:pPr algn="l" indent="0" marL="0">
              <a:buNone/>
            </a:pPr>
            <a:r>
              <a:rPr lang="en-US" sz="3200" b="1" dirty="0">
                <a:solidFill>
                  <a:schemeClr val="accent1"/>
                </a:solidFill>
              </a:rPr>
              <a:t>Anticipated Questions &amp; Defensible Responses</a:t>
            </a:r>
            <a:endParaRPr lang="en-US" sz="3200" dirty="0"/>
          </a:p>
        </p:txBody>
      </p:sp>
      <p:sp>
        <p:nvSpPr>
          <p:cNvPr id="4" name="Question 1 card"/>
          <p:cNvSpPr/>
          <p:nvPr/>
        </p:nvSpPr>
        <p:spPr>
          <a:xfrm>
            <a:off x="548640" y="148132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5" name="Question 1 circle"/>
          <p:cNvSpPr/>
          <p:nvPr/>
        </p:nvSpPr>
        <p:spPr>
          <a:xfrm>
            <a:off x="868680" y="1755648"/>
            <a:ext cx="502920" cy="502920"/>
          </a:xfrm>
          <a:prstGeom prst="ellipse">
            <a:avLst/>
          </a:prstGeom>
          <a:solidFill>
            <a:schemeClr val="accent1"/>
          </a:solidFill>
          <a:ln/>
        </p:spPr>
      </p:sp>
      <p:pic>
        <p:nvPicPr>
          <p:cNvPr id="6" name="Question 1 icon" descr="Question 1">    </p:cNvPr>
          <p:cNvPicPr>
            <a:picLocks noChangeAspect="1"/>
          </p:cNvPicPr>
          <p:nvPr/>
        </p:nvPicPr>
        <p:blipFill>
          <a:blip r:embed="rId1"/>
          <a:stretch>
            <a:fillRect/>
          </a:stretch>
        </p:blipFill>
        <p:spPr>
          <a:xfrm>
            <a:off x="994410" y="1881378"/>
            <a:ext cx="251460" cy="251460"/>
          </a:xfrm>
          <a:prstGeom prst="rect">
            <a:avLst/>
          </a:prstGeom>
        </p:spPr>
      </p:pic>
      <p:sp>
        <p:nvSpPr>
          <p:cNvPr id="7" name="Text 4"/>
          <p:cNvSpPr txBox="1"/>
          <p:nvPr/>
        </p:nvSpPr>
        <p:spPr>
          <a:xfrm>
            <a:off x="1600200" y="168249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Won't Spam SLA collapse if we move 3 agents to high-risk video?</a:t>
            </a:r>
            <a:endParaRPr lang="en-US" sz="1600" dirty="0"/>
          </a:p>
        </p:txBody>
      </p:sp>
      <p:sp>
        <p:nvSpPr>
          <p:cNvPr id="8" name="Text 5"/>
          <p:cNvSpPr txBox="1"/>
          <p:nvPr/>
        </p:nvSpPr>
        <p:spPr>
          <a:xfrm>
            <a:off x="1600200" y="2103120"/>
            <a:ext cx="9722815" cy="685800"/>
          </a:xfrm>
          <a:prstGeom prst="rect">
            <a:avLst/>
          </a:prstGeom>
          <a:noFill/>
          <a:ln/>
        </p:spPr>
        <p:txBody>
          <a:bodyPr wrap="square" lIns="0" tIns="0" rIns="0" bIns="0" rtlCol="0" anchor="t"/>
          <a:lstStyle/>
          <a:p>
            <a:pPr indent="0" marL="0">
              <a:buNone/>
            </a:pPr>
            <a:r>
              <a:rPr lang="en-US" sz="1400" dirty="0">
                <a:solidFill>
                  <a:schemeClr val="tx1"/>
                </a:solidFill>
              </a:rPr>
              <a:t>No. Spam runs at 12.3s AHT and 96.4% SLA with 75% automated triage. The capacity model holds Spam at 94.5% SLA with 3 fewer FTEs, while those agents add 45 hours of relief to breached video queues.</a:t>
            </a:r>
            <a:endParaRPr lang="en-US" sz="1400" dirty="0"/>
          </a:p>
        </p:txBody>
      </p:sp>
      <p:sp>
        <p:nvSpPr>
          <p:cNvPr id="9" name="Question 2 card"/>
          <p:cNvSpPr/>
          <p:nvPr/>
        </p:nvSpPr>
        <p:spPr>
          <a:xfrm>
            <a:off x="548640" y="312724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10" name="Question 2 circle"/>
          <p:cNvSpPr/>
          <p:nvPr/>
        </p:nvSpPr>
        <p:spPr>
          <a:xfrm>
            <a:off x="868680" y="3401568"/>
            <a:ext cx="502920" cy="502920"/>
          </a:xfrm>
          <a:prstGeom prst="ellipse">
            <a:avLst/>
          </a:prstGeom>
          <a:solidFill>
            <a:schemeClr val="accent1"/>
          </a:solidFill>
          <a:ln/>
        </p:spPr>
      </p:sp>
      <p:pic>
        <p:nvPicPr>
          <p:cNvPr id="11" name="Question 2 icon" descr="Question 2">    </p:cNvPr>
          <p:cNvPicPr>
            <a:picLocks noChangeAspect="1"/>
          </p:cNvPicPr>
          <p:nvPr/>
        </p:nvPicPr>
        <p:blipFill>
          <a:blip r:embed="rId2"/>
          <a:stretch>
            <a:fillRect/>
          </a:stretch>
        </p:blipFill>
        <p:spPr>
          <a:xfrm>
            <a:off x="994410" y="3527298"/>
            <a:ext cx="251460" cy="251460"/>
          </a:xfrm>
          <a:prstGeom prst="rect">
            <a:avLst/>
          </a:prstGeom>
        </p:spPr>
      </p:pic>
      <p:sp>
        <p:nvSpPr>
          <p:cNvPr id="12" name="Text 8"/>
          <p:cNvSpPr txBox="1"/>
          <p:nvPr/>
        </p:nvSpPr>
        <p:spPr>
          <a:xfrm>
            <a:off x="1600200" y="332841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Why not mandate 8-hour shifts for all agents to clear the backlog?</a:t>
            </a:r>
            <a:endParaRPr lang="en-US" sz="1600" dirty="0"/>
          </a:p>
        </p:txBody>
      </p:sp>
      <p:sp>
        <p:nvSpPr>
          <p:cNvPr id="13" name="Text 9"/>
          <p:cNvSpPr txBox="1"/>
          <p:nvPr/>
        </p:nvSpPr>
        <p:spPr>
          <a:xfrm>
            <a:off x="1600200" y="3749040"/>
            <a:ext cx="9722815" cy="685800"/>
          </a:xfrm>
          <a:prstGeom prst="rect">
            <a:avLst/>
          </a:prstGeom>
          <a:noFill/>
          <a:ln/>
        </p:spPr>
        <p:txBody>
          <a:bodyPr wrap="square" lIns="0" tIns="0" rIns="0" bIns="0" rtlCol="0" anchor="t"/>
          <a:lstStyle/>
          <a:p>
            <a:pPr indent="0" marL="0">
              <a:buNone/>
            </a:pPr>
            <a:r>
              <a:rPr lang="en-US" sz="1400" dirty="0">
                <a:solidFill>
                  <a:schemeClr val="tx1"/>
                </a:solidFill>
              </a:rPr>
              <a:t>It breaches duty-of-care guidelines. Beyond 2 consecutive hours in egregious queues, false negatives rise 40%. The 5.5h cap with rotation protects 98.6% accuracy and limits attrition.</a:t>
            </a:r>
            <a:endParaRPr lang="en-US" sz="1400" dirty="0"/>
          </a:p>
        </p:txBody>
      </p:sp>
      <p:sp>
        <p:nvSpPr>
          <p:cNvPr id="14" name="Question 3 card"/>
          <p:cNvSpPr/>
          <p:nvPr/>
        </p:nvSpPr>
        <p:spPr>
          <a:xfrm>
            <a:off x="548640" y="4773168"/>
            <a:ext cx="11094415" cy="1463040"/>
          </a:xfrm>
          <a:prstGeom prst="roundRect">
            <a:avLst>
              <a:gd name="adj" fmla="val 7500"/>
            </a:avLst>
          </a:prstGeom>
          <a:solidFill>
            <a:schemeClr val="bg1"/>
          </a:solidFill>
          <a:ln/>
          <a:effectLst>
            <a:outerShdw sx="100000" sy="100000" kx="0" ky="0" algn="bl" rotWithShape="0" blurRad="101600" dist="25400" dir="5400000">
              <a:srgbClr val="000000">
                <a:alpha val="10000"/>
              </a:srgbClr>
            </a:outerShdw>
          </a:effectLst>
        </p:spPr>
      </p:sp>
      <p:sp>
        <p:nvSpPr>
          <p:cNvPr id="15" name="Question 3 circle"/>
          <p:cNvSpPr/>
          <p:nvPr/>
        </p:nvSpPr>
        <p:spPr>
          <a:xfrm>
            <a:off x="868680" y="5047488"/>
            <a:ext cx="502920" cy="502920"/>
          </a:xfrm>
          <a:prstGeom prst="ellipse">
            <a:avLst/>
          </a:prstGeom>
          <a:solidFill>
            <a:schemeClr val="accent1"/>
          </a:solidFill>
          <a:ln/>
        </p:spPr>
      </p:sp>
      <p:pic>
        <p:nvPicPr>
          <p:cNvPr id="16" name="Question 3 icon" descr="Question 3">    </p:cNvPr>
          <p:cNvPicPr>
            <a:picLocks noChangeAspect="1"/>
          </p:cNvPicPr>
          <p:nvPr/>
        </p:nvPicPr>
        <p:blipFill>
          <a:blip r:embed="rId3"/>
          <a:stretch>
            <a:fillRect/>
          </a:stretch>
        </p:blipFill>
        <p:spPr>
          <a:xfrm>
            <a:off x="994410" y="5173218"/>
            <a:ext cx="251460" cy="251460"/>
          </a:xfrm>
          <a:prstGeom prst="rect">
            <a:avLst/>
          </a:prstGeom>
        </p:spPr>
      </p:pic>
      <p:sp>
        <p:nvSpPr>
          <p:cNvPr id="17" name="Text 12"/>
          <p:cNvSpPr txBox="1"/>
          <p:nvPr/>
        </p:nvSpPr>
        <p:spPr>
          <a:xfrm>
            <a:off x="1600200" y="4974336"/>
            <a:ext cx="9722815" cy="365760"/>
          </a:xfrm>
          <a:prstGeom prst="rect">
            <a:avLst/>
          </a:prstGeom>
          <a:noFill/>
          <a:ln/>
        </p:spPr>
        <p:txBody>
          <a:bodyPr wrap="square" lIns="0" tIns="0" rIns="0" bIns="0" rtlCol="0" anchor="ctr"/>
          <a:lstStyle/>
          <a:p>
            <a:pPr indent="0" marL="0">
              <a:buNone/>
            </a:pPr>
            <a:r>
              <a:rPr lang="en-US" sz="1600" b="1" dirty="0">
                <a:solidFill>
                  <a:schemeClr val="accent1"/>
                </a:solidFill>
              </a:rPr>
              <a:t>How does lowering the triage threshold from 92% to 88% affect false positives?</a:t>
            </a:r>
            <a:endParaRPr lang="en-US" sz="1600" dirty="0"/>
          </a:p>
        </p:txBody>
      </p:sp>
      <p:sp>
        <p:nvSpPr>
          <p:cNvPr id="18" name="Text 13"/>
          <p:cNvSpPr txBox="1"/>
          <p:nvPr/>
        </p:nvSpPr>
        <p:spPr>
          <a:xfrm>
            <a:off x="1600200" y="5394960"/>
            <a:ext cx="9722815" cy="685800"/>
          </a:xfrm>
          <a:prstGeom prst="rect">
            <a:avLst/>
          </a:prstGeom>
          <a:noFill/>
          <a:ln/>
        </p:spPr>
        <p:txBody>
          <a:bodyPr wrap="square" lIns="0" tIns="0" rIns="0" bIns="0" rtlCol="0" anchor="t"/>
          <a:lstStyle/>
          <a:p>
            <a:pPr indent="0" marL="0">
              <a:buNone/>
            </a:pPr>
            <a:r>
              <a:rPr lang="en-US" sz="1400" dirty="0">
                <a:solidFill>
                  <a:schemeClr val="tx1"/>
                </a:solidFill>
              </a:rPr>
              <a:t>Back-tested on historical audit logs: +0.08% false-positive risk on Commercial Spam, well within the 2.0% tolerance. Disputed removals go through appeals, which already overturn only 15.8%.</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ApexTrust Telus">
  <a:themeElements>
    <a:clrScheme name="ApexTrust Telus">
      <a:dk1>
        <a:srgbClr val="231833"/>
      </a:dk1>
      <a:lt1>
        <a:srgbClr val="FFFFFF"/>
      </a:lt1>
      <a:dk2>
        <a:srgbClr val="492C73"/>
      </a:dk2>
      <a:lt2>
        <a:srgbClr val="F2F2F2"/>
      </a:lt2>
      <a:accent1>
        <a:srgbClr val="492C73"/>
      </a:accent1>
      <a:accent2>
        <a:srgbClr val="6FD904"/>
      </a:accent2>
      <a:accent3>
        <a:srgbClr val="74BF04"/>
      </a:accent3>
      <a:accent4>
        <a:srgbClr val="66548C"/>
      </a:accent4>
      <a:accent5>
        <a:srgbClr val="E39A1C"/>
      </a:accent5>
      <a:accent6>
        <a:srgbClr val="C8475A"/>
      </a:accent6>
      <a:hlink>
        <a:srgbClr val="66548C"/>
      </a:hlink>
      <a:folHlink>
        <a:srgbClr val="492C73"/>
      </a:folHlink>
    </a:clrScheme>
    <a:fontScheme name="ApexTrust Tel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ApexTrust Operations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ApexTrust Operations — Content Moderation Executive Briefing</dc:title>
  <dc:subject>Queue Analytics, SLA Recovery &amp; Workforce Capacity Optimization</dc:subject>
  <dc:creator>Wesley Taguinod, Operations Business Analyst</dc:creator>
  <cp:lastModifiedBy>Wesley Taguinod, Operations Business Analyst</cp:lastModifiedBy>
  <cp:revision>1</cp:revision>
  <dcterms:created xsi:type="dcterms:W3CDTF">2026-10-06T04:14:35Z</dcterms:created>
  <dcterms:modified xsi:type="dcterms:W3CDTF">2026-10-06T04:14:35Z</dcterms:modified>
</cp:coreProperties>
</file>