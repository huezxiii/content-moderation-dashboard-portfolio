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4.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ottom Line Up Front" id="{8b09b5fc-a4a9-9095-f8a8-33a4866a8549}">
          <p14:sldIdLst>
            <p14:sldId id="256"/>
          </p14:sldIdLst>
        </p14:section>
        <p14:section name="What?" id="{956aad0a-e030-4ded-f504-689a6c93e0c8}">
          <p14:sldIdLst>
            <p14:sldId id="257"/>
          </p14:sldIdLst>
        </p14:section>
        <p14:section name="So What?" id="{b37083e4-a322-0846-9fe9-57ba70413352}">
          <p14:sldIdLst>
            <p14:sldId id="258"/>
            <p14:sldId id="259"/>
          </p14:sldIdLst>
        </p14:section>
        <p14:section name="Now What?" id="{c0d0ed76-29e6-f92c-5f07-f2ed53838b26}">
          <p14:sldIdLst>
            <p14:sldId id="260"/>
          </p14:sldIdLst>
        </p14:section>
        <p14:section name="Appendix" id="{4b95ceaa-7d97-9e5b-0652-4212d0e97798}">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29"/>
          <c:y val="0.04"/>
          <c:w val="0.62"/>
          <c:h val="0.92"/>
        </c:manualLayout>
      </c:layout>
      <c:barChart>
        <c:barDir val="bar"/>
        <c:grouping val="clustered"/>
        <c:varyColors val="0"/>
        <c:ser>
          <c:idx val="0"/>
          <c:order val="0"/>
          <c:tx>
            <c:strRef>
              <c:f>Sheet1!$B$1</c:f>
              <c:strCache>
                <c:ptCount val="1"/>
                <c:pt idx="0">
                  <c:v>SLA attainment %</c:v>
                </c:pt>
              </c:strCache>
            </c:strRef>
          </c:tx>
          <c:spPr>
            <a:solidFill>
              <a:srgbClr val="74BF04"/>
            </a:solidFill>
            <a:effectLst/>
          </c:spPr>
          <c:invertIfNegative val="0"/>
          <c:dLbls>
            <c:numFmt formatCode="0.0&quot;%&quot;" sourceLinked="0"/>
            <c:txPr>
              <a:bodyPr/>
              <a:lstStyle/>
              <a:p>
                <a:pPr>
                  <a:defRPr b="0" i="0" strike="noStrike" sz="1200" u="none">
                    <a:solidFill>
                      <a:srgbClr val="231833"/>
                    </a:solidFill>
                    <a:latin typeface="+mn-lt"/>
                  </a:defRPr>
                </a:pPr>
              </a:p>
            </c:txPr>
            <c:showLegendKey val="0"/>
            <c:showVal val="1"/>
            <c:showCatName val="0"/>
            <c:showSerName val="0"/>
            <c:showPercent val="0"/>
            <c:showBubbleSize val="0"/>
            <c:showLeaderLines val="0"/>
          </c:dLbls>
          <c:dPt>
            <c:idx val="0"/>
            <c:invertIfNegative val="0"/>
            <c:bubble3D val="0"/>
            <c:spPr>
              <a:solidFill>
                <a:srgbClr val="74BF04"/>
              </a:solidFill>
              <a:effectLst/>
            </c:spPr>
          </c:dPt>
          <c:dPt>
            <c:idx val="1"/>
            <c:invertIfNegative val="0"/>
            <c:bubble3D val="0"/>
            <c:spPr>
              <a:solidFill>
                <a:srgbClr val="74BF04"/>
              </a:solidFill>
              <a:effectLst/>
            </c:spPr>
          </c:dPt>
          <c:dPt>
            <c:idx val="2"/>
            <c:invertIfNegative val="0"/>
            <c:bubble3D val="0"/>
            <c:spPr>
              <a:solidFill>
                <a:srgbClr val="C8475A"/>
              </a:solidFill>
              <a:effectLst/>
            </c:spPr>
          </c:dPt>
          <c:dPt>
            <c:idx val="3"/>
            <c:invertIfNegative val="0"/>
            <c:bubble3D val="0"/>
            <c:spPr>
              <a:solidFill>
                <a:srgbClr val="C8475A"/>
              </a:solidFill>
              <a:effectLst/>
            </c:spPr>
          </c:dPt>
          <c:dPt>
            <c:idx val="4"/>
            <c:invertIfNegative val="0"/>
            <c:bubble3D val="0"/>
            <c:spPr>
              <a:solidFill>
                <a:srgbClr val="C8475A"/>
              </a:solidFill>
              <a:effectLst/>
            </c:spPr>
          </c:dPt>
          <c:cat>
            <c:multiLvlStrRef>
              <c:f>Sheet1!$A$2:$A$6</c:f>
              <c:multiLvlStrCache>
                <c:ptCount val="5"/>
                <c:lvl>
                  <c:pt idx="0">
                    <c:v>Fraud &amp; Scams</c:v>
                  </c:pt>
                  <c:pt idx="1">
                    <c:v>Commercial Spam</c:v>
                  </c:pt>
                  <c:pt idx="2">
                    <c:v>Hate Speech</c:v>
                  </c:pt>
                  <c:pt idx="3">
                    <c:v>Violence (High Risk)</c:v>
                  </c:pt>
                  <c:pt idx="4">
                    <c:v>Emergency TCO</c:v>
                  </c:pt>
                </c:lvl>
              </c:multiLvlStrCache>
            </c:multiLvlStrRef>
          </c:cat>
          <c:val>
            <c:numRef>
              <c:f>Sheet1!$B$2:$B$6</c:f>
              <c:numCache>
                <c:formatCode>General</c:formatCode>
                <c:ptCount val="5"/>
                <c:pt idx="0">
                  <c:v>96.9</c:v>
                </c:pt>
                <c:pt idx="1">
                  <c:v>96.4</c:v>
                </c:pt>
                <c:pt idx="2">
                  <c:v>65.4</c:v>
                </c:pt>
                <c:pt idx="3">
                  <c:v>57.6</c:v>
                </c:pt>
                <c:pt idx="4">
                  <c:v>56.7</c:v>
                </c:pt>
              </c:numCache>
            </c:numRef>
          </c:val>
        </c:ser>
        <c:dLbls>
          <c:numFmt formatCode="0.0&quot;%&quot;" sourceLinked="0"/>
          <c:txPr>
            <a:bodyPr/>
            <a:lstStyle/>
            <a:p>
              <a:pPr>
                <a:defRPr b="0" i="0" strike="noStrike" sz="1200" u="none">
                  <a:solidFill>
                    <a:srgbClr val="231833"/>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231833"/>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6548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AHT (s)</c:v>
                </c:pt>
              </c:strCache>
            </c:strRef>
          </c:tx>
          <c:spPr>
            <a:solidFill>
              <a:srgbClr val="A99FC0"/>
            </a:solidFill>
            <a:effectLst/>
          </c:spPr>
          <c:invertIfNegative val="0"/>
          <c:dLbls>
            <c:numFmt formatCode="0.0&quot;s&quot;" sourceLinked="0"/>
            <c:txPr>
              <a:bodyPr/>
              <a:lstStyle/>
              <a:p>
                <a:pPr>
                  <a:defRPr b="0" i="0" strike="noStrike" sz="1200" u="none">
                    <a:solidFill>
                      <a:srgbClr val="231833"/>
                    </a:solidFill>
                    <a:latin typeface="+mn-lt"/>
                  </a:defRPr>
                </a:pPr>
              </a:p>
            </c:txPr>
            <c:showLegendKey val="0"/>
            <c:showVal val="1"/>
            <c:showCatName val="0"/>
            <c:showSerName val="0"/>
            <c:showPercent val="0"/>
            <c:showBubbleSize val="0"/>
            <c:showLeaderLines val="0"/>
          </c:dLbls>
          <c:dPt>
            <c:idx val="0"/>
            <c:invertIfNegative val="0"/>
            <c:bubble3D val="0"/>
            <c:spPr>
              <a:solidFill>
                <a:srgbClr val="A99FC0"/>
              </a:solidFill>
              <a:effectLst/>
            </c:spPr>
          </c:dPt>
          <c:dPt>
            <c:idx val="1"/>
            <c:invertIfNegative val="0"/>
            <c:bubble3D val="0"/>
            <c:spPr>
              <a:solidFill>
                <a:srgbClr val="A99FC0"/>
              </a:solidFill>
              <a:effectLst/>
            </c:spPr>
          </c:dPt>
          <c:dPt>
            <c:idx val="2"/>
            <c:invertIfNegative val="0"/>
            <c:bubble3D val="0"/>
            <c:spPr>
              <a:solidFill>
                <a:srgbClr val="492C73"/>
              </a:solidFill>
              <a:effectLst/>
            </c:spPr>
          </c:dPt>
          <c:dPt>
            <c:idx val="3"/>
            <c:invertIfNegative val="0"/>
            <c:bubble3D val="0"/>
            <c:spPr>
              <a:solidFill>
                <a:srgbClr val="492C73"/>
              </a:solidFill>
              <a:effectLst/>
            </c:spPr>
          </c:dPt>
          <c:cat>
            <c:multiLvlStrRef>
              <c:f>Sheet1!$A$2:$A$5</c:f>
              <c:multiLvlStrCache>
                <c:ptCount val="4"/>
                <c:lvl>
                  <c:pt idx="0">
                    <c:v>Text Post</c:v>
                  </c:pt>
                  <c:pt idx="1">
                    <c:v>Static Image</c:v>
                  </c:pt>
                  <c:pt idx="2">
                    <c:v>Short Video</c:v>
                  </c:pt>
                  <c:pt idx="3">
                    <c:v>Live Stream</c:v>
                  </c:pt>
                </c:lvl>
              </c:multiLvlStrCache>
            </c:multiLvlStrRef>
          </c:cat>
          <c:val>
            <c:numRef>
              <c:f>Sheet1!$B$2:$B$5</c:f>
              <c:numCache>
                <c:formatCode>General</c:formatCode>
                <c:ptCount val="4"/>
                <c:pt idx="0">
                  <c:v>15.8</c:v>
                </c:pt>
                <c:pt idx="1">
                  <c:v>31.9</c:v>
                </c:pt>
                <c:pt idx="2">
                  <c:v>107.7</c:v>
                </c:pt>
                <c:pt idx="3">
                  <c:v>189.6</c:v>
                </c:pt>
              </c:numCache>
            </c:numRef>
          </c:val>
        </c:ser>
        <c:dLbls>
          <c:numFmt formatCode="0.0&quot;s&quot;" sourceLinked="0"/>
          <c:txPr>
            <a:bodyPr/>
            <a:lstStyle/>
            <a:p>
              <a:pPr>
                <a:defRPr b="0" i="0" strike="noStrike" sz="1200" u="none">
                  <a:solidFill>
                    <a:srgbClr val="231833"/>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31833"/>
                </a:solidFill>
                <a:latin typeface="+mn-lt"/>
              </a:defRPr>
            </a:pPr>
            <a:endParaRPr lang="en-US"/>
          </a:p>
        </c:txPr>
        <c:crossAx val="2094734552"/>
        <c:crosses val="autoZero"/>
        <c:auto val="1"/>
        <c:lblAlgn val="ctr"/>
        <c:noMultiLvlLbl val="1"/>
      </c:catAx>
      <c:valAx>
        <c:axId val="2094734552"/>
        <c:scaling>
          <c:orientation val="minMax"/>
          <c:max val="22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6548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9"/>
          <c:y val="0.1"/>
          <c:w val="0.88"/>
          <c:h val="0.72"/>
        </c:manualLayout>
      </c:layout>
      <c:lineChart>
        <c:varyColors val="0"/>
        <c:ser>
          <c:idx val="0"/>
          <c:order val="0"/>
          <c:tx>
            <c:strRef>
              <c:f>Sheet1!$B$1</c:f>
              <c:strCache>
                <c:ptCount val="1"/>
                <c:pt idx="0">
                  <c:v>Daily SLA %</c:v>
                </c:pt>
              </c:strCache>
            </c:strRef>
          </c:tx>
          <c:spPr>
            <a:solidFill>
              <a:srgbClr val="492C73"/>
            </a:solidFill>
            <a:ln w="25400" cap="flat">
              <a:solidFill>
                <a:srgbClr val="492C73"/>
              </a:solidFill>
              <a:prstDash val="solid,dash"/>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492C73"/>
              </a:solidFill>
              <a:ln w="9525" cap="flat">
                <a:solidFill>
                  <a:srgbClr val="492C73"/>
                </a:solidFill>
                <a:prstDash val="solid"/>
                <a:round/>
              </a:ln>
              <a:effectLst/>
            </c:spPr>
          </c:marker>
          <c:cat>
            <c:multiLvlStrRef>
              <c:f>Sheet1!$A$2:$A$31</c:f>
              <c:multiLvlStrCache>
                <c:ptCount val="30"/>
                <c:lvl>
                  <c:pt idx="0">
                    <c:v>Sep 6</c:v>
                  </c:pt>
                  <c:pt idx="1">
                    <c:v>Sep 7</c:v>
                  </c:pt>
                  <c:pt idx="2">
                    <c:v>Sep 8</c:v>
                  </c:pt>
                  <c:pt idx="3">
                    <c:v>Sep 9</c:v>
                  </c:pt>
                  <c:pt idx="4">
                    <c:v>Sep 10</c:v>
                  </c:pt>
                  <c:pt idx="5">
                    <c:v>Sep 11</c:v>
                  </c:pt>
                  <c:pt idx="6">
                    <c:v>Sep 12</c:v>
                  </c:pt>
                  <c:pt idx="7">
                    <c:v>Sep 13</c:v>
                  </c:pt>
                  <c:pt idx="8">
                    <c:v>Sep 14</c:v>
                  </c:pt>
                  <c:pt idx="9">
                    <c:v>Sep 15</c:v>
                  </c:pt>
                  <c:pt idx="10">
                    <c:v>Sep 16</c:v>
                  </c:pt>
                  <c:pt idx="11">
                    <c:v>Sep 17</c:v>
                  </c:pt>
                  <c:pt idx="12">
                    <c:v>Sep 18</c:v>
                  </c:pt>
                  <c:pt idx="13">
                    <c:v>Sep 19</c:v>
                  </c:pt>
                  <c:pt idx="14">
                    <c:v>Sep 20</c:v>
                  </c:pt>
                  <c:pt idx="15">
                    <c:v>Sep 21</c:v>
                  </c:pt>
                  <c:pt idx="16">
                    <c:v>Sep 22</c:v>
                  </c:pt>
                  <c:pt idx="17">
                    <c:v>Sep 23</c:v>
                  </c:pt>
                  <c:pt idx="18">
                    <c:v>Sep 24</c:v>
                  </c:pt>
                  <c:pt idx="19">
                    <c:v>Sep 25</c:v>
                  </c:pt>
                  <c:pt idx="20">
                    <c:v>Sep 26</c:v>
                  </c:pt>
                  <c:pt idx="21">
                    <c:v>Sep 27</c:v>
                  </c:pt>
                  <c:pt idx="22">
                    <c:v>Sep 28</c:v>
                  </c:pt>
                  <c:pt idx="23">
                    <c:v>Sep 29</c:v>
                  </c:pt>
                  <c:pt idx="24">
                    <c:v>Sep 30</c:v>
                  </c:pt>
                  <c:pt idx="25">
                    <c:v>Oct 1</c:v>
                  </c:pt>
                  <c:pt idx="26">
                    <c:v>Oct 2</c:v>
                  </c:pt>
                  <c:pt idx="27">
                    <c:v>Oct 3</c:v>
                  </c:pt>
                  <c:pt idx="28">
                    <c:v>Oct 4</c:v>
                  </c:pt>
                  <c:pt idx="29">
                    <c:v>Oct 5</c:v>
                  </c:pt>
                </c:lvl>
              </c:multiLvlStrCache>
            </c:multiLvlStrRef>
          </c:cat>
          <c:val>
            <c:numRef>
              <c:f>Sheet1!$B$2:$B$31</c:f>
              <c:numCache>
                <c:formatCode>General</c:formatCode>
                <c:ptCount val="30"/>
                <c:pt idx="0">
                  <c:v>85.1</c:v>
                </c:pt>
                <c:pt idx="1">
                  <c:v>80.6</c:v>
                </c:pt>
                <c:pt idx="2">
                  <c:v>83.7</c:v>
                </c:pt>
                <c:pt idx="3">
                  <c:v>81.7</c:v>
                </c:pt>
                <c:pt idx="4">
                  <c:v>80.7</c:v>
                </c:pt>
                <c:pt idx="5">
                  <c:v>82.5</c:v>
                </c:pt>
                <c:pt idx="6">
                  <c:v>81.7</c:v>
                </c:pt>
                <c:pt idx="7">
                  <c:v>93.8</c:v>
                </c:pt>
                <c:pt idx="8">
                  <c:v>85.4</c:v>
                </c:pt>
                <c:pt idx="9">
                  <c:v>88.1</c:v>
                </c:pt>
                <c:pt idx="10">
                  <c:v>90.9</c:v>
                </c:pt>
                <c:pt idx="11">
                  <c:v>85.6</c:v>
                </c:pt>
                <c:pt idx="12">
                  <c:v>87</c:v>
                </c:pt>
                <c:pt idx="13">
                  <c:v>75.5</c:v>
                </c:pt>
                <c:pt idx="14">
                  <c:v>88.6</c:v>
                </c:pt>
                <c:pt idx="15">
                  <c:v>75.3</c:v>
                </c:pt>
                <c:pt idx="16">
                  <c:v>84.9</c:v>
                </c:pt>
                <c:pt idx="17">
                  <c:v>87</c:v>
                </c:pt>
                <c:pt idx="18">
                  <c:v>44.3</c:v>
                </c:pt>
                <c:pt idx="19">
                  <c:v>38.5</c:v>
                </c:pt>
                <c:pt idx="20">
                  <c:v>37.8</c:v>
                </c:pt>
                <c:pt idx="21">
                  <c:v>44.8</c:v>
                </c:pt>
                <c:pt idx="22">
                  <c:v>67.6</c:v>
                </c:pt>
                <c:pt idx="23">
                  <c:v>86</c:v>
                </c:pt>
                <c:pt idx="24">
                  <c:v>82.2</c:v>
                </c:pt>
                <c:pt idx="25">
                  <c:v>89.5</c:v>
                </c:pt>
                <c:pt idx="26">
                  <c:v>87.4</c:v>
                </c:pt>
                <c:pt idx="27">
                  <c:v>84.2</c:v>
                </c:pt>
                <c:pt idx="28">
                  <c:v>80.4</c:v>
                </c:pt>
                <c:pt idx="29">
                  <c:v>78.7</c:v>
                </c:pt>
              </c:numCache>
            </c:numRef>
          </c:val>
          <c:smooth val="0"/>
        </c:ser>
        <c:ser>
          <c:idx val="1"/>
          <c:order val="1"/>
          <c:tx>
            <c:strRef>
              <c:f>Sheet1!$C$1</c:f>
              <c:strCache>
                <c:ptCount val="1"/>
                <c:pt idx="0">
                  <c:v>95% target</c:v>
                </c:pt>
              </c:strCache>
            </c:strRef>
          </c:tx>
          <c:spPr>
            <a:solidFill>
              <a:srgbClr val="74BF04"/>
            </a:solidFill>
            <a:ln w="25400" cap="flat">
              <a:solidFill>
                <a:srgbClr val="74BF04"/>
              </a:solidFill>
              <a:prstDash val="solid,dash"/>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74BF04"/>
              </a:solidFill>
              <a:ln w="9525" cap="flat">
                <a:solidFill>
                  <a:srgbClr val="74BF04"/>
                </a:solidFill>
                <a:prstDash val="solid"/>
                <a:round/>
              </a:ln>
              <a:effectLst/>
            </c:spPr>
          </c:marker>
          <c:cat>
            <c:multiLvlStrRef>
              <c:f>Sheet1!$A$2:$A$31</c:f>
              <c:multiLvlStrCache>
                <c:ptCount val="30"/>
                <c:lvl>
                  <c:pt idx="0">
                    <c:v>Sep 6</c:v>
                  </c:pt>
                  <c:pt idx="1">
                    <c:v>Sep 7</c:v>
                  </c:pt>
                  <c:pt idx="2">
                    <c:v>Sep 8</c:v>
                  </c:pt>
                  <c:pt idx="3">
                    <c:v>Sep 9</c:v>
                  </c:pt>
                  <c:pt idx="4">
                    <c:v>Sep 10</c:v>
                  </c:pt>
                  <c:pt idx="5">
                    <c:v>Sep 11</c:v>
                  </c:pt>
                  <c:pt idx="6">
                    <c:v>Sep 12</c:v>
                  </c:pt>
                  <c:pt idx="7">
                    <c:v>Sep 13</c:v>
                  </c:pt>
                  <c:pt idx="8">
                    <c:v>Sep 14</c:v>
                  </c:pt>
                  <c:pt idx="9">
                    <c:v>Sep 15</c:v>
                  </c:pt>
                  <c:pt idx="10">
                    <c:v>Sep 16</c:v>
                  </c:pt>
                  <c:pt idx="11">
                    <c:v>Sep 17</c:v>
                  </c:pt>
                  <c:pt idx="12">
                    <c:v>Sep 18</c:v>
                  </c:pt>
                  <c:pt idx="13">
                    <c:v>Sep 19</c:v>
                  </c:pt>
                  <c:pt idx="14">
                    <c:v>Sep 20</c:v>
                  </c:pt>
                  <c:pt idx="15">
                    <c:v>Sep 21</c:v>
                  </c:pt>
                  <c:pt idx="16">
                    <c:v>Sep 22</c:v>
                  </c:pt>
                  <c:pt idx="17">
                    <c:v>Sep 23</c:v>
                  </c:pt>
                  <c:pt idx="18">
                    <c:v>Sep 24</c:v>
                  </c:pt>
                  <c:pt idx="19">
                    <c:v>Sep 25</c:v>
                  </c:pt>
                  <c:pt idx="20">
                    <c:v>Sep 26</c:v>
                  </c:pt>
                  <c:pt idx="21">
                    <c:v>Sep 27</c:v>
                  </c:pt>
                  <c:pt idx="22">
                    <c:v>Sep 28</c:v>
                  </c:pt>
                  <c:pt idx="23">
                    <c:v>Sep 29</c:v>
                  </c:pt>
                  <c:pt idx="24">
                    <c:v>Sep 30</c:v>
                  </c:pt>
                  <c:pt idx="25">
                    <c:v>Oct 1</c:v>
                  </c:pt>
                  <c:pt idx="26">
                    <c:v>Oct 2</c:v>
                  </c:pt>
                  <c:pt idx="27">
                    <c:v>Oct 3</c:v>
                  </c:pt>
                  <c:pt idx="28">
                    <c:v>Oct 4</c:v>
                  </c:pt>
                  <c:pt idx="29">
                    <c:v>Oct 5</c:v>
                  </c:pt>
                </c:lvl>
              </c:multiLvlStrCache>
            </c:multiLvlStrRef>
          </c:cat>
          <c:val>
            <c:numRef>
              <c:f>Sheet1!$C$2:$C$31</c:f>
              <c:numCache>
                <c:formatCode>General</c:formatCode>
                <c:ptCount val="30"/>
                <c:pt idx="0">
                  <c:v>95</c:v>
                </c:pt>
                <c:pt idx="1">
                  <c:v>95</c:v>
                </c:pt>
                <c:pt idx="2">
                  <c:v>95</c:v>
                </c:pt>
                <c:pt idx="3">
                  <c:v>95</c:v>
                </c:pt>
                <c:pt idx="4">
                  <c:v>95</c:v>
                </c:pt>
                <c:pt idx="5">
                  <c:v>95</c:v>
                </c:pt>
                <c:pt idx="6">
                  <c:v>95</c:v>
                </c:pt>
                <c:pt idx="7">
                  <c:v>95</c:v>
                </c:pt>
                <c:pt idx="8">
                  <c:v>95</c:v>
                </c:pt>
                <c:pt idx="9">
                  <c:v>95</c:v>
                </c:pt>
                <c:pt idx="10">
                  <c:v>95</c:v>
                </c:pt>
                <c:pt idx="11">
                  <c:v>95</c:v>
                </c:pt>
                <c:pt idx="12">
                  <c:v>95</c:v>
                </c:pt>
                <c:pt idx="13">
                  <c:v>95</c:v>
                </c:pt>
                <c:pt idx="14">
                  <c:v>95</c:v>
                </c:pt>
                <c:pt idx="15">
                  <c:v>95</c:v>
                </c:pt>
                <c:pt idx="16">
                  <c:v>95</c:v>
                </c:pt>
                <c:pt idx="17">
                  <c:v>95</c:v>
                </c:pt>
                <c:pt idx="18">
                  <c:v>95</c:v>
                </c:pt>
                <c:pt idx="19">
                  <c:v>95</c:v>
                </c:pt>
                <c:pt idx="20">
                  <c:v>95</c:v>
                </c:pt>
                <c:pt idx="21">
                  <c:v>95</c:v>
                </c:pt>
                <c:pt idx="22">
                  <c:v>95</c:v>
                </c:pt>
                <c:pt idx="23">
                  <c:v>95</c:v>
                </c:pt>
                <c:pt idx="24">
                  <c:v>95</c:v>
                </c:pt>
                <c:pt idx="25">
                  <c:v>95</c:v>
                </c:pt>
                <c:pt idx="26">
                  <c:v>95</c:v>
                </c:pt>
                <c:pt idx="27">
                  <c:v>95</c:v>
                </c:pt>
                <c:pt idx="28">
                  <c:v>95</c:v>
                </c:pt>
                <c:pt idx="29">
                  <c:v>95</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31833"/>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3DFEA"/>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6548C"/>
                </a:solidFill>
                <a:latin typeface="+mn-lt"/>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Senior (6mo+)</c:v>
                </c:pt>
              </c:strCache>
            </c:strRef>
          </c:tx>
          <c:spPr>
            <a:solidFill>
              <a:srgbClr val="74BF04"/>
            </a:solidFill>
            <a:ln>
              <a:noFill/>
            </a:ln>
            <a:effectLst/>
          </c:spPr>
          <c:marker>
            <c:symbol val="circle"/>
            <c:size val="12"/>
            <c:spPr>
              <a:solidFill>
                <a:srgbClr val="74BF04"/>
              </a:solidFill>
              <a:ln w="9525" cap="flat">
                <a:solidFill>
                  <a:srgbClr val="74BF04"/>
                </a:solidFill>
                <a:prstDash val="solid"/>
                <a:round/>
              </a:ln>
              <a:effectLst/>
            </c:spPr>
          </c:marker>
          <c:xVal>
            <c:numRef>
              <c:f>Sheet1!$A$2:$A$16</c:f>
              <c:numCache>
                <c:formatCode>General</c:formatCode>
                <c:ptCount val="15"/>
                <c:pt idx="0">
                  <c:v>76.5</c:v>
                </c:pt>
                <c:pt idx="1">
                  <c:v>64.3</c:v>
                </c:pt>
                <c:pt idx="2">
                  <c:v>49.4</c:v>
                </c:pt>
                <c:pt idx="3">
                  <c:v>45.9</c:v>
                </c:pt>
                <c:pt idx="4">
                  <c:v>49.8</c:v>
                </c:pt>
                <c:pt idx="5">
                  <c:v>45.6</c:v>
                </c:pt>
                <c:pt idx="6">
                  <c:v>48.2</c:v>
                </c:pt>
                <c:pt idx="7">
                  <c:v>47.8</c:v>
                </c:pt>
                <c:pt idx="8">
                  <c:v>56.8</c:v>
                </c:pt>
                <c:pt idx="9">
                  <c:v>46.2</c:v>
                </c:pt>
                <c:pt idx="10">
                  <c:v>45.2</c:v>
                </c:pt>
                <c:pt idx="11">
                  <c:v>61.5</c:v>
                </c:pt>
                <c:pt idx="12">
                  <c:v>49.1</c:v>
                </c:pt>
                <c:pt idx="13">
                  <c:v>50.5</c:v>
                </c:pt>
                <c:pt idx="14">
                  <c:v>55.6</c:v>
                </c:pt>
              </c:numCache>
            </c:numRef>
          </c:xVal>
          <c:yVal>
            <c:numRef>
              <c:f>Sheet1!$B$2:$B$16</c:f>
              <c:numCache>
                <c:formatCode>General</c:formatCode>
                <c:ptCount val="15"/>
                <c:pt idx="11">
                  <c:v>100</c:v>
                </c:pt>
                <c:pt idx="12">
                  <c:v>100</c:v>
                </c:pt>
                <c:pt idx="13">
                  <c:v>100</c:v>
                </c:pt>
                <c:pt idx="14">
                  <c:v>99.3</c:v>
                </c:pt>
              </c:numCache>
            </c:numRef>
          </c:yVal>
          <c:smooth val="0"/>
        </c:ser>
        <c:ser>
          <c:idx val="1"/>
          <c:order val="1"/>
          <c:tx>
            <c:strRef>
              <c:f>Sheet1!$C$1</c:f>
              <c:strCache>
                <c:ptCount val="1"/>
                <c:pt idx="0">
                  <c:v>Core (1-6mo)</c:v>
                </c:pt>
              </c:strCache>
            </c:strRef>
          </c:tx>
          <c:spPr>
            <a:solidFill>
              <a:srgbClr val="492C73"/>
            </a:solidFill>
            <a:ln>
              <a:noFill/>
            </a:ln>
            <a:effectLst/>
          </c:spPr>
          <c:marker>
            <c:symbol val="circle"/>
            <c:size val="12"/>
            <c:spPr>
              <a:solidFill>
                <a:srgbClr val="492C73"/>
              </a:solidFill>
              <a:ln w="9525" cap="flat">
                <a:solidFill>
                  <a:srgbClr val="492C73"/>
                </a:solidFill>
                <a:prstDash val="solid"/>
                <a:round/>
              </a:ln>
              <a:effectLst/>
            </c:spPr>
          </c:marker>
          <c:xVal>
            <c:numRef>
              <c:f>Sheet1!$A$2:$A$16</c:f>
              <c:numCache>
                <c:formatCode>General</c:formatCode>
                <c:ptCount val="15"/>
                <c:pt idx="0">
                  <c:v>76.5</c:v>
                </c:pt>
                <c:pt idx="1">
                  <c:v>64.3</c:v>
                </c:pt>
                <c:pt idx="2">
                  <c:v>49.4</c:v>
                </c:pt>
                <c:pt idx="3">
                  <c:v>45.9</c:v>
                </c:pt>
                <c:pt idx="4">
                  <c:v>49.8</c:v>
                </c:pt>
                <c:pt idx="5">
                  <c:v>45.6</c:v>
                </c:pt>
                <c:pt idx="6">
                  <c:v>48.2</c:v>
                </c:pt>
                <c:pt idx="7">
                  <c:v>47.8</c:v>
                </c:pt>
                <c:pt idx="8">
                  <c:v>56.8</c:v>
                </c:pt>
                <c:pt idx="9">
                  <c:v>46.2</c:v>
                </c:pt>
                <c:pt idx="10">
                  <c:v>45.2</c:v>
                </c:pt>
                <c:pt idx="11">
                  <c:v>61.5</c:v>
                </c:pt>
                <c:pt idx="12">
                  <c:v>49.1</c:v>
                </c:pt>
                <c:pt idx="13">
                  <c:v>50.5</c:v>
                </c:pt>
                <c:pt idx="14">
                  <c:v>55.6</c:v>
                </c:pt>
              </c:numCache>
            </c:numRef>
          </c:xVal>
          <c:yVal>
            <c:numRef>
              <c:f>Sheet1!$C$2:$C$16</c:f>
              <c:numCache>
                <c:formatCode>General</c:formatCode>
                <c:ptCount val="15"/>
                <c:pt idx="3">
                  <c:v>99.2</c:v>
                </c:pt>
                <c:pt idx="4">
                  <c:v>100</c:v>
                </c:pt>
                <c:pt idx="5">
                  <c:v>100</c:v>
                </c:pt>
                <c:pt idx="6">
                  <c:v>100</c:v>
                </c:pt>
                <c:pt idx="7">
                  <c:v>100</c:v>
                </c:pt>
                <c:pt idx="8">
                  <c:v>92.9</c:v>
                </c:pt>
                <c:pt idx="9">
                  <c:v>100</c:v>
                </c:pt>
                <c:pt idx="10">
                  <c:v>100</c:v>
                </c:pt>
              </c:numCache>
            </c:numRef>
          </c:yVal>
          <c:smooth val="0"/>
        </c:ser>
        <c:ser>
          <c:idx val="2"/>
          <c:order val="2"/>
          <c:tx>
            <c:strRef>
              <c:f>Sheet1!$D$1</c:f>
              <c:strCache>
                <c:ptCount val="1"/>
                <c:pt idx="0">
                  <c:v>New Hire (&lt;30d)</c:v>
                </c:pt>
              </c:strCache>
            </c:strRef>
          </c:tx>
          <c:spPr>
            <a:solidFill>
              <a:srgbClr val="E39A1C"/>
            </a:solidFill>
            <a:ln>
              <a:noFill/>
            </a:ln>
            <a:effectLst/>
          </c:spPr>
          <c:marker>
            <c:symbol val="circle"/>
            <c:size val="12"/>
            <c:spPr>
              <a:solidFill>
                <a:srgbClr val="E39A1C"/>
              </a:solidFill>
              <a:ln w="9525" cap="flat">
                <a:solidFill>
                  <a:srgbClr val="E39A1C"/>
                </a:solidFill>
                <a:prstDash val="solid"/>
                <a:round/>
              </a:ln>
              <a:effectLst/>
            </c:spPr>
          </c:marker>
          <c:xVal>
            <c:numRef>
              <c:f>Sheet1!$A$2:$A$16</c:f>
              <c:numCache>
                <c:formatCode>General</c:formatCode>
                <c:ptCount val="15"/>
                <c:pt idx="0">
                  <c:v>76.5</c:v>
                </c:pt>
                <c:pt idx="1">
                  <c:v>64.3</c:v>
                </c:pt>
                <c:pt idx="2">
                  <c:v>49.4</c:v>
                </c:pt>
                <c:pt idx="3">
                  <c:v>45.9</c:v>
                </c:pt>
                <c:pt idx="4">
                  <c:v>49.8</c:v>
                </c:pt>
                <c:pt idx="5">
                  <c:v>45.6</c:v>
                </c:pt>
                <c:pt idx="6">
                  <c:v>48.2</c:v>
                </c:pt>
                <c:pt idx="7">
                  <c:v>47.8</c:v>
                </c:pt>
                <c:pt idx="8">
                  <c:v>56.8</c:v>
                </c:pt>
                <c:pt idx="9">
                  <c:v>46.2</c:v>
                </c:pt>
                <c:pt idx="10">
                  <c:v>45.2</c:v>
                </c:pt>
                <c:pt idx="11">
                  <c:v>61.5</c:v>
                </c:pt>
                <c:pt idx="12">
                  <c:v>49.1</c:v>
                </c:pt>
                <c:pt idx="13">
                  <c:v>50.5</c:v>
                </c:pt>
                <c:pt idx="14">
                  <c:v>55.6</c:v>
                </c:pt>
              </c:numCache>
            </c:numRef>
          </c:xVal>
          <c:yVal>
            <c:numRef>
              <c:f>Sheet1!$D$2:$D$16</c:f>
              <c:numCache>
                <c:formatCode>General</c:formatCode>
                <c:ptCount val="15"/>
                <c:pt idx="0">
                  <c:v>94.7</c:v>
                </c:pt>
                <c:pt idx="1">
                  <c:v>96</c:v>
                </c:pt>
                <c:pt idx="2">
                  <c:v>91.7</c:v>
                </c:pt>
              </c:numCache>
            </c:numRef>
          </c:yVal>
          <c:smooth val="0"/>
        </c:ser>
        <c:dLbls>
          <c:numFmt formatCode="General"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dLbls>
        <c:axId val="2094734554"/>
        <c:axId val="2094734552"/>
      </c:scatterChart>
      <c:valAx>
        <c:axId val="2094734554"/>
        <c:scaling>
          <c:orientation val="minMax"/>
          <c:max val="80"/>
          <c:min val="40"/>
        </c:scaling>
        <c:delete val="0"/>
        <c:axPos val="b"/>
        <c:title>
          <c:tx>
            <c:rich>
              <a:bodyPr/>
              <a:lstStyle/>
              <a:p>
                <a:pPr>
                  <a:defRPr sz="1100" b="0" i="0" u="none" strike="noStrike">
                    <a:solidFill>
                      <a:srgbClr val="66548C"/>
                    </a:solidFill>
                    <a:latin typeface="+mn-lt"/>
                  </a:defRPr>
                </a:pPr>
                <a:r>
                  <a:rPr sz="1100" b="0" i="0" u="none" strike="noStrike">
                    <a:solidFill>
                      <a:srgbClr val="66548C"/>
                    </a:solidFill>
                    <a:latin typeface="+mn-lt"/>
                  </a:rPr>
                  <a:t>Average handling time (s)</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231833"/>
                </a:solidFill>
                <a:latin typeface="+mn-lt"/>
              </a:defRPr>
            </a:pPr>
            <a:endParaRPr lang="en-US"/>
          </a:p>
        </c:txPr>
        <c:crossAx val="2094734552"/>
        <c:crosses val="autoZero"/>
        <c:auto val="1"/>
        <c:lblAlgn val="ctr"/>
        <c:noMultiLvlLbl val="1"/>
        <c:majorUnit val="10"/>
      </c:valAx>
      <c:valAx>
        <c:axId val="2094734552"/>
        <c:scaling>
          <c:orientation val="minMax"/>
          <c:max val="100"/>
          <c:min val="90"/>
        </c:scaling>
        <c:delete val="0"/>
        <c:axPos val="l"/>
        <c:majorGridlines>
          <c:spPr>
            <a:ln w="9525" cap="flat">
              <a:solidFill>
                <a:srgbClr val="E3DFEA"/>
              </a:solidFill>
              <a:prstDash val="solid"/>
              <a:round/>
            </a:ln>
          </c:spPr>
        </c:majorGridlines>
        <c:title>
          <c:tx>
            <c:rich>
              <a:bodyPr/>
              <a:lstStyle/>
              <a:p>
                <a:pPr>
                  <a:defRPr sz="1100" b="0" i="0" u="none" strike="noStrike">
                    <a:solidFill>
                      <a:srgbClr val="66548C"/>
                    </a:solidFill>
                    <a:latin typeface="+mn-lt"/>
                  </a:defRPr>
                </a:pPr>
                <a:r>
                  <a:rPr sz="1100" b="0" i="0" u="none" strike="noStrike">
                    <a:solidFill>
                      <a:srgbClr val="66548C"/>
                    </a:solidFill>
                    <a:latin typeface="+mn-lt"/>
                  </a:rPr>
                  <a:t>Audited QA score %</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100" b="0" i="0" u="none" strike="noStrike">
                <a:solidFill>
                  <a:srgbClr val="66548C"/>
                </a:solidFill>
                <a:latin typeface="+mn-lt"/>
              </a:defRPr>
            </a:pPr>
            <a:endParaRPr lang="en-US"/>
          </a:p>
        </c:txPr>
        <c:crossAx val="2094734554"/>
        <c:crosses val="autoZero"/>
        <c:crossBetween val="midCat"/>
        <c:majorUnit val="2"/>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0:00 – 1:30 (90s)  ·  PACE: Confident, direct
DATA SOURCE: dashboard-ready.csv (2,800 reviews, Sep 6 – Oct 5, 2026)
CORE TALKING POINTS
1. The headline: decision quality is strong (98.6% average audited QA score; 333 of 340 audits error-free), but SLA attainment is 78.2% against a 95.0% contractual target.
2. The discovery: the deficit is not systemic. Commercial Spam and Fraud &amp; Scams together run at 96.7% SLA.
3. The concentration: 565 of 610 SLA breaches (93%) sit in Violence_HighRisk, Hate_Speech and Emergency_TCO. A further 209 breaches (34% of all breaches) landed in just 4 days, Sep 24–27, when the intake mix shifted toward high-risk content and SLA fell to 41.1%.
4. The takeaway: volume did not grow, so this is a routing and capacity-allocation problem, not a headcount problem. The target is ≥95% SLA within 14 operational days with no new hires.
SPOKEN SCRIPT
Good morning, leadership team. My name is Wesley Taguinod, and today I am presenting the operational performance briefing and SLA recovery strategy for our Content Moderation and Trust &amp; Safety operations.
[Pause 1s — glance at audience]
Across 2,800 reviews over the past 30 days, our account operates at:
• A 98.6% average audited QA score,
• A weighted average handling time of 52.5 seconds, and
• An overall SLA attainment of 78.2% — trailing our contractual 95.0% commitment.
[Gesture toward right KPI cards]
Here is the bottom line up front: our challenge is not a quality failure, and it is not widespread. Of 340 audited decisions, 333 were error-free. Our false negative rate — harmful content mistakenly left live — is just 0.59%.
Our high-volume deterministic queues, Commercial Spam and Fraud, are running above target at 96.7% SLA.
The breach is concentrated in two places:
1. Our contextual and high-risk queues — Violence, Hate Speech and Emergency TCO — hold 93% of all SLA breaches.
2. A 4-day window, September 24 to 27, when the intake mix shifted sharply toward high-risk video and SLA fell to 41%.
Daily volume did not rise during that window. That tells us this is an allocation problem, not a headcount problem. By shifting existing capacity toward the high-risk queues when the mix changes, tightening how we route video, and calibrating our newest agents, we are targeting 95% SLA or better within 14 operational days. Let me show you what the data reveals.
[Transition: advance to Slide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1:30 – 3:30 (120s)  ·  PACE: Methodical, grounded
DATA SOURCE: dashboard-ready.csv (2,800 reviews, Sep 6 – Oct 5, 2026)
CORE TALKING POINTS
1. Mathematical rigor: AHT is duration-weighted across total handling seconds, and SLA is calculated at the transaction level (610 breached of 2,800), not by averaging queue percentages.
2. The queue divide: Spam &amp; Fraud = 1,346 reviews (48.1% of volume) at 12–36s AHT and 96.7% SLA. Violence, Hate Speech &amp; TCO = 1,454 reviews at 44–110s AHT and 61.1% SLA, holding 565 of 610 breaches (93%).
3. HITL efficiency: automation resolves 47.8% of volume (22.8% auto-approved, 25.0% auto-rejected). But it is uneven: Spam is 75% automated, Violence 33% and Emergency TCO only 24%.
SPOKEN SCRIPT
To understand where the variance comes from, we broke our 2,800 reviews down across 5 queues and 4 content modalities.
[Point to left chart: Queue SLA Attainment]
The queue-level data shows a sharp split:
• Commercial Spam and Fraud &amp; Scams are model operations. They handle nearly half our volume — 1,346 reviews — at 96.4% and 96.9% SLA, with handling times under 37 seconds.
• Our contextual and high-risk queues pull the account down: Hate Speech at 65.4%, Violence at 57.6% and Emergency TCO at 56.7%. Together these three queues hold 93% of every SLA breach we recorded.
[Point to right visual: HITL Funnel]
Now look at how work reaches agents. Our Human-in-the-Loop automation resolves 47.8% of volume without a human touch — about 23% auto-approved and 25% auto-rejected by hash matching and high-confidence classifiers.
That leaves 44% for frontline manual review and 8% for Tier-2 escalation.
The catch is that automation is uneven: three-quarters of Spam is automated, but only a third of Violence and a quarter of Emergency TCO. The human queues carry the hardest content. To see why they breach, we need to look at media type and what happened over time.
[Transition: advance to Slide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3:30 – 6:00 (150s)  ·  PACE: Analytical core
DATA SOURCE: dashboard-ready.csv (2,800 reviews, Sep 6 – Oct 5, 2026)
CORE TALKING POINTS
1. The media multiplier: AHT is driven by media type, not agent effort. Text averages 15.8s, static images 31.9s, short video 107.7s (6.8× text) and live streams 189.6s (12× text). Video and live are 28% of volume but 69% of handling hours.
2. The surge window (Sep 24–27): daily volume did not rise (95/day before vs. 89/day during). The mix shifted: Violence + Emergency TCO rose from 24% to 43% of intake, weighted AHT rose 31% (49.7s → 65.3s), average turnaround nearly doubled (134 → 241 min) and SLA fell to 41.1%. Those 4 days produced 209 of 610 breaches.
3. Workforce protection constraint: all 719 egregious items sit in Violence (418), TCO (164) and Hate Speech (137). Exposure caps (5.5-hour shifts) mean the gap cannot be closed by lengthening shifts.
SPOKEN SCRIPT
This brings us to the core diagnostic question: why did SLA fall to 78%, and where did the backlog come from?
The data points to two root causes.
[Focus on left card: Media Modality]
First, media type. Reviewing a text post takes an agent about 16 seconds. A static image takes 32 seconds. Short-form video jumps to 108 seconds, and live streams average over three minutes.
Here is the critical insight: video and live streams are only 28% of our volume, but they consume 69% of all handling hours. Any day the intake tilts toward video, our capacity is stretched.
[Focus on right card: Daily SLA]
Second, look at the daily trend on the right. Most days ran between 75 and 94%. Then, from September 24 to 27, SLA collapsed to roughly 40% a day.
[Point to the shaded window and the three facts below]
Importantly, volume did not spike — we averaged 89 items a day during the window versus 95 before it. What changed was the mix: Violence and Emergency TCO rose from 24% to 43% of our intake. Handling time per item rose 31%, and average turnaround nearly doubled, from 134 to 241 minutes. Emergency TCO, which carries a strict 1-hour legal removal SLA, averaged 78 minutes to decision and met its SLA only 29% of the time in those 4 days.
Furthermore, every one of our 719 egregious items sits in these high-risk queues, and our duty-of-care rules properly cap that exposure at 5.5-hour shifts with wellness rotations.
The conclusion: our agents did not slow down. We had a structural mismatch between a video-heavy, high-risk intake mix and a fixed allocation of capacity.
[Transition: advance to Slide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6:00 – 8:00 (120s)  ·  PACE: Objective, diagnostic
DATA SOURCE: dashboard-ready.csv (2,800 reviews, Sep 6 – Oct 5, 2026)
CORE TALKING POINTS
1. Tenure and speed: on manual reviews, where speed matters, seniors average 84.2s vs. 96.8s for core and 125.2s for new hires (33% faster than new hires). Seniors' overall AHT (54.0s) is higher than core (48.0s) only because they carry more egregious work (30% of their items vs. 23%). On short video, core agents are fastest (102s) and new hires slowest (123s, 20% slower); on live streams new hires are 41% slower than core.
2. Error taxonomy: 7 errors in 340 audits (4 false positives, 2 false negatives, 1 wrong policy). New hires made 4 of the 7 (6.8% error rate vs. 1.1% for tenured agents), and 3 of those 4 were false positives on static images — over-enforcement, not missed harm.
3. Capacity math (BA guide Section 5): productive hours = shift × (1 − shrinkage) × occupancy = 4.80h on a standard shift, 3.08h on an egregious 5.5h shift. Applying this to each phase's handling hours, split by egregious vs. standard work: if 15 FTEs covered the pre-surge mix, the Sep 24–27 mix needed 18.9 → 19 FTEs at the same daily volume, a 4-FTE gap. Workload above available servers means Erlang-C queue delay is effectively certain, which matches turnaround nearly doubling.
SPOKEN SCRIPT
To turn this diagnosis into a staffing model, we looked at agent performance and applied the capacity formulas from our operations guide.
[Point to left scatter: Speed vs Quality]
On the left, each dot is one of our 15 agents, plotted by handling time and audited QA score.
The tenure pattern is clear:
• Our senior agents in green — Agents 12 through 15 — average 99.8% QA. Their overall handle time looks higher than core because they take on more of the egregious work, but on manual reviews they are our fastest, at 84 seconds.
• Our core agents in purple deliver 99.2% QA at 48 seconds, and they are our fastest on short video.
• Our three new hires in amber — Agents 01, 02 and 03 — average 94.5% QA and take 125 seconds on manual reviews.
When we look at the errors themselves, new hires account for 4 of the 7 audit errors we found, and 3 of those were false positives — over-enforcement on images, not missed harm.
[Focus on right card: Capacity Gap]
Now the workforce math on the right.
On a standard 8-hour shift, with 25% shrinkage and 80% occupancy, each agent delivers 4.8 productive hours. On egregious queues, the 5.5-hour cap and 30% shrinkage leave just 3.08 productive hours.
During the September 24 to 27 window, the mix shift raised handling time per item from 50 to 65 seconds, and pushed the egregious share of our workload from 47% to 53%. If our 15 agents were sized for the normal mix, that window needed 19 — a 4-agent shortfall, at the same daily volume.
That is the mechanical reason our SLA dipped. The good news: the gap is 4 FTEs for a few days, which is a routing problem we can solve without hiring.
[Transition: advance to Slide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8:00 – 10:00 (120s)  ·  PACE: Decisive, ROI-focused
DATA SOURCE: dashboard-ready.csv (2,800 reviews, Sep 6 – Oct 5, 2026)
CORE TALKING POINTS
1. Zero budget required: every action reallocates existing capacity, changes routing or adds coaching time; no hires and no new software.
2. Evidence for each action: (1) the surge mix needed 4 more FTEs while Spam &amp; Fraud use only 22% of handling hours for 48% of volume; (2) new hires are 20% slower than core on short video and 41% slower on live, and Violence/TCO automation (33%/24%) trails Spam (75%); (3) new hires made 4 of 7 audit errors, 3 of them false positives.
3. Targets, not forecasts: ≥95% account SLA and ≥95% TCO 1-hour SLA are the contractual targets to hit within 14 days. Track them weekly in the dashboard. Excluding the Sep 24–27 window, SLA was already 83.6%, so most of the gap is the mix-shift response.
4. Sustainable workforce health: exposure caps and rotations stay in place, so speed gains do not come at the cost of burnout or attrition.
SPOKEN SCRIPT
That brings us to the plan: how do we fix this permanently without adding payroll?
We propose three targeted, data-backed interventions.
[Point to Action 1]
Action 1: mix-triggered cross-queue flex staffing.
• Our model shows the high-risk mix needed 4 more FTEs. So when Violence and Emergency TCO exceed 35% of daily intake, we flex 4 agents' worth of capacity out of Spam and Fraud into the high-risk queues.
• Spam and Fraud can absorb this: they use only 22% of our handling hours for nearly half our volume, and three-quarters of Spam is already automated.
[Point to Action 2]
Action 2: smarter video routing and a triage pilot.
• Video and live streams drive 69% of our handling hours. Our new hires are 20% slower than core agents on short video and 41% slower on live streams, so we route that content to core and senior agents.
• We will also pilot wider automated triage in Violence and Emergency TCO, which are only 33% and 24% automated today versus 75% in Spam — with QA sign-off before any threshold change.
[Point to Action 3]
Action 3: new-hire calibration and automated wellness rotation.
• Daily 20-minute calibration huddles pair our 3 new hires with senior mentors, who run at 99.8% QA. The focus is over-enforcement: 3 of the new hires' 4 audit errors were false positives.
• We automate scheduling so no agent spends more than 2 consecutive hours in egregious queues, within the 5.5-hour cap.
[Highlight bottom banner: Recovery Targets]
The executive takeaway:
• This plan needs zero new hires and zero external software spend.
• Our target is to bring account SLA from 78.2% to 95% or better within 14 operational days. Outside the 4-day surge window we were already at 83.6%, so most of the gap is in how we respond to mix shifts.
• Most importantly, we target 95% or better on the Emergency TCO 1-hour legal SLA — up from 56.7% today — protecting platform integrity and our regulatory position.
Thank you for your time. I will now open the floor to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 use during the 2:00 synthesis &amp; leadership Q&amp;A.
Q1: "If we flex capacity from Spam and Fraud into the high-risk queues, won't the Spam SLA collapse?"
"Unlikely. Commercial Spam runs at 12.3 seconds AHT and 96.4% SLA, and 75% of Spam items are resolved automatically. Spam and Fraud together account for 48% of our volume but only 22% of our handling hours. And the flex only triggers on days when Violence and TCO exceed 35% of intake. During the Sep 24–27 window Spam and Fraud also dipped (61% and 68%) because the whole floor was saturated, so relieving the high-risk queues helps every queue."
Q2: "Why not simply mandate 8-hour shifts for all agents to clear the backlog?"
"Because the backlog sits exactly where the exposure is. All 719 egregious items are in Violence, Hate Speech and Emergency TCO, and our duty-of-care policy caps that exposure at 5.5-hour shifts. We already saw a warning sign: audited QA in the Violence queue dipped to 88.9% during the surge window, versus 100% before it (a small sample of 9 audits, but the direction matters). Rotation into non-egregious work protects accuracy without driving attrition."
Q3: "Does widening automated triage increase false positives?"
"That is why it is a pilot with QA sign-off, not a blanket change. Today, automated decisions audit well: auto-approved items scored 100% across 75 audits, and auto-rejected items 97.3% across 81 audits. Disputed decisions also have a safety net: of 190 appeals this period, only 30 (15.8%) were overturned."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_ONLY">
    <p:bg>
      <p:bgPr>
        <a:solidFill>
          <a:schemeClr val="accent1"/>
        </a:solidFill>
      </p:bgPr>
    </p:bg>
    <p:spTree>
      <p:nvGrpSpPr>
        <p:cNvPr id="1" name=""/>
        <p:cNvGrpSpPr/>
        <p:nvPr/>
      </p:nvGrpSpPr>
      <p:grpSpPr>
        <a:xfrm>
          <a:off x="0" y="0"/>
          <a:ext cx="0" cy="0"/>
          <a:chOff x="0" y="0"/>
          <a:chExt cx="0" cy="0"/>
        </a:xfrm>
      </p:grpSpPr>
      <p:sp>
        <p:nvSpPr>
          <p:cNvPr id="2"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chemeClr val="bg1"/>
                </a:solidFill>
                <a:latin typeface="Calibri" pitchFamily="34" charset="0"/>
                <a:ea typeface="Calibri" pitchFamily="34" charset="-122"/>
                <a:cs typeface="Calibri" pitchFamily="34" charset="-120"/>
              </a:rPr>
              <a:t>ApexTrust Operations  ·  Content Moderation Executive Briefing  ·  Sep 6 – Oct 5, 2026</a:t>
            </a:r>
            <a:endParaRPr lang="en-US" sz="1000" dirty="0"/>
          </a:p>
        </p:txBody>
      </p:sp>
      <p:sp>
        <p:nvSpPr>
          <p:cNvPr id="3" name="Text 1"/>
          <p:cNvSpPr/>
          <p:nvPr>
            <p:ph idx="101" type="body" hasCustomPrompt="1"/>
          </p:nvPr>
        </p:nvSpPr>
        <p:spPr>
          <a:xfrm>
            <a:off x="548640" y="347472"/>
            <a:ext cx="8229600" cy="292608"/>
          </a:xfrm>
          <a:prstGeom prst="rect">
            <a:avLst/>
          </a:prstGeom>
          <a:noFill/>
          <a:ln/>
        </p:spPr>
        <p:txBody>
          <a:bodyPr wrap="square" rtlCol="0"/>
          <a:lstStyle>
            <a:lvl1pPr indent="0" marL="0">
              <a:buNone/>
              <a:defRPr lang="en-US" sz="1300" b="1" spc="200" kern="0" dirty="0">
                <a:solidFill>
                  <a:schemeClr val="accent2"/>
                </a:solidFill>
              </a:defRPr>
            </a:lvl1pPr>
          </a:lstStyle>
          <a:p>
            <a:pPr indent="0" marL="0">
              <a:buNone/>
            </a:pPr>
            <a:endParaRPr lang="en-US" sz="1300" dirty="0"/>
          </a:p>
        </p:txBody>
      </p:sp>
      <p:sp>
        <p:nvSpPr>
          <p:cNvPr id="4" name="Text 1"/>
          <p:cNvSpPr/>
          <p:nvPr>
            <p:ph idx="102" type="title" hasCustomPrompt="1"/>
          </p:nvPr>
        </p:nvSpPr>
        <p:spPr>
          <a:xfrm>
            <a:off x="548640" y="658368"/>
            <a:ext cx="11094415" cy="64008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1"/>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_TITLE_ONLY">
    <p:bg>
      <p:bgPr>
        <a:solidFill>
          <a:schemeClr val="bg2"/>
        </a:solidFill>
      </p:bgPr>
    </p:bg>
    <p:spTree>
      <p:nvGrpSpPr>
        <p:cNvPr id="1" name=""/>
        <p:cNvGrpSpPr/>
        <p:nvPr/>
      </p:nvGrpSpPr>
      <p:grpSpPr>
        <a:xfrm>
          <a:off x="0" y="0"/>
          <a:ext cx="0" cy="0"/>
          <a:chOff x="0" y="0"/>
          <a:chExt cx="0" cy="0"/>
        </a:xfrm>
      </p:grpSpPr>
      <p:sp>
        <p:nvSpPr>
          <p:cNvPr id="2"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chemeClr val="accent4"/>
                </a:solidFill>
                <a:latin typeface="Calibri" pitchFamily="34" charset="0"/>
                <a:ea typeface="Calibri" pitchFamily="34" charset="-122"/>
                <a:cs typeface="Calibri" pitchFamily="34" charset="-120"/>
              </a:rPr>
              <a:t>ApexTrust Operations  ·  Content Moderation Executive Briefing  ·  Sep 6 – Oct 5, 2026</a:t>
            </a:r>
            <a:endParaRPr lang="en-US" sz="1000" dirty="0"/>
          </a:p>
        </p:txBody>
      </p:sp>
      <p:sp>
        <p:nvSpPr>
          <p:cNvPr id="3" name="Text 1"/>
          <p:cNvSpPr/>
          <p:nvPr>
            <p:ph idx="101" type="body" hasCustomPrompt="1"/>
          </p:nvPr>
        </p:nvSpPr>
        <p:spPr>
          <a:xfrm>
            <a:off x="548640" y="347472"/>
            <a:ext cx="8229600" cy="292608"/>
          </a:xfrm>
          <a:prstGeom prst="rect">
            <a:avLst/>
          </a:prstGeom>
          <a:noFill/>
          <a:ln/>
        </p:spPr>
        <p:txBody>
          <a:bodyPr wrap="square" rtlCol="0"/>
          <a:lstStyle>
            <a:lvl1pPr indent="0" marL="0">
              <a:buNone/>
              <a:defRPr lang="en-US" sz="1300" b="1" spc="200" kern="0" dirty="0">
                <a:solidFill>
                  <a:schemeClr val="accent3"/>
                </a:solidFill>
              </a:defRPr>
            </a:lvl1pPr>
          </a:lstStyle>
          <a:p>
            <a:pPr indent="0" marL="0">
              <a:buNone/>
            </a:pPr>
            <a:endParaRPr lang="en-US" sz="1300" dirty="0"/>
          </a:p>
        </p:txBody>
      </p:sp>
      <p:sp>
        <p:nvSpPr>
          <p:cNvPr id="4" name="Text 1"/>
          <p:cNvSpPr/>
          <p:nvPr>
            <p:ph idx="102" type="title" hasCustomPrompt="1"/>
          </p:nvPr>
        </p:nvSpPr>
        <p:spPr>
          <a:xfrm>
            <a:off x="548640" y="658368"/>
            <a:ext cx="11094415" cy="640080"/>
          </a:xfrm>
          <a:prstGeom prst="rect">
            <a:avLst/>
          </a:prstGeom>
          <a:noFill/>
          <a:ln/>
        </p:spPr>
        <p:txBody>
          <a:bodyPr wrap="square" rtlCol="0"/>
          <a:lstStyle>
            <a:lvl1pPr algn="l" indent="0" marL="0">
              <a:buNone/>
              <a:defRPr lang="en-US" sz="3200" b="1" dirty="0">
                <a:solidFill>
                  <a:schemeClr val="accent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chart" Target="/ppt/charts/chart2.xml"/><Relationship Id="rId4" Type="http://schemas.openxmlformats.org/officeDocument/2006/relationships/chart" Target="/ppt/charts/chart3.xml"/><Relationship Id="rId1" Type="http://schemas.openxmlformats.org/officeDocument/2006/relationships/image" Target="../media/image-3-1.png"/><Relationship Id="rId3"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chart" Target="/ppt/charts/chart4.xml"/><Relationship Id="rId1"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8229600" cy="292608"/>
          </a:xfrm>
          <a:prstGeom prst="rect">
            <a:avLst/>
          </a:prstGeom>
          <a:noFill/>
          <a:ln/>
        </p:spPr>
        <p:txBody>
          <a:bodyPr wrap="square" lIns="0" tIns="0" rIns="0" bIns="0" rtlCol="0" anchor="ctr"/>
          <a:lstStyle/>
          <a:p>
            <a:pPr indent="0" marL="0">
              <a:buNone/>
            </a:pPr>
            <a:r>
              <a:rPr lang="en-US" sz="1300" b="1" spc="200" kern="0" dirty="0">
                <a:solidFill>
                  <a:schemeClr val="accent2"/>
                </a:solidFill>
              </a:rPr>
              <a:t>EXECUTIVE BRIEFING  ·  BOTTOM LINE UP FRONT</a:t>
            </a:r>
            <a:endParaRPr lang="en-US" sz="1300" dirty="0"/>
          </a:p>
        </p:txBody>
      </p:sp>
      <p:sp>
        <p:nvSpPr>
          <p:cNvPr id="3" name="Text 1"/>
          <p:cNvSpPr/>
          <p:nvPr>
            <p:ph idx="102" type="title" hasCustomPrompt="1"/>
          </p:nvPr>
        </p:nvSpPr>
        <p:spPr>
          <a:xfrm>
            <a:off x="548640" y="658368"/>
            <a:ext cx="11094415" cy="640080"/>
          </a:xfrm>
          <a:prstGeom prst="rect">
            <a:avLst/>
          </a:prstGeom>
          <a:noFill/>
          <a:ln/>
        </p:spPr>
        <p:txBody>
          <a:bodyPr wrap="square" lIns="0" tIns="0" rIns="0" bIns="0" rtlCol="0" anchor="ctr"/>
          <a:lstStyle/>
          <a:p>
            <a:pPr algn="l" indent="0" marL="0">
              <a:buNone/>
            </a:pPr>
            <a:r>
              <a:rPr lang="en-US" sz="3200" b="1" dirty="0">
                <a:solidFill>
                  <a:schemeClr val="bg1"/>
                </a:solidFill>
              </a:rPr>
              <a:t>Trust &amp; Safety Operations: SLA Recovery Briefing</a:t>
            </a:r>
            <a:endParaRPr lang="en-US" sz="3200" dirty="0"/>
          </a:p>
        </p:txBody>
      </p:sp>
      <p:sp>
        <p:nvSpPr>
          <p:cNvPr id="4" name="Text 2"/>
          <p:cNvSpPr txBox="1"/>
          <p:nvPr/>
        </p:nvSpPr>
        <p:spPr>
          <a:xfrm>
            <a:off x="548640" y="1481328"/>
            <a:ext cx="5394960" cy="640080"/>
          </a:xfrm>
          <a:prstGeom prst="rect">
            <a:avLst/>
          </a:prstGeom>
          <a:noFill/>
          <a:ln/>
        </p:spPr>
        <p:txBody>
          <a:bodyPr wrap="square" lIns="0" tIns="0" rIns="0" bIns="0" rtlCol="0" anchor="t"/>
          <a:lstStyle/>
          <a:p>
            <a:pPr indent="0" marL="0">
              <a:buNone/>
            </a:pPr>
            <a:r>
              <a:rPr lang="en-US" sz="1800" i="1" dirty="0">
                <a:solidFill>
                  <a:schemeClr val="bg1"/>
                </a:solidFill>
              </a:rPr>
              <a:t>Queue Analytics, SLA Recovery &amp; Workforce Capacity Optimization</a:t>
            </a:r>
            <a:endParaRPr lang="en-US" sz="1800" dirty="0"/>
          </a:p>
        </p:txBody>
      </p:sp>
      <p:sp>
        <p:nvSpPr>
          <p:cNvPr id="5" name="Text 3"/>
          <p:cNvSpPr txBox="1"/>
          <p:nvPr/>
        </p:nvSpPr>
        <p:spPr>
          <a:xfrm>
            <a:off x="548640" y="2212848"/>
            <a:ext cx="5394960" cy="548640"/>
          </a:xfrm>
          <a:prstGeom prst="rect">
            <a:avLst/>
          </a:prstGeom>
          <a:noFill/>
          <a:ln/>
        </p:spPr>
        <p:txBody>
          <a:bodyPr wrap="square" lIns="0" tIns="0" rIns="0" bIns="0" rtlCol="0" anchor="t"/>
          <a:lstStyle/>
          <a:p>
            <a:pPr indent="0" marL="0">
              <a:buNone/>
            </a:pPr>
            <a:r>
              <a:rPr lang="en-US" sz="1400" b="1" dirty="0">
                <a:solidFill>
                  <a:schemeClr val="bg1"/>
                </a:solidFill>
              </a:rPr>
              <a:t>Wesley Taguinod</a:t>
            </a:r>
            <a:endParaRPr lang="en-US" sz="1400" dirty="0"/>
          </a:p>
          <a:p>
            <a:pPr indent="0" marL="0">
              <a:buNone/>
            </a:pPr>
            <a:r>
              <a:rPr lang="en-US" sz="1400" dirty="0">
                <a:solidFill>
                  <a:schemeClr val="bg1"/>
                </a:solidFill>
              </a:rPr>
              <a:t>Operations Business Analyst  ·  2,800 reviews, Sep 6 – Oct 5, 2026</a:t>
            </a:r>
            <a:endParaRPr lang="en-US" sz="1400" dirty="0"/>
          </a:p>
        </p:txBody>
      </p:sp>
      <p:sp>
        <p:nvSpPr>
          <p:cNvPr id="6" name="Bottom line card"/>
          <p:cNvSpPr/>
          <p:nvPr/>
        </p:nvSpPr>
        <p:spPr>
          <a:xfrm>
            <a:off x="548640" y="3063240"/>
            <a:ext cx="5394960" cy="3063240"/>
          </a:xfrm>
          <a:prstGeom prst="roundRect">
            <a:avLst>
              <a:gd name="adj" fmla="val 3582"/>
            </a:avLst>
          </a:prstGeom>
          <a:solidFill>
            <a:schemeClr val="bg1"/>
          </a:solidFill>
          <a:ln/>
          <a:effectLst>
            <a:outerShdw sx="100000" sy="100000" kx="0" ky="0" algn="bl" rotWithShape="0" blurRad="101600" dist="25400" dir="5400000">
              <a:srgbClr val="000000">
                <a:alpha val="10000"/>
              </a:srgbClr>
            </a:outerShdw>
          </a:effectLst>
        </p:spPr>
      </p:sp>
      <p:sp>
        <p:nvSpPr>
          <p:cNvPr id="7" name="Bottom line circle"/>
          <p:cNvSpPr/>
          <p:nvPr/>
        </p:nvSpPr>
        <p:spPr>
          <a:xfrm>
            <a:off x="868680" y="3310128"/>
            <a:ext cx="548640" cy="548640"/>
          </a:xfrm>
          <a:prstGeom prst="ellipse">
            <a:avLst/>
          </a:prstGeom>
          <a:solidFill>
            <a:schemeClr val="accent1"/>
          </a:solidFill>
          <a:ln/>
        </p:spPr>
      </p:sp>
      <p:pic>
        <p:nvPicPr>
          <p:cNvPr id="8" name="Bottom line icon" descr="Bottom line">    </p:cNvPr>
          <p:cNvPicPr>
            <a:picLocks noChangeAspect="1"/>
          </p:cNvPicPr>
          <p:nvPr/>
        </p:nvPicPr>
        <p:blipFill>
          <a:blip r:embed="rId1"/>
          <a:stretch>
            <a:fillRect/>
          </a:stretch>
        </p:blipFill>
        <p:spPr>
          <a:xfrm>
            <a:off x="1005840" y="3447288"/>
            <a:ext cx="274320" cy="274320"/>
          </a:xfrm>
          <a:prstGeom prst="rect">
            <a:avLst/>
          </a:prstGeom>
        </p:spPr>
      </p:pic>
      <p:sp>
        <p:nvSpPr>
          <p:cNvPr id="9" name="Text 6"/>
          <p:cNvSpPr txBox="1"/>
          <p:nvPr/>
        </p:nvSpPr>
        <p:spPr>
          <a:xfrm>
            <a:off x="1554480" y="3383280"/>
            <a:ext cx="4114800" cy="411480"/>
          </a:xfrm>
          <a:prstGeom prst="rect">
            <a:avLst/>
          </a:prstGeom>
          <a:noFill/>
          <a:ln/>
        </p:spPr>
        <p:txBody>
          <a:bodyPr wrap="square" lIns="0" tIns="0" rIns="0" bIns="0" rtlCol="0" anchor="ctr"/>
          <a:lstStyle/>
          <a:p>
            <a:pPr indent="0" marL="0">
              <a:buNone/>
            </a:pPr>
            <a:r>
              <a:rPr lang="en-US" sz="1400" b="1" spc="200" kern="0" dirty="0">
                <a:solidFill>
                  <a:schemeClr val="accent1"/>
                </a:solidFill>
              </a:rPr>
              <a:t>THE BOTTOM LINE</a:t>
            </a:r>
            <a:endParaRPr lang="en-US" sz="1400" dirty="0"/>
          </a:p>
        </p:txBody>
      </p:sp>
      <p:sp>
        <p:nvSpPr>
          <p:cNvPr id="10" name="Text 7"/>
          <p:cNvSpPr txBox="1"/>
          <p:nvPr/>
        </p:nvSpPr>
        <p:spPr>
          <a:xfrm>
            <a:off x="868680" y="4023360"/>
            <a:ext cx="4754880" cy="1920240"/>
          </a:xfrm>
          <a:prstGeom prst="rect">
            <a:avLst/>
          </a:prstGeom>
          <a:noFill/>
          <a:ln/>
        </p:spPr>
        <p:txBody>
          <a:bodyPr wrap="square" lIns="0" tIns="0" rIns="0" bIns="0" rtlCol="0" anchor="t"/>
          <a:lstStyle/>
          <a:p>
            <a:pPr indent="0" marL="0">
              <a:buNone/>
            </a:pPr>
            <a:r>
              <a:rPr lang="en-US" sz="1600" b="1" dirty="0">
                <a:solidFill>
                  <a:schemeClr val="tx1"/>
                </a:solidFill>
              </a:rPr>
              <a:t>Quality is strong and the SLA gap is not systemic. </a:t>
            </a:r>
            <a:pPr indent="0" marL="0">
              <a:buNone/>
            </a:pPr>
            <a:r>
              <a:rPr lang="en-US" sz="1600" dirty="0">
                <a:solidFill>
                  <a:schemeClr val="tx1"/>
                </a:solidFill>
              </a:rPr>
              <a:t>93% of breaches sit in Violence, Hate Speech &amp; TCO, and a 4-day high-risk mix shift (Sep 24–27) cut SLA to 41%.</a:t>
            </a:r>
            <a:endParaRPr lang="en-US" sz="1600" dirty="0"/>
          </a:p>
          <a:p>
            <a:pPr indent="0" marL="0">
              <a:buNone/>
            </a:pPr>
            <a:r>
              <a:rPr lang="en-US" sz="800" dirty="0">
                <a:solidFill>
                  <a:schemeClr val="tx1"/>
                </a:solidFill>
              </a:rPr>
              <a:t> </a:t>
            </a:r>
            <a:endParaRPr lang="en-US" sz="1600" dirty="0"/>
          </a:p>
          <a:p>
            <a:pPr indent="0" marL="0">
              <a:buNone/>
            </a:pPr>
            <a:r>
              <a:rPr lang="en-US" sz="1600" dirty="0">
                <a:solidFill>
                  <a:schemeClr val="tx1"/>
                </a:solidFill>
              </a:rPr>
              <a:t>Rebalancing existing capacity targets </a:t>
            </a:r>
            <a:pPr indent="0" marL="0">
              <a:buNone/>
            </a:pPr>
            <a:r>
              <a:rPr lang="en-US" sz="1600" b="1" dirty="0">
                <a:solidFill>
                  <a:schemeClr val="accent1"/>
                </a:solidFill>
              </a:rPr>
              <a:t>≥95% SLA within 14 days, with zero new hires.</a:t>
            </a:r>
            <a:endParaRPr lang="en-US" sz="1600" dirty="0"/>
          </a:p>
        </p:txBody>
      </p:sp>
      <p:sp>
        <p:nvSpPr>
          <p:cNvPr id="11" name="KPI Reviews handled"/>
          <p:cNvSpPr/>
          <p:nvPr/>
        </p:nvSpPr>
        <p:spPr>
          <a:xfrm>
            <a:off x="6400800" y="1481328"/>
            <a:ext cx="2483968" cy="2240280"/>
          </a:xfrm>
          <a:prstGeom prst="roundRect">
            <a:avLst>
              <a:gd name="adj" fmla="val 4898"/>
            </a:avLst>
          </a:prstGeom>
          <a:solidFill>
            <a:schemeClr val="accent4">
              <a:alpha val="55000"/>
            </a:schemeClr>
          </a:solidFill>
          <a:ln/>
        </p:spPr>
      </p:sp>
      <p:sp>
        <p:nvSpPr>
          <p:cNvPr id="12" name="Text 9"/>
          <p:cNvSpPr txBox="1"/>
          <p:nvPr/>
        </p:nvSpPr>
        <p:spPr>
          <a:xfrm>
            <a:off x="6720840" y="1755648"/>
            <a:ext cx="1843888" cy="868680"/>
          </a:xfrm>
          <a:prstGeom prst="rect">
            <a:avLst/>
          </a:prstGeom>
          <a:noFill/>
          <a:ln/>
        </p:spPr>
        <p:txBody>
          <a:bodyPr wrap="square" lIns="0" tIns="0" rIns="0" bIns="0" rtlCol="0" anchor="ctr"/>
          <a:lstStyle/>
          <a:p>
            <a:pPr indent="0" marL="0">
              <a:buNone/>
            </a:pPr>
            <a:r>
              <a:rPr lang="en-US" sz="4800" b="1" dirty="0">
                <a:solidFill>
                  <a:schemeClr val="accent2"/>
                </a:solidFill>
                <a:latin typeface="Arial" pitchFamily="34" charset="0"/>
                <a:ea typeface="Arial" pitchFamily="34" charset="-122"/>
                <a:cs typeface="Arial" pitchFamily="34" charset="-120"/>
              </a:rPr>
              <a:t>2,800</a:t>
            </a:r>
            <a:endParaRPr lang="en-US" sz="4800" dirty="0"/>
          </a:p>
        </p:txBody>
      </p:sp>
      <p:sp>
        <p:nvSpPr>
          <p:cNvPr id="13" name="Text 10"/>
          <p:cNvSpPr txBox="1"/>
          <p:nvPr/>
        </p:nvSpPr>
        <p:spPr>
          <a:xfrm>
            <a:off x="6720840" y="2670048"/>
            <a:ext cx="1935328" cy="365760"/>
          </a:xfrm>
          <a:prstGeom prst="rect">
            <a:avLst/>
          </a:prstGeom>
          <a:noFill/>
          <a:ln/>
        </p:spPr>
        <p:txBody>
          <a:bodyPr wrap="square" lIns="0" tIns="0" rIns="0" bIns="0" rtlCol="0" anchor="t"/>
          <a:lstStyle/>
          <a:p>
            <a:pPr indent="0" marL="0">
              <a:buNone/>
            </a:pPr>
            <a:r>
              <a:rPr lang="en-US" sz="1500" b="1" dirty="0">
                <a:solidFill>
                  <a:schemeClr val="bg1"/>
                </a:solidFill>
              </a:rPr>
              <a:t>Reviews handled</a:t>
            </a:r>
            <a:endParaRPr lang="en-US" sz="1500" dirty="0"/>
          </a:p>
        </p:txBody>
      </p:sp>
      <p:sp>
        <p:nvSpPr>
          <p:cNvPr id="14" name="Text 11"/>
          <p:cNvSpPr txBox="1"/>
          <p:nvPr/>
        </p:nvSpPr>
        <p:spPr>
          <a:xfrm>
            <a:off x="6720840" y="3054096"/>
            <a:ext cx="1843888" cy="502920"/>
          </a:xfrm>
          <a:prstGeom prst="rect">
            <a:avLst/>
          </a:prstGeom>
          <a:noFill/>
          <a:ln/>
        </p:spPr>
        <p:txBody>
          <a:bodyPr wrap="square" lIns="0" tIns="0" rIns="0" bIns="0" rtlCol="0" anchor="t"/>
          <a:lstStyle/>
          <a:p>
            <a:pPr indent="0" marL="0">
              <a:buNone/>
            </a:pPr>
            <a:r>
              <a:rPr lang="en-US" sz="1200" dirty="0">
                <a:solidFill>
                  <a:schemeClr val="bg1"/>
                </a:solidFill>
              </a:rPr>
              <a:t>47.8% resolved by automated HITL filters</a:t>
            </a:r>
            <a:endParaRPr lang="en-US" sz="1200" dirty="0"/>
          </a:p>
        </p:txBody>
      </p:sp>
      <p:sp>
        <p:nvSpPr>
          <p:cNvPr id="15" name="KPI SLA attainment"/>
          <p:cNvSpPr/>
          <p:nvPr/>
        </p:nvSpPr>
        <p:spPr>
          <a:xfrm>
            <a:off x="9159088" y="1481328"/>
            <a:ext cx="2483968" cy="2240280"/>
          </a:xfrm>
          <a:prstGeom prst="roundRect">
            <a:avLst>
              <a:gd name="adj" fmla="val 4898"/>
            </a:avLst>
          </a:prstGeom>
          <a:solidFill>
            <a:schemeClr val="accent4">
              <a:alpha val="55000"/>
            </a:schemeClr>
          </a:solidFill>
          <a:ln/>
        </p:spPr>
      </p:sp>
      <p:sp>
        <p:nvSpPr>
          <p:cNvPr id="16" name="Text 13"/>
          <p:cNvSpPr txBox="1"/>
          <p:nvPr/>
        </p:nvSpPr>
        <p:spPr>
          <a:xfrm>
            <a:off x="9479128" y="1755648"/>
            <a:ext cx="1843888" cy="868680"/>
          </a:xfrm>
          <a:prstGeom prst="rect">
            <a:avLst/>
          </a:prstGeom>
          <a:noFill/>
          <a:ln/>
        </p:spPr>
        <p:txBody>
          <a:bodyPr wrap="square" lIns="0" tIns="0" rIns="0" bIns="0" rtlCol="0" anchor="ctr"/>
          <a:lstStyle/>
          <a:p>
            <a:pPr indent="0" marL="0">
              <a:buNone/>
            </a:pPr>
            <a:r>
              <a:rPr lang="en-US" sz="4800" b="1" dirty="0">
                <a:solidFill>
                  <a:schemeClr val="accent5"/>
                </a:solidFill>
                <a:latin typeface="Arial" pitchFamily="34" charset="0"/>
                <a:ea typeface="Arial" pitchFamily="34" charset="-122"/>
                <a:cs typeface="Arial" pitchFamily="34" charset="-120"/>
              </a:rPr>
              <a:t>78.2%</a:t>
            </a:r>
            <a:endParaRPr lang="en-US" sz="4800" dirty="0"/>
          </a:p>
        </p:txBody>
      </p:sp>
      <p:sp>
        <p:nvSpPr>
          <p:cNvPr id="17" name="Text 14"/>
          <p:cNvSpPr txBox="1"/>
          <p:nvPr/>
        </p:nvSpPr>
        <p:spPr>
          <a:xfrm>
            <a:off x="9479128" y="2670048"/>
            <a:ext cx="1935328" cy="365760"/>
          </a:xfrm>
          <a:prstGeom prst="rect">
            <a:avLst/>
          </a:prstGeom>
          <a:noFill/>
          <a:ln/>
        </p:spPr>
        <p:txBody>
          <a:bodyPr wrap="square" lIns="0" tIns="0" rIns="0" bIns="0" rtlCol="0" anchor="t"/>
          <a:lstStyle/>
          <a:p>
            <a:pPr indent="0" marL="0">
              <a:buNone/>
            </a:pPr>
            <a:r>
              <a:rPr lang="en-US" sz="1500" b="1" dirty="0">
                <a:solidFill>
                  <a:schemeClr val="bg1"/>
                </a:solidFill>
              </a:rPr>
              <a:t>SLA attainment</a:t>
            </a:r>
            <a:endParaRPr lang="en-US" sz="1500" dirty="0"/>
          </a:p>
        </p:txBody>
      </p:sp>
      <p:sp>
        <p:nvSpPr>
          <p:cNvPr id="18" name="Text 15"/>
          <p:cNvSpPr txBox="1"/>
          <p:nvPr/>
        </p:nvSpPr>
        <p:spPr>
          <a:xfrm>
            <a:off x="9479128" y="3054096"/>
            <a:ext cx="1843888" cy="502920"/>
          </a:xfrm>
          <a:prstGeom prst="rect">
            <a:avLst/>
          </a:prstGeom>
          <a:noFill/>
          <a:ln/>
        </p:spPr>
        <p:txBody>
          <a:bodyPr wrap="square" lIns="0" tIns="0" rIns="0" bIns="0" rtlCol="0" anchor="t"/>
          <a:lstStyle/>
          <a:p>
            <a:pPr indent="0" marL="0">
              <a:buNone/>
            </a:pPr>
            <a:r>
              <a:rPr lang="en-US" sz="1200" dirty="0">
                <a:solidFill>
                  <a:schemeClr val="bg1"/>
                </a:solidFill>
              </a:rPr>
              <a:t>vs. 95.0% contractual target</a:t>
            </a:r>
            <a:endParaRPr lang="en-US" sz="1200" dirty="0"/>
          </a:p>
        </p:txBody>
      </p:sp>
      <p:sp>
        <p:nvSpPr>
          <p:cNvPr id="19" name="KPI Fleet weighted AHT"/>
          <p:cNvSpPr/>
          <p:nvPr/>
        </p:nvSpPr>
        <p:spPr>
          <a:xfrm>
            <a:off x="6400800" y="3995928"/>
            <a:ext cx="2483968" cy="2240280"/>
          </a:xfrm>
          <a:prstGeom prst="roundRect">
            <a:avLst>
              <a:gd name="adj" fmla="val 4898"/>
            </a:avLst>
          </a:prstGeom>
          <a:solidFill>
            <a:schemeClr val="accent4">
              <a:alpha val="55000"/>
            </a:schemeClr>
          </a:solidFill>
          <a:ln/>
        </p:spPr>
      </p:sp>
      <p:sp>
        <p:nvSpPr>
          <p:cNvPr id="20" name="Text 17"/>
          <p:cNvSpPr txBox="1"/>
          <p:nvPr/>
        </p:nvSpPr>
        <p:spPr>
          <a:xfrm>
            <a:off x="6720840" y="4270248"/>
            <a:ext cx="1843888" cy="868680"/>
          </a:xfrm>
          <a:prstGeom prst="rect">
            <a:avLst/>
          </a:prstGeom>
          <a:noFill/>
          <a:ln/>
        </p:spPr>
        <p:txBody>
          <a:bodyPr wrap="square" lIns="0" tIns="0" rIns="0" bIns="0" rtlCol="0" anchor="ctr"/>
          <a:lstStyle/>
          <a:p>
            <a:pPr indent="0" marL="0">
              <a:buNone/>
            </a:pPr>
            <a:r>
              <a:rPr lang="en-US" sz="4800" b="1" dirty="0">
                <a:solidFill>
                  <a:schemeClr val="accent2"/>
                </a:solidFill>
                <a:latin typeface="Arial" pitchFamily="34" charset="0"/>
                <a:ea typeface="Arial" pitchFamily="34" charset="-122"/>
                <a:cs typeface="Arial" pitchFamily="34" charset="-120"/>
              </a:rPr>
              <a:t>52.5s</a:t>
            </a:r>
            <a:endParaRPr lang="en-US" sz="4800" dirty="0"/>
          </a:p>
        </p:txBody>
      </p:sp>
      <p:sp>
        <p:nvSpPr>
          <p:cNvPr id="21" name="Text 18"/>
          <p:cNvSpPr txBox="1"/>
          <p:nvPr/>
        </p:nvSpPr>
        <p:spPr>
          <a:xfrm>
            <a:off x="6720840" y="5184648"/>
            <a:ext cx="1935328" cy="365760"/>
          </a:xfrm>
          <a:prstGeom prst="rect">
            <a:avLst/>
          </a:prstGeom>
          <a:noFill/>
          <a:ln/>
        </p:spPr>
        <p:txBody>
          <a:bodyPr wrap="square" lIns="0" tIns="0" rIns="0" bIns="0" rtlCol="0" anchor="t"/>
          <a:lstStyle/>
          <a:p>
            <a:pPr indent="0" marL="0">
              <a:buNone/>
            </a:pPr>
            <a:r>
              <a:rPr lang="en-US" sz="1500" b="1" dirty="0">
                <a:solidFill>
                  <a:schemeClr val="bg1"/>
                </a:solidFill>
              </a:rPr>
              <a:t>Fleet weighted AHT</a:t>
            </a:r>
            <a:endParaRPr lang="en-US" sz="1500" dirty="0"/>
          </a:p>
        </p:txBody>
      </p:sp>
      <p:sp>
        <p:nvSpPr>
          <p:cNvPr id="22" name="Text 19"/>
          <p:cNvSpPr txBox="1"/>
          <p:nvPr/>
        </p:nvSpPr>
        <p:spPr>
          <a:xfrm>
            <a:off x="6720840" y="5568696"/>
            <a:ext cx="1843888" cy="502920"/>
          </a:xfrm>
          <a:prstGeom prst="rect">
            <a:avLst/>
          </a:prstGeom>
          <a:noFill/>
          <a:ln/>
        </p:spPr>
        <p:txBody>
          <a:bodyPr wrap="square" lIns="0" tIns="0" rIns="0" bIns="0" rtlCol="0" anchor="t"/>
          <a:lstStyle/>
          <a:p>
            <a:pPr indent="0" marL="0">
              <a:buNone/>
            </a:pPr>
            <a:r>
              <a:rPr lang="en-US" sz="1200" dirty="0">
                <a:solidFill>
                  <a:schemeClr val="bg1"/>
                </a:solidFill>
              </a:rPr>
              <a:t>Duration-weighted across all queues</a:t>
            </a:r>
            <a:endParaRPr lang="en-US" sz="1200" dirty="0"/>
          </a:p>
        </p:txBody>
      </p:sp>
      <p:sp>
        <p:nvSpPr>
          <p:cNvPr id="23" name="KPI Avg. audited QA score"/>
          <p:cNvSpPr/>
          <p:nvPr/>
        </p:nvSpPr>
        <p:spPr>
          <a:xfrm>
            <a:off x="9159088" y="3995928"/>
            <a:ext cx="2483968" cy="2240280"/>
          </a:xfrm>
          <a:prstGeom prst="roundRect">
            <a:avLst>
              <a:gd name="adj" fmla="val 4898"/>
            </a:avLst>
          </a:prstGeom>
          <a:solidFill>
            <a:schemeClr val="accent4">
              <a:alpha val="55000"/>
            </a:schemeClr>
          </a:solidFill>
          <a:ln/>
        </p:spPr>
      </p:sp>
      <p:sp>
        <p:nvSpPr>
          <p:cNvPr id="24" name="Text 21"/>
          <p:cNvSpPr txBox="1"/>
          <p:nvPr/>
        </p:nvSpPr>
        <p:spPr>
          <a:xfrm>
            <a:off x="9479128" y="4270248"/>
            <a:ext cx="1843888" cy="868680"/>
          </a:xfrm>
          <a:prstGeom prst="rect">
            <a:avLst/>
          </a:prstGeom>
          <a:noFill/>
          <a:ln/>
        </p:spPr>
        <p:txBody>
          <a:bodyPr wrap="square" lIns="0" tIns="0" rIns="0" bIns="0" rtlCol="0" anchor="ctr"/>
          <a:lstStyle/>
          <a:p>
            <a:pPr indent="0" marL="0">
              <a:buNone/>
            </a:pPr>
            <a:r>
              <a:rPr lang="en-US" sz="4800" b="1" dirty="0">
                <a:solidFill>
                  <a:schemeClr val="accent2"/>
                </a:solidFill>
                <a:latin typeface="Arial" pitchFamily="34" charset="0"/>
                <a:ea typeface="Arial" pitchFamily="34" charset="-122"/>
                <a:cs typeface="Arial" pitchFamily="34" charset="-120"/>
              </a:rPr>
              <a:t>98.6%</a:t>
            </a:r>
            <a:endParaRPr lang="en-US" sz="4800" dirty="0"/>
          </a:p>
        </p:txBody>
      </p:sp>
      <p:sp>
        <p:nvSpPr>
          <p:cNvPr id="25" name="Text 22"/>
          <p:cNvSpPr txBox="1"/>
          <p:nvPr/>
        </p:nvSpPr>
        <p:spPr>
          <a:xfrm>
            <a:off x="9479128" y="5184648"/>
            <a:ext cx="1935328" cy="365760"/>
          </a:xfrm>
          <a:prstGeom prst="rect">
            <a:avLst/>
          </a:prstGeom>
          <a:noFill/>
          <a:ln/>
        </p:spPr>
        <p:txBody>
          <a:bodyPr wrap="square" lIns="0" tIns="0" rIns="0" bIns="0" rtlCol="0" anchor="t"/>
          <a:lstStyle/>
          <a:p>
            <a:pPr indent="0" marL="0">
              <a:buNone/>
            </a:pPr>
            <a:r>
              <a:rPr lang="en-US" sz="1500" b="1" dirty="0">
                <a:solidFill>
                  <a:schemeClr val="bg1"/>
                </a:solidFill>
              </a:rPr>
              <a:t>Avg. audited QA score</a:t>
            </a:r>
            <a:endParaRPr lang="en-US" sz="1500" dirty="0"/>
          </a:p>
        </p:txBody>
      </p:sp>
      <p:sp>
        <p:nvSpPr>
          <p:cNvPr id="26" name="Text 23"/>
          <p:cNvSpPr txBox="1"/>
          <p:nvPr/>
        </p:nvSpPr>
        <p:spPr>
          <a:xfrm>
            <a:off x="9479128" y="5568696"/>
            <a:ext cx="1843888" cy="502920"/>
          </a:xfrm>
          <a:prstGeom prst="rect">
            <a:avLst/>
          </a:prstGeom>
          <a:noFill/>
          <a:ln/>
        </p:spPr>
        <p:txBody>
          <a:bodyPr wrap="square" lIns="0" tIns="0" rIns="0" bIns="0" rtlCol="0" anchor="t"/>
          <a:lstStyle/>
          <a:p>
            <a:pPr indent="0" marL="0">
              <a:buNone/>
            </a:pPr>
            <a:r>
              <a:rPr lang="en-US" sz="1200" dirty="0">
                <a:solidFill>
                  <a:schemeClr val="bg1"/>
                </a:solidFill>
              </a:rPr>
              <a:t>1.18% false positives · 0.59% false negatives</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1"/>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8229600" cy="292608"/>
          </a:xfrm>
          <a:prstGeom prst="rect">
            <a:avLst/>
          </a:prstGeom>
          <a:noFill/>
          <a:ln/>
        </p:spPr>
        <p:txBody>
          <a:bodyPr wrap="square" lIns="0" tIns="0" rIns="0" bIns="0" rtlCol="0" anchor="ctr"/>
          <a:lstStyle/>
          <a:p>
            <a:pPr indent="0" marL="0">
              <a:buNone/>
            </a:pPr>
            <a:r>
              <a:rPr lang="en-US" sz="1300" b="1" spc="200" kern="0" dirty="0">
                <a:solidFill>
                  <a:schemeClr val="accent3"/>
                </a:solidFill>
              </a:rPr>
              <a:t>WHAT?  ·  BASELINE OPERATIONS</a:t>
            </a:r>
            <a:endParaRPr lang="en-US" sz="1300" dirty="0"/>
          </a:p>
        </p:txBody>
      </p:sp>
      <p:sp>
        <p:nvSpPr>
          <p:cNvPr id="3" name="Text 1"/>
          <p:cNvSpPr/>
          <p:nvPr>
            <p:ph idx="102" type="title" hasCustomPrompt="1"/>
          </p:nvPr>
        </p:nvSpPr>
        <p:spPr>
          <a:xfrm>
            <a:off x="548640" y="658368"/>
            <a:ext cx="11094415" cy="640080"/>
          </a:xfrm>
          <a:prstGeom prst="rect">
            <a:avLst/>
          </a:prstGeom>
          <a:noFill/>
          <a:ln/>
        </p:spPr>
        <p:txBody>
          <a:bodyPr wrap="square" lIns="0" tIns="0" rIns="0" bIns="0" rtlCol="0" anchor="ctr"/>
          <a:lstStyle/>
          <a:p>
            <a:pPr algn="l" indent="0" marL="0">
              <a:buNone/>
            </a:pPr>
            <a:r>
              <a:rPr lang="en-US" sz="3200" b="1" dirty="0">
                <a:solidFill>
                  <a:schemeClr val="accent1"/>
                </a:solidFill>
              </a:rPr>
              <a:t>Baseline Operations: Queue &amp; Modality Breakdown</a:t>
            </a:r>
            <a:endParaRPr lang="en-US" sz="3200" dirty="0"/>
          </a:p>
        </p:txBody>
      </p:sp>
      <p:sp>
        <p:nvSpPr>
          <p:cNvPr id="4" name="Throughput reviews"/>
          <p:cNvSpPr/>
          <p:nvPr/>
        </p:nvSpPr>
        <p:spPr>
          <a:xfrm>
            <a:off x="548640" y="1481328"/>
            <a:ext cx="2567864" cy="658368"/>
          </a:xfrm>
          <a:prstGeom prst="roundRect">
            <a:avLst>
              <a:gd name="adj" fmla="val 16667"/>
            </a:avLst>
          </a:prstGeom>
          <a:solidFill>
            <a:schemeClr val="bg1"/>
          </a:solidFill>
          <a:ln/>
          <a:effectLst>
            <a:outerShdw sx="100000" sy="100000" kx="0" ky="0" algn="bl" rotWithShape="0" blurRad="101600" dist="25400" dir="5400000">
              <a:srgbClr val="000000">
                <a:alpha val="10000"/>
              </a:srgbClr>
            </a:outerShdw>
          </a:effectLst>
        </p:spPr>
      </p:sp>
      <p:sp>
        <p:nvSpPr>
          <p:cNvPr id="5" name="Text 3"/>
          <p:cNvSpPr txBox="1"/>
          <p:nvPr/>
        </p:nvSpPr>
        <p:spPr>
          <a:xfrm>
            <a:off x="822960" y="1481328"/>
            <a:ext cx="2019224" cy="658368"/>
          </a:xfrm>
          <a:prstGeom prst="rect">
            <a:avLst/>
          </a:prstGeom>
          <a:noFill/>
          <a:ln/>
        </p:spPr>
        <p:txBody>
          <a:bodyPr wrap="square" lIns="0" tIns="0" rIns="0" bIns="0" rtlCol="0" anchor="ctr"/>
          <a:lstStyle/>
          <a:p>
            <a:pPr indent="0" marL="0">
              <a:buNone/>
            </a:pPr>
            <a:r>
              <a:rPr lang="en-US" sz="2400" b="1" dirty="0">
                <a:solidFill>
                  <a:schemeClr val="accent1"/>
                </a:solidFill>
                <a:latin typeface="Arial" pitchFamily="34" charset="0"/>
                <a:ea typeface="Arial" pitchFamily="34" charset="-122"/>
                <a:cs typeface="Arial" pitchFamily="34" charset="-120"/>
              </a:rPr>
              <a:t>2,800  </a:t>
            </a:r>
            <a:pPr indent="0" marL="0">
              <a:buNone/>
            </a:pPr>
            <a:r>
              <a:rPr lang="en-US" sz="1400" dirty="0">
                <a:solidFill>
                  <a:schemeClr val="accent4"/>
                </a:solidFill>
              </a:rPr>
              <a:t>reviews</a:t>
            </a:r>
            <a:endParaRPr lang="en-US" sz="1400" dirty="0"/>
          </a:p>
        </p:txBody>
      </p:sp>
      <p:sp>
        <p:nvSpPr>
          <p:cNvPr id="6" name="Throughput active agents"/>
          <p:cNvSpPr/>
          <p:nvPr/>
        </p:nvSpPr>
        <p:spPr>
          <a:xfrm>
            <a:off x="3390824" y="1481328"/>
            <a:ext cx="2567864" cy="658368"/>
          </a:xfrm>
          <a:prstGeom prst="roundRect">
            <a:avLst>
              <a:gd name="adj" fmla="val 16667"/>
            </a:avLst>
          </a:prstGeom>
          <a:solidFill>
            <a:schemeClr val="bg1"/>
          </a:solidFill>
          <a:ln/>
          <a:effectLst>
            <a:outerShdw sx="100000" sy="100000" kx="0" ky="0" algn="bl" rotWithShape="0" blurRad="101600" dist="25400" dir="5400000">
              <a:srgbClr val="000000">
                <a:alpha val="10000"/>
              </a:srgbClr>
            </a:outerShdw>
          </a:effectLst>
        </p:spPr>
      </p:sp>
      <p:sp>
        <p:nvSpPr>
          <p:cNvPr id="7" name="Text 5"/>
          <p:cNvSpPr txBox="1"/>
          <p:nvPr/>
        </p:nvSpPr>
        <p:spPr>
          <a:xfrm>
            <a:off x="3665144" y="1481328"/>
            <a:ext cx="2019224" cy="658368"/>
          </a:xfrm>
          <a:prstGeom prst="rect">
            <a:avLst/>
          </a:prstGeom>
          <a:noFill/>
          <a:ln/>
        </p:spPr>
        <p:txBody>
          <a:bodyPr wrap="square" lIns="0" tIns="0" rIns="0" bIns="0" rtlCol="0" anchor="ctr"/>
          <a:lstStyle/>
          <a:p>
            <a:pPr indent="0" marL="0">
              <a:buNone/>
            </a:pPr>
            <a:r>
              <a:rPr lang="en-US" sz="2400" b="1" dirty="0">
                <a:solidFill>
                  <a:schemeClr val="accent1"/>
                </a:solidFill>
                <a:latin typeface="Arial" pitchFamily="34" charset="0"/>
                <a:ea typeface="Arial" pitchFamily="34" charset="-122"/>
                <a:cs typeface="Arial" pitchFamily="34" charset="-120"/>
              </a:rPr>
              <a:t>15  </a:t>
            </a:r>
            <a:pPr indent="0" marL="0">
              <a:buNone/>
            </a:pPr>
            <a:r>
              <a:rPr lang="en-US" sz="1400" dirty="0">
                <a:solidFill>
                  <a:schemeClr val="accent4"/>
                </a:solidFill>
              </a:rPr>
              <a:t>active agents</a:t>
            </a:r>
            <a:endParaRPr lang="en-US" sz="1400" dirty="0"/>
          </a:p>
        </p:txBody>
      </p:sp>
      <p:sp>
        <p:nvSpPr>
          <p:cNvPr id="8" name="Throughput queues"/>
          <p:cNvSpPr/>
          <p:nvPr/>
        </p:nvSpPr>
        <p:spPr>
          <a:xfrm>
            <a:off x="6233008" y="1481328"/>
            <a:ext cx="2567864" cy="658368"/>
          </a:xfrm>
          <a:prstGeom prst="roundRect">
            <a:avLst>
              <a:gd name="adj" fmla="val 16667"/>
            </a:avLst>
          </a:prstGeom>
          <a:solidFill>
            <a:schemeClr val="bg1"/>
          </a:solidFill>
          <a:ln/>
          <a:effectLst>
            <a:outerShdw sx="100000" sy="100000" kx="0" ky="0" algn="bl" rotWithShape="0" blurRad="101600" dist="25400" dir="5400000">
              <a:srgbClr val="000000">
                <a:alpha val="10000"/>
              </a:srgbClr>
            </a:outerShdw>
          </a:effectLst>
        </p:spPr>
      </p:sp>
      <p:sp>
        <p:nvSpPr>
          <p:cNvPr id="9" name="Text 7"/>
          <p:cNvSpPr txBox="1"/>
          <p:nvPr/>
        </p:nvSpPr>
        <p:spPr>
          <a:xfrm>
            <a:off x="6507328" y="1481328"/>
            <a:ext cx="2019224" cy="658368"/>
          </a:xfrm>
          <a:prstGeom prst="rect">
            <a:avLst/>
          </a:prstGeom>
          <a:noFill/>
          <a:ln/>
        </p:spPr>
        <p:txBody>
          <a:bodyPr wrap="square" lIns="0" tIns="0" rIns="0" bIns="0" rtlCol="0" anchor="ctr"/>
          <a:lstStyle/>
          <a:p>
            <a:pPr indent="0" marL="0">
              <a:buNone/>
            </a:pPr>
            <a:r>
              <a:rPr lang="en-US" sz="2400" b="1" dirty="0">
                <a:solidFill>
                  <a:schemeClr val="accent1"/>
                </a:solidFill>
                <a:latin typeface="Arial" pitchFamily="34" charset="0"/>
                <a:ea typeface="Arial" pitchFamily="34" charset="-122"/>
                <a:cs typeface="Arial" pitchFamily="34" charset="-120"/>
              </a:rPr>
              <a:t>5  </a:t>
            </a:r>
            <a:pPr indent="0" marL="0">
              <a:buNone/>
            </a:pPr>
            <a:r>
              <a:rPr lang="en-US" sz="1400" dirty="0">
                <a:solidFill>
                  <a:schemeClr val="accent4"/>
                </a:solidFill>
              </a:rPr>
              <a:t>queues</a:t>
            </a:r>
            <a:endParaRPr lang="en-US" sz="1400" dirty="0"/>
          </a:p>
        </p:txBody>
      </p:sp>
      <p:sp>
        <p:nvSpPr>
          <p:cNvPr id="10" name="Throughput media modalities"/>
          <p:cNvSpPr/>
          <p:nvPr/>
        </p:nvSpPr>
        <p:spPr>
          <a:xfrm>
            <a:off x="9075191" y="1481328"/>
            <a:ext cx="2567864" cy="658368"/>
          </a:xfrm>
          <a:prstGeom prst="roundRect">
            <a:avLst>
              <a:gd name="adj" fmla="val 16667"/>
            </a:avLst>
          </a:prstGeom>
          <a:solidFill>
            <a:schemeClr val="bg1"/>
          </a:solidFill>
          <a:ln/>
          <a:effectLst>
            <a:outerShdw sx="100000" sy="100000" kx="0" ky="0" algn="bl" rotWithShape="0" blurRad="101600" dist="25400" dir="5400000">
              <a:srgbClr val="000000">
                <a:alpha val="10000"/>
              </a:srgbClr>
            </a:outerShdw>
          </a:effectLst>
        </p:spPr>
      </p:sp>
      <p:sp>
        <p:nvSpPr>
          <p:cNvPr id="11" name="Text 9"/>
          <p:cNvSpPr txBox="1"/>
          <p:nvPr/>
        </p:nvSpPr>
        <p:spPr>
          <a:xfrm>
            <a:off x="9349511" y="1481328"/>
            <a:ext cx="2019224" cy="658368"/>
          </a:xfrm>
          <a:prstGeom prst="rect">
            <a:avLst/>
          </a:prstGeom>
          <a:noFill/>
          <a:ln/>
        </p:spPr>
        <p:txBody>
          <a:bodyPr wrap="square" lIns="0" tIns="0" rIns="0" bIns="0" rtlCol="0" anchor="ctr"/>
          <a:lstStyle/>
          <a:p>
            <a:pPr indent="0" marL="0">
              <a:buNone/>
            </a:pPr>
            <a:r>
              <a:rPr lang="en-US" sz="2400" b="1" dirty="0">
                <a:solidFill>
                  <a:schemeClr val="accent1"/>
                </a:solidFill>
                <a:latin typeface="Arial" pitchFamily="34" charset="0"/>
                <a:ea typeface="Arial" pitchFamily="34" charset="-122"/>
                <a:cs typeface="Arial" pitchFamily="34" charset="-120"/>
              </a:rPr>
              <a:t>4  </a:t>
            </a:r>
            <a:pPr indent="0" marL="0">
              <a:buNone/>
            </a:pPr>
            <a:r>
              <a:rPr lang="en-US" sz="1400" dirty="0">
                <a:solidFill>
                  <a:schemeClr val="accent4"/>
                </a:solidFill>
              </a:rPr>
              <a:t>media modalities</a:t>
            </a:r>
            <a:endParaRPr lang="en-US" sz="1400" dirty="0"/>
          </a:p>
        </p:txBody>
      </p:sp>
      <p:sp>
        <p:nvSpPr>
          <p:cNvPr id="12" name="Queue SLA card"/>
          <p:cNvSpPr/>
          <p:nvPr/>
        </p:nvSpPr>
        <p:spPr>
          <a:xfrm>
            <a:off x="548640" y="2414016"/>
            <a:ext cx="6583680" cy="3767328"/>
          </a:xfrm>
          <a:prstGeom prst="roundRect">
            <a:avLst>
              <a:gd name="adj" fmla="val 2913"/>
            </a:avLst>
          </a:prstGeom>
          <a:solidFill>
            <a:schemeClr val="bg1"/>
          </a:solidFill>
          <a:ln/>
          <a:effectLst>
            <a:outerShdw sx="100000" sy="100000" kx="0" ky="0" algn="bl" rotWithShape="0" blurRad="101600" dist="25400" dir="5400000">
              <a:srgbClr val="000000">
                <a:alpha val="10000"/>
              </a:srgbClr>
            </a:outerShdw>
          </a:effectLst>
        </p:spPr>
      </p:sp>
      <p:sp>
        <p:nvSpPr>
          <p:cNvPr id="13" name="Text 11"/>
          <p:cNvSpPr txBox="1"/>
          <p:nvPr/>
        </p:nvSpPr>
        <p:spPr>
          <a:xfrm>
            <a:off x="868680" y="2642616"/>
            <a:ext cx="5943600" cy="365760"/>
          </a:xfrm>
          <a:prstGeom prst="rect">
            <a:avLst/>
          </a:prstGeom>
          <a:noFill/>
          <a:ln/>
        </p:spPr>
        <p:txBody>
          <a:bodyPr wrap="square" lIns="0" tIns="0" rIns="0" bIns="0" rtlCol="0" anchor="t"/>
          <a:lstStyle/>
          <a:p>
            <a:pPr indent="0" marL="0">
              <a:buNone/>
            </a:pPr>
            <a:r>
              <a:rPr lang="en-US" sz="1600" b="1" dirty="0">
                <a:solidFill>
                  <a:schemeClr val="accent1"/>
                </a:solidFill>
              </a:rPr>
              <a:t>Queue SLA attainment vs. 95.0% contractual target</a:t>
            </a:r>
            <a:endParaRPr lang="en-US" sz="1600" dirty="0"/>
          </a:p>
        </p:txBody>
      </p:sp>
      <p:graphicFrame>
        <p:nvGraphicFramePr>
          <p:cNvPr id="14" name="Queue SLA chart" descr="Horizontal bar chart of SLA attainment by queue against a 95% target"/>
          <p:cNvGraphicFramePr/>
          <p:nvPr/>
        </p:nvGraphicFramePr>
        <p:xfrm>
          <a:off x="731520" y="3374136"/>
          <a:ext cx="6217920" cy="2304288"/>
        </p:xfrm>
        <a:graphic xmlns:a="http://schemas.openxmlformats.org/drawingml/2006/main">
          <a:graphicData uri="http://schemas.openxmlformats.org/drawingml/2006/chart">
            <c:chart xmlns:c="http://schemas.openxmlformats.org/drawingml/2006/chart" r:id="rId1"/>
          </a:graphicData>
        </a:graphic>
      </p:graphicFrame>
      <p:sp>
        <p:nvSpPr>
          <p:cNvPr id="15" name="95% target line"/>
          <p:cNvSpPr/>
          <p:nvPr/>
        </p:nvSpPr>
        <p:spPr>
          <a:xfrm>
            <a:off x="6197072" y="3420588"/>
            <a:ext cx="0" cy="2165665"/>
          </a:xfrm>
          <a:prstGeom prst="line">
            <a:avLst/>
          </a:prstGeom>
          <a:noFill/>
          <a:ln w="19050">
            <a:solidFill>
              <a:schemeClr val="accent1"/>
            </a:solidFill>
            <a:prstDash val="dash"/>
          </a:ln>
        </p:spPr>
      </p:sp>
      <p:sp>
        <p:nvSpPr>
          <p:cNvPr id="16" name="Text 13"/>
          <p:cNvSpPr txBox="1"/>
          <p:nvPr/>
        </p:nvSpPr>
        <p:spPr>
          <a:xfrm>
            <a:off x="5648432" y="3099816"/>
            <a:ext cx="1097280" cy="237744"/>
          </a:xfrm>
          <a:prstGeom prst="rect">
            <a:avLst/>
          </a:prstGeom>
          <a:noFill/>
          <a:ln/>
        </p:spPr>
        <p:txBody>
          <a:bodyPr wrap="square" lIns="0" tIns="0" rIns="0" bIns="0" rtlCol="0" anchor="t"/>
          <a:lstStyle/>
          <a:p>
            <a:pPr algn="ctr" indent="0" marL="0">
              <a:buNone/>
            </a:pPr>
            <a:r>
              <a:rPr lang="en-US" sz="1100" b="1" dirty="0">
                <a:solidFill>
                  <a:schemeClr val="accent1"/>
                </a:solidFill>
              </a:rPr>
              <a:t>95% target</a:t>
            </a:r>
            <a:endParaRPr lang="en-US" sz="1100" dirty="0"/>
          </a:p>
        </p:txBody>
      </p:sp>
      <p:sp>
        <p:nvSpPr>
          <p:cNvPr id="17" name="Text 14"/>
          <p:cNvSpPr txBox="1"/>
          <p:nvPr/>
        </p:nvSpPr>
        <p:spPr>
          <a:xfrm>
            <a:off x="868680" y="5769864"/>
            <a:ext cx="5943600" cy="274320"/>
          </a:xfrm>
          <a:prstGeom prst="rect">
            <a:avLst/>
          </a:prstGeom>
          <a:noFill/>
          <a:ln/>
        </p:spPr>
        <p:txBody>
          <a:bodyPr wrap="square" lIns="0" tIns="0" rIns="0" bIns="0" rtlCol="0" anchor="t"/>
          <a:lstStyle/>
          <a:p>
            <a:pPr indent="0" marL="0">
              <a:buNone/>
            </a:pPr>
            <a:r>
              <a:rPr lang="en-US" sz="1100" dirty="0">
                <a:solidFill>
                  <a:schemeClr val="accent4"/>
                </a:solidFill>
              </a:rPr>
              <a:t>Spam &amp; Fraud: 1,346 reviews · 12–36s AHT   |   Contextual queues: 1,454 reviews · 44–110s AHT</a:t>
            </a:r>
            <a:endParaRPr lang="en-US" sz="1100" dirty="0"/>
          </a:p>
        </p:txBody>
      </p:sp>
      <p:sp>
        <p:nvSpPr>
          <p:cNvPr id="18" name="HITL funnel card"/>
          <p:cNvSpPr/>
          <p:nvPr/>
        </p:nvSpPr>
        <p:spPr>
          <a:xfrm>
            <a:off x="7406640" y="2414016"/>
            <a:ext cx="4236415" cy="3767328"/>
          </a:xfrm>
          <a:prstGeom prst="roundRect">
            <a:avLst>
              <a:gd name="adj" fmla="val 2913"/>
            </a:avLst>
          </a:prstGeom>
          <a:solidFill>
            <a:schemeClr val="bg1"/>
          </a:solidFill>
          <a:ln/>
          <a:effectLst>
            <a:outerShdw sx="100000" sy="100000" kx="0" ky="0" algn="bl" rotWithShape="0" blurRad="101600" dist="25400" dir="5400000">
              <a:srgbClr val="000000">
                <a:alpha val="10000"/>
              </a:srgbClr>
            </a:outerShdw>
          </a:effectLst>
        </p:spPr>
      </p:sp>
      <p:sp>
        <p:nvSpPr>
          <p:cNvPr id="19" name="Text 16"/>
          <p:cNvSpPr txBox="1"/>
          <p:nvPr/>
        </p:nvSpPr>
        <p:spPr>
          <a:xfrm>
            <a:off x="7726680" y="2642616"/>
            <a:ext cx="3596335" cy="365760"/>
          </a:xfrm>
          <a:prstGeom prst="rect">
            <a:avLst/>
          </a:prstGeom>
          <a:noFill/>
          <a:ln/>
        </p:spPr>
        <p:txBody>
          <a:bodyPr wrap="square" lIns="0" tIns="0" rIns="0" bIns="0" rtlCol="0" anchor="t"/>
          <a:lstStyle/>
          <a:p>
            <a:pPr indent="0" marL="0">
              <a:buNone/>
            </a:pPr>
            <a:r>
              <a:rPr lang="en-US" sz="1600" b="1" dirty="0">
                <a:solidFill>
                  <a:schemeClr val="accent1"/>
                </a:solidFill>
              </a:rPr>
              <a:t>Human-in-the-Loop triage funnel</a:t>
            </a:r>
            <a:endParaRPr lang="en-US" sz="1600" dirty="0"/>
          </a:p>
        </p:txBody>
      </p:sp>
      <p:sp>
        <p:nvSpPr>
          <p:cNvPr id="20" name="Text 17"/>
          <p:cNvSpPr txBox="1"/>
          <p:nvPr/>
        </p:nvSpPr>
        <p:spPr>
          <a:xfrm>
            <a:off x="7726680" y="3145536"/>
            <a:ext cx="3596335" cy="237744"/>
          </a:xfrm>
          <a:prstGeom prst="rect">
            <a:avLst/>
          </a:prstGeom>
          <a:noFill/>
          <a:ln/>
        </p:spPr>
        <p:txBody>
          <a:bodyPr wrap="square" lIns="0" tIns="0" rIns="0" bIns="0" rtlCol="0" anchor="t"/>
          <a:lstStyle/>
          <a:p>
            <a:pPr indent="0" marL="0">
              <a:buNone/>
            </a:pPr>
            <a:r>
              <a:rPr lang="en-US" sz="1300" b="1" dirty="0">
                <a:solidFill>
                  <a:schemeClr val="tx1"/>
                </a:solidFill>
              </a:rPr>
              <a:t>Auto-Approved</a:t>
            </a:r>
            <a:pPr indent="0" marL="0">
              <a:buNone/>
            </a:pPr>
            <a:r>
              <a:rPr lang="en-US" sz="1100" dirty="0">
                <a:solidFill>
                  <a:schemeClr val="accent4"/>
                </a:solidFill>
              </a:rPr>
              <a:t>  Low-risk compliant content</a:t>
            </a:r>
            <a:endParaRPr lang="en-US" sz="1300" dirty="0"/>
          </a:p>
        </p:txBody>
      </p:sp>
      <p:sp>
        <p:nvSpPr>
          <p:cNvPr id="21" name="Auto-Approved bar"/>
          <p:cNvSpPr/>
          <p:nvPr/>
        </p:nvSpPr>
        <p:spPr>
          <a:xfrm>
            <a:off x="7726680" y="3419856"/>
            <a:ext cx="1440386" cy="219456"/>
          </a:xfrm>
          <a:prstGeom prst="rect">
            <a:avLst/>
          </a:prstGeom>
          <a:solidFill>
            <a:schemeClr val="accent3"/>
          </a:solidFill>
          <a:ln/>
        </p:spPr>
      </p:sp>
      <p:sp>
        <p:nvSpPr>
          <p:cNvPr id="22" name="Text 19"/>
          <p:cNvSpPr txBox="1"/>
          <p:nvPr/>
        </p:nvSpPr>
        <p:spPr>
          <a:xfrm>
            <a:off x="9258506" y="3392424"/>
            <a:ext cx="731520" cy="274320"/>
          </a:xfrm>
          <a:prstGeom prst="rect">
            <a:avLst/>
          </a:prstGeom>
          <a:noFill/>
          <a:ln/>
        </p:spPr>
        <p:txBody>
          <a:bodyPr wrap="square" lIns="0" tIns="0" rIns="0" bIns="0" rtlCol="0" anchor="ctr"/>
          <a:lstStyle/>
          <a:p>
            <a:pPr indent="0" marL="0">
              <a:buNone/>
            </a:pPr>
            <a:r>
              <a:rPr lang="en-US" sz="1300" b="1" dirty="0">
                <a:solidFill>
                  <a:schemeClr val="tx1"/>
                </a:solidFill>
              </a:rPr>
              <a:t>22.8%</a:t>
            </a:r>
            <a:endParaRPr lang="en-US" sz="1300" dirty="0"/>
          </a:p>
        </p:txBody>
      </p:sp>
      <p:sp>
        <p:nvSpPr>
          <p:cNvPr id="23" name="Text 20"/>
          <p:cNvSpPr txBox="1"/>
          <p:nvPr/>
        </p:nvSpPr>
        <p:spPr>
          <a:xfrm>
            <a:off x="7726680" y="3694176"/>
            <a:ext cx="3596335" cy="237744"/>
          </a:xfrm>
          <a:prstGeom prst="rect">
            <a:avLst/>
          </a:prstGeom>
          <a:noFill/>
          <a:ln/>
        </p:spPr>
        <p:txBody>
          <a:bodyPr wrap="square" lIns="0" tIns="0" rIns="0" bIns="0" rtlCol="0" anchor="t"/>
          <a:lstStyle/>
          <a:p>
            <a:pPr indent="0" marL="0">
              <a:buNone/>
            </a:pPr>
            <a:r>
              <a:rPr lang="en-US" sz="1300" b="1" dirty="0">
                <a:solidFill>
                  <a:schemeClr val="tx1"/>
                </a:solidFill>
              </a:rPr>
              <a:t>Auto-Rejected</a:t>
            </a:r>
            <a:pPr indent="0" marL="0">
              <a:buNone/>
            </a:pPr>
            <a:r>
              <a:rPr lang="en-US" sz="1100" dirty="0">
                <a:solidFill>
                  <a:schemeClr val="accent4"/>
                </a:solidFill>
              </a:rPr>
              <a:t>  High-confidence known violations</a:t>
            </a:r>
            <a:endParaRPr lang="en-US" sz="1300" dirty="0"/>
          </a:p>
        </p:txBody>
      </p:sp>
      <p:sp>
        <p:nvSpPr>
          <p:cNvPr id="24" name="Auto-Rejected bar"/>
          <p:cNvSpPr/>
          <p:nvPr/>
        </p:nvSpPr>
        <p:spPr>
          <a:xfrm>
            <a:off x="7726680" y="3968496"/>
            <a:ext cx="1579371" cy="219456"/>
          </a:xfrm>
          <a:prstGeom prst="rect">
            <a:avLst/>
          </a:prstGeom>
          <a:solidFill>
            <a:schemeClr val="accent3"/>
          </a:solidFill>
          <a:ln/>
        </p:spPr>
      </p:sp>
      <p:sp>
        <p:nvSpPr>
          <p:cNvPr id="25" name="Text 22"/>
          <p:cNvSpPr txBox="1"/>
          <p:nvPr/>
        </p:nvSpPr>
        <p:spPr>
          <a:xfrm>
            <a:off x="9397491" y="3941064"/>
            <a:ext cx="731520" cy="274320"/>
          </a:xfrm>
          <a:prstGeom prst="rect">
            <a:avLst/>
          </a:prstGeom>
          <a:noFill/>
          <a:ln/>
        </p:spPr>
        <p:txBody>
          <a:bodyPr wrap="square" lIns="0" tIns="0" rIns="0" bIns="0" rtlCol="0" anchor="ctr"/>
          <a:lstStyle/>
          <a:p>
            <a:pPr indent="0" marL="0">
              <a:buNone/>
            </a:pPr>
            <a:r>
              <a:rPr lang="en-US" sz="1300" b="1" dirty="0">
                <a:solidFill>
                  <a:schemeClr val="tx1"/>
                </a:solidFill>
              </a:rPr>
              <a:t>25.0%</a:t>
            </a:r>
            <a:endParaRPr lang="en-US" sz="1300" dirty="0"/>
          </a:p>
        </p:txBody>
      </p:sp>
      <p:sp>
        <p:nvSpPr>
          <p:cNvPr id="26" name="Text 23"/>
          <p:cNvSpPr txBox="1"/>
          <p:nvPr/>
        </p:nvSpPr>
        <p:spPr>
          <a:xfrm>
            <a:off x="7726680" y="4242816"/>
            <a:ext cx="3596335" cy="237744"/>
          </a:xfrm>
          <a:prstGeom prst="rect">
            <a:avLst/>
          </a:prstGeom>
          <a:noFill/>
          <a:ln/>
        </p:spPr>
        <p:txBody>
          <a:bodyPr wrap="square" lIns="0" tIns="0" rIns="0" bIns="0" rtlCol="0" anchor="t"/>
          <a:lstStyle/>
          <a:p>
            <a:pPr indent="0" marL="0">
              <a:buNone/>
            </a:pPr>
            <a:r>
              <a:rPr lang="en-US" sz="1300" b="1" dirty="0">
                <a:solidFill>
                  <a:schemeClr val="tx1"/>
                </a:solidFill>
              </a:rPr>
              <a:t>Manual Review</a:t>
            </a:r>
            <a:pPr indent="0" marL="0">
              <a:buNone/>
            </a:pPr>
            <a:r>
              <a:rPr lang="en-US" sz="1100" dirty="0">
                <a:solidFill>
                  <a:schemeClr val="accent4"/>
                </a:solidFill>
              </a:rPr>
              <a:t>  Human frontline verification</a:t>
            </a:r>
            <a:endParaRPr lang="en-US" sz="1300" dirty="0"/>
          </a:p>
        </p:txBody>
      </p:sp>
      <p:sp>
        <p:nvSpPr>
          <p:cNvPr id="27" name="Manual Review bar"/>
          <p:cNvSpPr/>
          <p:nvPr/>
        </p:nvSpPr>
        <p:spPr>
          <a:xfrm>
            <a:off x="7726680" y="4517136"/>
            <a:ext cx="2773375" cy="219456"/>
          </a:xfrm>
          <a:prstGeom prst="rect">
            <a:avLst/>
          </a:prstGeom>
          <a:solidFill>
            <a:schemeClr val="accent1"/>
          </a:solidFill>
          <a:ln/>
        </p:spPr>
      </p:sp>
      <p:sp>
        <p:nvSpPr>
          <p:cNvPr id="28" name="Text 25"/>
          <p:cNvSpPr txBox="1"/>
          <p:nvPr/>
        </p:nvSpPr>
        <p:spPr>
          <a:xfrm>
            <a:off x="10591495" y="4489704"/>
            <a:ext cx="731520" cy="274320"/>
          </a:xfrm>
          <a:prstGeom prst="rect">
            <a:avLst/>
          </a:prstGeom>
          <a:noFill/>
          <a:ln/>
        </p:spPr>
        <p:txBody>
          <a:bodyPr wrap="square" lIns="0" tIns="0" rIns="0" bIns="0" rtlCol="0" anchor="ctr"/>
          <a:lstStyle/>
          <a:p>
            <a:pPr indent="0" marL="0">
              <a:buNone/>
            </a:pPr>
            <a:r>
              <a:rPr lang="en-US" sz="1300" b="1" dirty="0">
                <a:solidFill>
                  <a:schemeClr val="tx1"/>
                </a:solidFill>
              </a:rPr>
              <a:t>43.9%</a:t>
            </a:r>
            <a:endParaRPr lang="en-US" sz="1300" dirty="0"/>
          </a:p>
        </p:txBody>
      </p:sp>
      <p:sp>
        <p:nvSpPr>
          <p:cNvPr id="29" name="Text 26"/>
          <p:cNvSpPr txBox="1"/>
          <p:nvPr/>
        </p:nvSpPr>
        <p:spPr>
          <a:xfrm>
            <a:off x="7726680" y="4791456"/>
            <a:ext cx="3596335" cy="237744"/>
          </a:xfrm>
          <a:prstGeom prst="rect">
            <a:avLst/>
          </a:prstGeom>
          <a:noFill/>
          <a:ln/>
        </p:spPr>
        <p:txBody>
          <a:bodyPr wrap="square" lIns="0" tIns="0" rIns="0" bIns="0" rtlCol="0" anchor="t"/>
          <a:lstStyle/>
          <a:p>
            <a:pPr indent="0" marL="0">
              <a:buNone/>
            </a:pPr>
            <a:r>
              <a:rPr lang="en-US" sz="1300" b="1" dirty="0">
                <a:solidFill>
                  <a:schemeClr val="tx1"/>
                </a:solidFill>
              </a:rPr>
              <a:t>Tier-2 Escalated</a:t>
            </a:r>
            <a:pPr indent="0" marL="0">
              <a:buNone/>
            </a:pPr>
            <a:r>
              <a:rPr lang="en-US" sz="1100" dirty="0">
                <a:solidFill>
                  <a:schemeClr val="accent4"/>
                </a:solidFill>
              </a:rPr>
              <a:t>  Complex legal &amp; policy edge cases</a:t>
            </a:r>
            <a:endParaRPr lang="en-US" sz="1300" dirty="0"/>
          </a:p>
        </p:txBody>
      </p:sp>
      <p:sp>
        <p:nvSpPr>
          <p:cNvPr id="30" name="Tier-2 Escalated bar"/>
          <p:cNvSpPr/>
          <p:nvPr/>
        </p:nvSpPr>
        <p:spPr>
          <a:xfrm>
            <a:off x="7726680" y="5065776"/>
            <a:ext cx="524351" cy="219456"/>
          </a:xfrm>
          <a:prstGeom prst="rect">
            <a:avLst/>
          </a:prstGeom>
          <a:solidFill>
            <a:schemeClr val="accent4"/>
          </a:solidFill>
          <a:ln/>
        </p:spPr>
      </p:sp>
      <p:sp>
        <p:nvSpPr>
          <p:cNvPr id="31" name="Text 28"/>
          <p:cNvSpPr txBox="1"/>
          <p:nvPr/>
        </p:nvSpPr>
        <p:spPr>
          <a:xfrm>
            <a:off x="8342471" y="5038344"/>
            <a:ext cx="731520" cy="274320"/>
          </a:xfrm>
          <a:prstGeom prst="rect">
            <a:avLst/>
          </a:prstGeom>
          <a:noFill/>
          <a:ln/>
        </p:spPr>
        <p:txBody>
          <a:bodyPr wrap="square" lIns="0" tIns="0" rIns="0" bIns="0" rtlCol="0" anchor="ctr"/>
          <a:lstStyle/>
          <a:p>
            <a:pPr indent="0" marL="0">
              <a:buNone/>
            </a:pPr>
            <a:r>
              <a:rPr lang="en-US" sz="1300" b="1" dirty="0">
                <a:solidFill>
                  <a:schemeClr val="tx1"/>
                </a:solidFill>
              </a:rPr>
              <a:t>8.3%</a:t>
            </a:r>
            <a:endParaRPr lang="en-US" sz="1300" dirty="0"/>
          </a:p>
        </p:txBody>
      </p:sp>
      <p:sp>
        <p:nvSpPr>
          <p:cNvPr id="32" name="Automation callout"/>
          <p:cNvSpPr/>
          <p:nvPr/>
        </p:nvSpPr>
        <p:spPr>
          <a:xfrm>
            <a:off x="7726680" y="5431536"/>
            <a:ext cx="3596335" cy="521208"/>
          </a:xfrm>
          <a:prstGeom prst="roundRect">
            <a:avLst>
              <a:gd name="adj" fmla="val 14035"/>
            </a:avLst>
          </a:prstGeom>
          <a:solidFill>
            <a:schemeClr val="bg2"/>
          </a:solidFill>
          <a:ln/>
        </p:spPr>
      </p:sp>
      <p:sp>
        <p:nvSpPr>
          <p:cNvPr id="33" name="Text 30"/>
          <p:cNvSpPr txBox="1"/>
          <p:nvPr/>
        </p:nvSpPr>
        <p:spPr>
          <a:xfrm>
            <a:off x="7863840" y="5431536"/>
            <a:ext cx="3322015" cy="521208"/>
          </a:xfrm>
          <a:prstGeom prst="rect">
            <a:avLst/>
          </a:prstGeom>
          <a:noFill/>
          <a:ln/>
        </p:spPr>
        <p:txBody>
          <a:bodyPr wrap="square" lIns="0" tIns="0" rIns="0" bIns="0" rtlCol="0" anchor="ctr"/>
          <a:lstStyle/>
          <a:p>
            <a:pPr indent="0" marL="0">
              <a:buNone/>
            </a:pPr>
            <a:r>
              <a:rPr lang="en-US" sz="2400" b="1" dirty="0">
                <a:solidFill>
                  <a:schemeClr val="accent3"/>
                </a:solidFill>
                <a:latin typeface="Arial" pitchFamily="34" charset="0"/>
                <a:ea typeface="Arial" pitchFamily="34" charset="-122"/>
                <a:cs typeface="Arial" pitchFamily="34" charset="-120"/>
              </a:rPr>
              <a:t>47.8%</a:t>
            </a:r>
            <a:pPr indent="0" marL="0">
              <a:buNone/>
            </a:pPr>
            <a:r>
              <a:rPr lang="en-US" sz="1300" dirty="0">
                <a:solidFill>
                  <a:schemeClr val="tx1"/>
                </a:solidFill>
              </a:rPr>
              <a:t>  resolved with no human touch</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8229600" cy="292608"/>
          </a:xfrm>
          <a:prstGeom prst="rect">
            <a:avLst/>
          </a:prstGeom>
          <a:noFill/>
          <a:ln/>
        </p:spPr>
        <p:txBody>
          <a:bodyPr wrap="square" lIns="0" tIns="0" rIns="0" bIns="0" rtlCol="0" anchor="ctr"/>
          <a:lstStyle/>
          <a:p>
            <a:pPr indent="0" marL="0">
              <a:buNone/>
            </a:pPr>
            <a:r>
              <a:rPr lang="en-US" sz="1300" b="1" spc="200" kern="0" dirty="0">
                <a:solidFill>
                  <a:schemeClr val="accent3"/>
                </a:solidFill>
              </a:rPr>
              <a:t>SO WHAT?  ·  ROOT CAUSE</a:t>
            </a:r>
            <a:endParaRPr lang="en-US" sz="1300" dirty="0"/>
          </a:p>
        </p:txBody>
      </p:sp>
      <p:sp>
        <p:nvSpPr>
          <p:cNvPr id="3" name="Text 1"/>
          <p:cNvSpPr/>
          <p:nvPr>
            <p:ph idx="102" type="title" hasCustomPrompt="1"/>
          </p:nvPr>
        </p:nvSpPr>
        <p:spPr>
          <a:xfrm>
            <a:off x="548640" y="658368"/>
            <a:ext cx="11094415" cy="640080"/>
          </a:xfrm>
          <a:prstGeom prst="rect">
            <a:avLst/>
          </a:prstGeom>
          <a:noFill/>
          <a:ln/>
        </p:spPr>
        <p:txBody>
          <a:bodyPr wrap="square" lIns="0" tIns="0" rIns="0" bIns="0" rtlCol="0" anchor="ctr"/>
          <a:lstStyle/>
          <a:p>
            <a:pPr algn="l" indent="0" marL="0">
              <a:buNone/>
            </a:pPr>
            <a:r>
              <a:rPr lang="en-US" sz="3200" b="1" dirty="0">
                <a:solidFill>
                  <a:schemeClr val="accent1"/>
                </a:solidFill>
              </a:rPr>
              <a:t>Root Cause: Where the SLA Drag &amp; Backlog Originate</a:t>
            </a:r>
            <a:endParaRPr lang="en-US" sz="3200" dirty="0"/>
          </a:p>
        </p:txBody>
      </p:sp>
      <p:sp>
        <p:nvSpPr>
          <p:cNvPr id="4" name="Media modality card"/>
          <p:cNvSpPr/>
          <p:nvPr/>
        </p:nvSpPr>
        <p:spPr>
          <a:xfrm>
            <a:off x="548640" y="1481328"/>
            <a:ext cx="5410048" cy="3657600"/>
          </a:xfrm>
          <a:prstGeom prst="roundRect">
            <a:avLst>
              <a:gd name="adj" fmla="val 3000"/>
            </a:avLst>
          </a:prstGeom>
          <a:solidFill>
            <a:schemeClr val="bg1"/>
          </a:solidFill>
          <a:ln/>
          <a:effectLst>
            <a:outerShdw sx="100000" sy="100000" kx="0" ky="0" algn="bl" rotWithShape="0" blurRad="101600" dist="25400" dir="5400000">
              <a:srgbClr val="000000">
                <a:alpha val="10000"/>
              </a:srgbClr>
            </a:outerShdw>
          </a:effectLst>
        </p:spPr>
      </p:sp>
      <p:sp>
        <p:nvSpPr>
          <p:cNvPr id="5" name="Media modality circle"/>
          <p:cNvSpPr/>
          <p:nvPr/>
        </p:nvSpPr>
        <p:spPr>
          <a:xfrm>
            <a:off x="868680" y="1709928"/>
            <a:ext cx="411480" cy="411480"/>
          </a:xfrm>
          <a:prstGeom prst="ellipse">
            <a:avLst/>
          </a:prstGeom>
          <a:solidFill>
            <a:schemeClr val="accent1"/>
          </a:solidFill>
          <a:ln/>
        </p:spPr>
      </p:sp>
      <p:pic>
        <p:nvPicPr>
          <p:cNvPr id="6" name="Media modality icon" descr="Media modality">    </p:cNvPr>
          <p:cNvPicPr>
            <a:picLocks noChangeAspect="1"/>
          </p:cNvPicPr>
          <p:nvPr/>
        </p:nvPicPr>
        <p:blipFill>
          <a:blip r:embed="rId1"/>
          <a:stretch>
            <a:fillRect/>
          </a:stretch>
        </p:blipFill>
        <p:spPr>
          <a:xfrm>
            <a:off x="971550" y="1812798"/>
            <a:ext cx="205740" cy="205740"/>
          </a:xfrm>
          <a:prstGeom prst="rect">
            <a:avLst/>
          </a:prstGeom>
        </p:spPr>
      </p:pic>
      <p:sp>
        <p:nvSpPr>
          <p:cNvPr id="7" name="Text 4"/>
          <p:cNvSpPr txBox="1"/>
          <p:nvPr/>
        </p:nvSpPr>
        <p:spPr>
          <a:xfrm>
            <a:off x="1417320" y="1709928"/>
            <a:ext cx="4221328" cy="411480"/>
          </a:xfrm>
          <a:prstGeom prst="rect">
            <a:avLst/>
          </a:prstGeom>
          <a:noFill/>
          <a:ln/>
        </p:spPr>
        <p:txBody>
          <a:bodyPr wrap="square" lIns="0" tIns="0" rIns="0" bIns="0" rtlCol="0" anchor="ctr"/>
          <a:lstStyle/>
          <a:p>
            <a:pPr indent="0" marL="0">
              <a:buNone/>
            </a:pPr>
            <a:r>
              <a:rPr lang="en-US" sz="1600" b="1" dirty="0">
                <a:solidFill>
                  <a:schemeClr val="accent1"/>
                </a:solidFill>
              </a:rPr>
              <a:t>Media multiplier: AHT by content type</a:t>
            </a:r>
            <a:endParaRPr lang="en-US" sz="1600" dirty="0"/>
          </a:p>
        </p:txBody>
      </p:sp>
      <p:graphicFrame>
        <p:nvGraphicFramePr>
          <p:cNvPr id="8" name="AHT by content type chart" descr="Column chart of average handling time by content type"/>
          <p:cNvGraphicFramePr/>
          <p:nvPr/>
        </p:nvGraphicFramePr>
        <p:xfrm>
          <a:off x="731520" y="2212848"/>
          <a:ext cx="5044288" cy="2057400"/>
        </p:xfrm>
        <a:graphic xmlns:a="http://schemas.openxmlformats.org/drawingml/2006/main">
          <a:graphicData uri="http://schemas.openxmlformats.org/drawingml/2006/chart">
            <c:chart xmlns:c="http://schemas.openxmlformats.org/drawingml/2006/chart" r:id="rId2"/>
          </a:graphicData>
        </a:graphic>
      </p:graphicFrame>
      <p:sp>
        <p:nvSpPr>
          <p:cNvPr id="9" name="Video share callout"/>
          <p:cNvSpPr/>
          <p:nvPr/>
        </p:nvSpPr>
        <p:spPr>
          <a:xfrm>
            <a:off x="868680" y="4334256"/>
            <a:ext cx="4769968" cy="603504"/>
          </a:xfrm>
          <a:prstGeom prst="roundRect">
            <a:avLst>
              <a:gd name="adj" fmla="val 12121"/>
            </a:avLst>
          </a:prstGeom>
          <a:solidFill>
            <a:schemeClr val="bg2"/>
          </a:solidFill>
          <a:ln/>
        </p:spPr>
      </p:sp>
      <p:sp>
        <p:nvSpPr>
          <p:cNvPr id="10" name="Text 6"/>
          <p:cNvSpPr txBox="1"/>
          <p:nvPr/>
        </p:nvSpPr>
        <p:spPr>
          <a:xfrm>
            <a:off x="1005840" y="4334256"/>
            <a:ext cx="4495648" cy="603504"/>
          </a:xfrm>
          <a:prstGeom prst="rect">
            <a:avLst/>
          </a:prstGeom>
          <a:noFill/>
          <a:ln/>
        </p:spPr>
        <p:txBody>
          <a:bodyPr wrap="square" lIns="0" tIns="0" rIns="0" bIns="0" rtlCol="0" anchor="ctr"/>
          <a:lstStyle/>
          <a:p>
            <a:pPr indent="0" marL="0">
              <a:buNone/>
            </a:pPr>
            <a:r>
              <a:rPr lang="en-US" sz="1400" b="1" dirty="0">
                <a:solidFill>
                  <a:schemeClr val="tx1"/>
                </a:solidFill>
              </a:rPr>
              <a:t>Video = 28% of volume, </a:t>
            </a:r>
            <a:pPr indent="0" marL="0">
              <a:buNone/>
            </a:pPr>
            <a:r>
              <a:rPr lang="en-US" sz="1400" b="1" dirty="0">
                <a:solidFill>
                  <a:schemeClr val="accent6"/>
                </a:solidFill>
              </a:rPr>
              <a:t>69% of handling hours</a:t>
            </a:r>
            <a:pPr indent="0" marL="0">
              <a:buNone/>
            </a:pPr>
            <a:r>
              <a:rPr lang="en-US" sz="1200" dirty="0">
                <a:solidFill>
                  <a:schemeClr val="accent4"/>
                </a:solidFill>
              </a:rPr>
              <a:t>  ·  short video 6.8×, live 12× text AHT</a:t>
            </a:r>
            <a:endParaRPr lang="en-US" sz="1400" dirty="0"/>
          </a:p>
        </p:txBody>
      </p:sp>
      <p:sp>
        <p:nvSpPr>
          <p:cNvPr id="11" name="Surge window card"/>
          <p:cNvSpPr/>
          <p:nvPr/>
        </p:nvSpPr>
        <p:spPr>
          <a:xfrm>
            <a:off x="6233008" y="1481328"/>
            <a:ext cx="5410048" cy="3657600"/>
          </a:xfrm>
          <a:prstGeom prst="roundRect">
            <a:avLst>
              <a:gd name="adj" fmla="val 3000"/>
            </a:avLst>
          </a:prstGeom>
          <a:solidFill>
            <a:schemeClr val="bg1"/>
          </a:solidFill>
          <a:ln/>
          <a:effectLst>
            <a:outerShdw sx="100000" sy="100000" kx="0" ky="0" algn="bl" rotWithShape="0" blurRad="101600" dist="25400" dir="5400000">
              <a:srgbClr val="000000">
                <a:alpha val="10000"/>
              </a:srgbClr>
            </a:outerShdw>
          </a:effectLst>
        </p:spPr>
      </p:sp>
      <p:sp>
        <p:nvSpPr>
          <p:cNvPr id="12" name="Surge window circle"/>
          <p:cNvSpPr/>
          <p:nvPr/>
        </p:nvSpPr>
        <p:spPr>
          <a:xfrm>
            <a:off x="6553048" y="1709928"/>
            <a:ext cx="411480" cy="411480"/>
          </a:xfrm>
          <a:prstGeom prst="ellipse">
            <a:avLst/>
          </a:prstGeom>
          <a:solidFill>
            <a:schemeClr val="accent1"/>
          </a:solidFill>
          <a:ln/>
        </p:spPr>
      </p:sp>
      <p:pic>
        <p:nvPicPr>
          <p:cNvPr id="13" name="Surge window icon" descr="Surge window">    </p:cNvPr>
          <p:cNvPicPr>
            <a:picLocks noChangeAspect="1"/>
          </p:cNvPicPr>
          <p:nvPr/>
        </p:nvPicPr>
        <p:blipFill>
          <a:blip r:embed="rId3"/>
          <a:stretch>
            <a:fillRect/>
          </a:stretch>
        </p:blipFill>
        <p:spPr>
          <a:xfrm>
            <a:off x="6655918" y="1812798"/>
            <a:ext cx="205740" cy="205740"/>
          </a:xfrm>
          <a:prstGeom prst="rect">
            <a:avLst/>
          </a:prstGeom>
        </p:spPr>
      </p:pic>
      <p:sp>
        <p:nvSpPr>
          <p:cNvPr id="14" name="Text 9"/>
          <p:cNvSpPr txBox="1"/>
          <p:nvPr/>
        </p:nvSpPr>
        <p:spPr>
          <a:xfrm>
            <a:off x="7101688" y="1709928"/>
            <a:ext cx="4221328" cy="411480"/>
          </a:xfrm>
          <a:prstGeom prst="rect">
            <a:avLst/>
          </a:prstGeom>
          <a:noFill/>
          <a:ln/>
        </p:spPr>
        <p:txBody>
          <a:bodyPr wrap="square" lIns="0" tIns="0" rIns="0" bIns="0" rtlCol="0" anchor="ctr"/>
          <a:lstStyle/>
          <a:p>
            <a:pPr indent="0" marL="0">
              <a:buNone/>
            </a:pPr>
            <a:r>
              <a:rPr lang="en-US" sz="1600" b="1" dirty="0">
                <a:solidFill>
                  <a:schemeClr val="accent1"/>
                </a:solidFill>
              </a:rPr>
              <a:t>Daily SLA attainment vs. 95% target</a:t>
            </a:r>
            <a:endParaRPr lang="en-US" sz="1600" dirty="0"/>
          </a:p>
        </p:txBody>
      </p:sp>
      <p:sp>
        <p:nvSpPr>
          <p:cNvPr id="15" name="Surge window shading"/>
          <p:cNvSpPr/>
          <p:nvPr/>
        </p:nvSpPr>
        <p:spPr>
          <a:xfrm>
            <a:off x="9533257" y="2418588"/>
            <a:ext cx="591863" cy="1481328"/>
          </a:xfrm>
          <a:prstGeom prst="rect">
            <a:avLst/>
          </a:prstGeom>
          <a:solidFill>
            <a:schemeClr val="accent6">
              <a:alpha val="18000"/>
            </a:schemeClr>
          </a:solidFill>
          <a:ln/>
        </p:spPr>
      </p:sp>
      <p:graphicFrame>
        <p:nvGraphicFramePr>
          <p:cNvPr id="16" name="Daily SLA trend chart" descr="Line chart of daily SLA attainment with a dip to about 40% from Sep 24 to 27"/>
          <p:cNvGraphicFramePr/>
          <p:nvPr/>
        </p:nvGraphicFramePr>
        <p:xfrm>
          <a:off x="6415888" y="2212848"/>
          <a:ext cx="5044288" cy="2057400"/>
        </p:xfrm>
        <a:graphic xmlns:a="http://schemas.openxmlformats.org/drawingml/2006/main">
          <a:graphicData uri="http://schemas.openxmlformats.org/drawingml/2006/chart">
            <c:chart xmlns:c="http://schemas.openxmlformats.org/drawingml/2006/chart" r:id="rId4"/>
          </a:graphicData>
        </a:graphic>
      </p:graphicFrame>
      <p:sp>
        <p:nvSpPr>
          <p:cNvPr id="17" name="Text 11"/>
          <p:cNvSpPr txBox="1"/>
          <p:nvPr/>
        </p:nvSpPr>
        <p:spPr>
          <a:xfrm>
            <a:off x="6532376" y="3954780"/>
            <a:ext cx="822960" cy="228600"/>
          </a:xfrm>
          <a:prstGeom prst="rect">
            <a:avLst/>
          </a:prstGeom>
          <a:noFill/>
          <a:ln/>
        </p:spPr>
        <p:txBody>
          <a:bodyPr wrap="square" lIns="0" tIns="0" rIns="0" bIns="0" rtlCol="0" anchor="t"/>
          <a:lstStyle/>
          <a:p>
            <a:pPr algn="ctr" indent="0" marL="0">
              <a:buNone/>
            </a:pPr>
            <a:r>
              <a:rPr lang="en-US" sz="1100" dirty="0">
                <a:solidFill>
                  <a:schemeClr val="tx1"/>
                </a:solidFill>
              </a:rPr>
              <a:t>Sep 6</a:t>
            </a:r>
            <a:endParaRPr lang="en-US" sz="1100" dirty="0"/>
          </a:p>
        </p:txBody>
      </p:sp>
      <p:sp>
        <p:nvSpPr>
          <p:cNvPr id="18" name="Text 12"/>
          <p:cNvSpPr txBox="1"/>
          <p:nvPr/>
        </p:nvSpPr>
        <p:spPr>
          <a:xfrm>
            <a:off x="7864068" y="3954780"/>
            <a:ext cx="822960" cy="228600"/>
          </a:xfrm>
          <a:prstGeom prst="rect">
            <a:avLst/>
          </a:prstGeom>
          <a:noFill/>
          <a:ln/>
        </p:spPr>
        <p:txBody>
          <a:bodyPr wrap="square" lIns="0" tIns="0" rIns="0" bIns="0" rtlCol="0" anchor="t"/>
          <a:lstStyle/>
          <a:p>
            <a:pPr algn="ctr" indent="0" marL="0">
              <a:buNone/>
            </a:pPr>
            <a:r>
              <a:rPr lang="en-US" sz="1100" dirty="0">
                <a:solidFill>
                  <a:schemeClr val="tx1"/>
                </a:solidFill>
              </a:rPr>
              <a:t>Sep 15</a:t>
            </a:r>
            <a:endParaRPr lang="en-US" sz="1100" dirty="0"/>
          </a:p>
        </p:txBody>
      </p:sp>
      <p:sp>
        <p:nvSpPr>
          <p:cNvPr id="19" name="Text 13"/>
          <p:cNvSpPr txBox="1"/>
          <p:nvPr/>
        </p:nvSpPr>
        <p:spPr>
          <a:xfrm>
            <a:off x="9195760" y="3954780"/>
            <a:ext cx="822960" cy="228600"/>
          </a:xfrm>
          <a:prstGeom prst="rect">
            <a:avLst/>
          </a:prstGeom>
          <a:noFill/>
          <a:ln/>
        </p:spPr>
        <p:txBody>
          <a:bodyPr wrap="square" lIns="0" tIns="0" rIns="0" bIns="0" rtlCol="0" anchor="t"/>
          <a:lstStyle/>
          <a:p>
            <a:pPr algn="ctr" indent="0" marL="0">
              <a:buNone/>
            </a:pPr>
            <a:r>
              <a:rPr lang="en-US" sz="1100" dirty="0">
                <a:solidFill>
                  <a:schemeClr val="tx1"/>
                </a:solidFill>
              </a:rPr>
              <a:t>Sep 24</a:t>
            </a:r>
            <a:endParaRPr lang="en-US" sz="1100" dirty="0"/>
          </a:p>
        </p:txBody>
      </p:sp>
      <p:sp>
        <p:nvSpPr>
          <p:cNvPr id="20" name="Text 14"/>
          <p:cNvSpPr txBox="1"/>
          <p:nvPr/>
        </p:nvSpPr>
        <p:spPr>
          <a:xfrm>
            <a:off x="10823384" y="3954780"/>
            <a:ext cx="822960" cy="228600"/>
          </a:xfrm>
          <a:prstGeom prst="rect">
            <a:avLst/>
          </a:prstGeom>
          <a:noFill/>
          <a:ln/>
        </p:spPr>
        <p:txBody>
          <a:bodyPr wrap="square" lIns="0" tIns="0" rIns="0" bIns="0" rtlCol="0" anchor="t"/>
          <a:lstStyle/>
          <a:p>
            <a:pPr algn="ctr" indent="0" marL="0">
              <a:buNone/>
            </a:pPr>
            <a:r>
              <a:rPr lang="en-US" sz="1100" dirty="0">
                <a:solidFill>
                  <a:schemeClr val="tx1"/>
                </a:solidFill>
              </a:rPr>
              <a:t>Oct 5</a:t>
            </a:r>
            <a:endParaRPr lang="en-US" sz="1100" dirty="0"/>
          </a:p>
        </p:txBody>
      </p:sp>
      <p:sp>
        <p:nvSpPr>
          <p:cNvPr id="21" name="Text 15"/>
          <p:cNvSpPr txBox="1"/>
          <p:nvPr/>
        </p:nvSpPr>
        <p:spPr>
          <a:xfrm>
            <a:off x="9167497" y="2171700"/>
            <a:ext cx="1323383" cy="228600"/>
          </a:xfrm>
          <a:prstGeom prst="rect">
            <a:avLst/>
          </a:prstGeom>
          <a:noFill/>
          <a:ln/>
        </p:spPr>
        <p:txBody>
          <a:bodyPr wrap="square" lIns="0" tIns="0" rIns="0" bIns="0" rtlCol="0" anchor="t"/>
          <a:lstStyle/>
          <a:p>
            <a:pPr algn="ctr" indent="0" marL="0">
              <a:buNone/>
            </a:pPr>
            <a:r>
              <a:rPr lang="en-US" sz="1100" b="1" dirty="0">
                <a:solidFill>
                  <a:schemeClr val="accent6"/>
                </a:solidFill>
              </a:rPr>
              <a:t>Sep 24–27</a:t>
            </a:r>
            <a:endParaRPr lang="en-US" sz="1100" dirty="0"/>
          </a:p>
        </p:txBody>
      </p:sp>
      <p:sp>
        <p:nvSpPr>
          <p:cNvPr id="22" name="Volume fact"/>
          <p:cNvSpPr/>
          <p:nvPr/>
        </p:nvSpPr>
        <p:spPr>
          <a:xfrm>
            <a:off x="6553048" y="4334256"/>
            <a:ext cx="1468069" cy="603504"/>
          </a:xfrm>
          <a:prstGeom prst="roundRect">
            <a:avLst>
              <a:gd name="adj" fmla="val 12121"/>
            </a:avLst>
          </a:prstGeom>
          <a:solidFill>
            <a:schemeClr val="bg2"/>
          </a:solidFill>
          <a:ln/>
        </p:spPr>
      </p:sp>
      <p:sp>
        <p:nvSpPr>
          <p:cNvPr id="23" name="Text 17"/>
          <p:cNvSpPr txBox="1"/>
          <p:nvPr/>
        </p:nvSpPr>
        <p:spPr>
          <a:xfrm>
            <a:off x="6690208" y="4334256"/>
            <a:ext cx="1193749" cy="603504"/>
          </a:xfrm>
          <a:prstGeom prst="rect">
            <a:avLst/>
          </a:prstGeom>
          <a:noFill/>
          <a:ln/>
        </p:spPr>
        <p:txBody>
          <a:bodyPr wrap="square" lIns="0" tIns="0" rIns="0" bIns="0" rtlCol="0" anchor="ctr"/>
          <a:lstStyle/>
          <a:p>
            <a:pPr indent="0" marL="0">
              <a:buNone/>
            </a:pPr>
            <a:r>
              <a:rPr lang="en-US" sz="1100" dirty="0">
                <a:solidFill>
                  <a:schemeClr val="accent4"/>
                </a:solidFill>
              </a:rPr>
              <a:t>Volume</a:t>
            </a:r>
            <a:endParaRPr lang="en-US" sz="1400" dirty="0"/>
          </a:p>
          <a:p>
            <a:pPr indent="0" marL="0">
              <a:buNone/>
            </a:pPr>
            <a:r>
              <a:rPr lang="en-US" sz="1400" b="1" dirty="0">
                <a:solidFill>
                  <a:schemeClr val="tx1"/>
                </a:solidFill>
              </a:rPr>
              <a:t>95 → 89/day</a:t>
            </a:r>
            <a:endParaRPr lang="en-US" sz="1400" dirty="0"/>
          </a:p>
        </p:txBody>
      </p:sp>
      <p:sp>
        <p:nvSpPr>
          <p:cNvPr id="24" name="High-risk mix fact"/>
          <p:cNvSpPr/>
          <p:nvPr/>
        </p:nvSpPr>
        <p:spPr>
          <a:xfrm>
            <a:off x="8203997" y="4334256"/>
            <a:ext cx="1468069" cy="603504"/>
          </a:xfrm>
          <a:prstGeom prst="roundRect">
            <a:avLst>
              <a:gd name="adj" fmla="val 12121"/>
            </a:avLst>
          </a:prstGeom>
          <a:solidFill>
            <a:schemeClr val="bg2"/>
          </a:solidFill>
          <a:ln/>
        </p:spPr>
      </p:sp>
      <p:sp>
        <p:nvSpPr>
          <p:cNvPr id="25" name="Text 19"/>
          <p:cNvSpPr txBox="1"/>
          <p:nvPr/>
        </p:nvSpPr>
        <p:spPr>
          <a:xfrm>
            <a:off x="8341157" y="4334256"/>
            <a:ext cx="1193749" cy="603504"/>
          </a:xfrm>
          <a:prstGeom prst="rect">
            <a:avLst/>
          </a:prstGeom>
          <a:noFill/>
          <a:ln/>
        </p:spPr>
        <p:txBody>
          <a:bodyPr wrap="square" lIns="0" tIns="0" rIns="0" bIns="0" rtlCol="0" anchor="ctr"/>
          <a:lstStyle/>
          <a:p>
            <a:pPr indent="0" marL="0">
              <a:buNone/>
            </a:pPr>
            <a:r>
              <a:rPr lang="en-US" sz="1100" dirty="0">
                <a:solidFill>
                  <a:schemeClr val="accent4"/>
                </a:solidFill>
              </a:rPr>
              <a:t>High-risk mix</a:t>
            </a:r>
            <a:endParaRPr lang="en-US" sz="1400" dirty="0"/>
          </a:p>
          <a:p>
            <a:pPr indent="0" marL="0">
              <a:buNone/>
            </a:pPr>
            <a:r>
              <a:rPr lang="en-US" sz="1400" b="1" dirty="0">
                <a:solidFill>
                  <a:schemeClr val="accent6"/>
                </a:solidFill>
              </a:rPr>
              <a:t>24% → 43%</a:t>
            </a:r>
            <a:endParaRPr lang="en-US" sz="1400" dirty="0"/>
          </a:p>
        </p:txBody>
      </p:sp>
      <p:sp>
        <p:nvSpPr>
          <p:cNvPr id="26" name="Avg. TAT fact"/>
          <p:cNvSpPr/>
          <p:nvPr/>
        </p:nvSpPr>
        <p:spPr>
          <a:xfrm>
            <a:off x="9854946" y="4334256"/>
            <a:ext cx="1468069" cy="603504"/>
          </a:xfrm>
          <a:prstGeom prst="roundRect">
            <a:avLst>
              <a:gd name="adj" fmla="val 12121"/>
            </a:avLst>
          </a:prstGeom>
          <a:solidFill>
            <a:schemeClr val="bg2"/>
          </a:solidFill>
          <a:ln/>
        </p:spPr>
      </p:sp>
      <p:sp>
        <p:nvSpPr>
          <p:cNvPr id="27" name="Text 21"/>
          <p:cNvSpPr txBox="1"/>
          <p:nvPr/>
        </p:nvSpPr>
        <p:spPr>
          <a:xfrm>
            <a:off x="9992106" y="4334256"/>
            <a:ext cx="1193749" cy="603504"/>
          </a:xfrm>
          <a:prstGeom prst="rect">
            <a:avLst/>
          </a:prstGeom>
          <a:noFill/>
          <a:ln/>
        </p:spPr>
        <p:txBody>
          <a:bodyPr wrap="square" lIns="0" tIns="0" rIns="0" bIns="0" rtlCol="0" anchor="ctr"/>
          <a:lstStyle/>
          <a:p>
            <a:pPr indent="0" marL="0">
              <a:buNone/>
            </a:pPr>
            <a:r>
              <a:rPr lang="en-US" sz="1100" dirty="0">
                <a:solidFill>
                  <a:schemeClr val="accent4"/>
                </a:solidFill>
              </a:rPr>
              <a:t>Avg. TAT</a:t>
            </a:r>
            <a:endParaRPr lang="en-US" sz="1400" dirty="0"/>
          </a:p>
          <a:p>
            <a:pPr indent="0" marL="0">
              <a:buNone/>
            </a:pPr>
            <a:r>
              <a:rPr lang="en-US" sz="1400" b="1" dirty="0">
                <a:solidFill>
                  <a:schemeClr val="accent6"/>
                </a:solidFill>
              </a:rPr>
              <a:t>134 → 241 min</a:t>
            </a:r>
            <a:endParaRPr lang="en-US" sz="1400" dirty="0"/>
          </a:p>
        </p:txBody>
      </p:sp>
      <p:sp>
        <p:nvSpPr>
          <p:cNvPr id="28" name="Wellness safeguard banner"/>
          <p:cNvSpPr/>
          <p:nvPr/>
        </p:nvSpPr>
        <p:spPr>
          <a:xfrm>
            <a:off x="548640" y="5413248"/>
            <a:ext cx="11094415" cy="822960"/>
          </a:xfrm>
          <a:prstGeom prst="roundRect">
            <a:avLst>
              <a:gd name="adj" fmla="val 13333"/>
            </a:avLst>
          </a:prstGeom>
          <a:solidFill>
            <a:schemeClr val="accent1"/>
          </a:solidFill>
          <a:ln/>
          <a:effectLst>
            <a:outerShdw sx="100000" sy="100000" kx="0" ky="0" algn="bl" rotWithShape="0" blurRad="101600" dist="25400" dir="5400000">
              <a:srgbClr val="000000">
                <a:alpha val="10000"/>
              </a:srgbClr>
            </a:outerShdw>
          </a:effectLst>
        </p:spPr>
      </p:sp>
      <p:sp>
        <p:nvSpPr>
          <p:cNvPr id="29" name="Wellness safeguard circle"/>
          <p:cNvSpPr/>
          <p:nvPr/>
        </p:nvSpPr>
        <p:spPr>
          <a:xfrm>
            <a:off x="868680" y="5550408"/>
            <a:ext cx="548640" cy="548640"/>
          </a:xfrm>
          <a:prstGeom prst="ellipse">
            <a:avLst/>
          </a:prstGeom>
          <a:solidFill>
            <a:schemeClr val="accent2"/>
          </a:solidFill>
          <a:ln/>
        </p:spPr>
      </p:sp>
      <p:pic>
        <p:nvPicPr>
          <p:cNvPr id="30" name="Wellness safeguard icon" descr="Wellness safeguard">    </p:cNvPr>
          <p:cNvPicPr>
            <a:picLocks noChangeAspect="1"/>
          </p:cNvPicPr>
          <p:nvPr/>
        </p:nvPicPr>
        <p:blipFill>
          <a:blip r:embed="rId5"/>
          <a:stretch>
            <a:fillRect/>
          </a:stretch>
        </p:blipFill>
        <p:spPr>
          <a:xfrm>
            <a:off x="1005840" y="5687568"/>
            <a:ext cx="274320" cy="274320"/>
          </a:xfrm>
          <a:prstGeom prst="rect">
            <a:avLst/>
          </a:prstGeom>
        </p:spPr>
      </p:pic>
      <p:sp>
        <p:nvSpPr>
          <p:cNvPr id="31" name="Text 24"/>
          <p:cNvSpPr txBox="1"/>
          <p:nvPr/>
        </p:nvSpPr>
        <p:spPr>
          <a:xfrm>
            <a:off x="1645920" y="5413248"/>
            <a:ext cx="9677095" cy="822960"/>
          </a:xfrm>
          <a:prstGeom prst="rect">
            <a:avLst/>
          </a:prstGeom>
          <a:noFill/>
          <a:ln/>
        </p:spPr>
        <p:txBody>
          <a:bodyPr wrap="square" lIns="0" tIns="0" rIns="0" bIns="0" rtlCol="0" anchor="ctr"/>
          <a:lstStyle/>
          <a:p>
            <a:pPr indent="0" marL="0">
              <a:buNone/>
            </a:pPr>
            <a:r>
              <a:rPr lang="en-US" sz="1500" b="1" dirty="0">
                <a:solidFill>
                  <a:schemeClr val="accent2"/>
                </a:solidFill>
              </a:rPr>
              <a:t>719 egregious items (26% of volume)</a:t>
            </a:r>
            <a:pPr indent="0" marL="0">
              <a:buNone/>
            </a:pPr>
            <a:r>
              <a:rPr lang="en-US" sz="1500" dirty="0">
                <a:solidFill>
                  <a:schemeClr val="bg1"/>
                </a:solidFill>
              </a:rPr>
              <a:t> sit entirely in Violence, Hate Speech &amp; TCO and trigger 5.5-hour shift caps with 30-minute wellness rotations. Capacity cannot be recovered by extending shifts; it must be recovered by routing.</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8229600" cy="292608"/>
          </a:xfrm>
          <a:prstGeom prst="rect">
            <a:avLst/>
          </a:prstGeom>
          <a:noFill/>
          <a:ln/>
        </p:spPr>
        <p:txBody>
          <a:bodyPr wrap="square" lIns="0" tIns="0" rIns="0" bIns="0" rtlCol="0" anchor="ctr"/>
          <a:lstStyle/>
          <a:p>
            <a:pPr indent="0" marL="0">
              <a:buNone/>
            </a:pPr>
            <a:r>
              <a:rPr lang="en-US" sz="1300" b="1" spc="200" kern="0" dirty="0">
                <a:solidFill>
                  <a:schemeClr val="accent3"/>
                </a:solidFill>
              </a:rPr>
              <a:t>SO WHAT?  ·  WORKFORCE DYNAMICS</a:t>
            </a:r>
            <a:endParaRPr lang="en-US" sz="1300" dirty="0"/>
          </a:p>
        </p:txBody>
      </p:sp>
      <p:sp>
        <p:nvSpPr>
          <p:cNvPr id="3" name="Text 1"/>
          <p:cNvSpPr/>
          <p:nvPr>
            <p:ph idx="102" type="title" hasCustomPrompt="1"/>
          </p:nvPr>
        </p:nvSpPr>
        <p:spPr>
          <a:xfrm>
            <a:off x="548640" y="658368"/>
            <a:ext cx="11094415" cy="640080"/>
          </a:xfrm>
          <a:prstGeom prst="rect">
            <a:avLst/>
          </a:prstGeom>
          <a:noFill/>
          <a:ln/>
        </p:spPr>
        <p:txBody>
          <a:bodyPr wrap="square" lIns="0" tIns="0" rIns="0" bIns="0" rtlCol="0" anchor="ctr"/>
          <a:lstStyle/>
          <a:p>
            <a:pPr algn="l" indent="0" marL="0">
              <a:buNone/>
            </a:pPr>
            <a:r>
              <a:rPr lang="en-US" sz="3200" b="1" dirty="0">
                <a:solidFill>
                  <a:schemeClr val="accent1"/>
                </a:solidFill>
              </a:rPr>
              <a:t>Workforce Dynamics: Speed vs. Quality Matrix</a:t>
            </a:r>
            <a:endParaRPr lang="en-US" sz="3200" dirty="0"/>
          </a:p>
        </p:txBody>
      </p:sp>
      <p:sp>
        <p:nvSpPr>
          <p:cNvPr id="4" name="Speed vs quality card"/>
          <p:cNvSpPr/>
          <p:nvPr/>
        </p:nvSpPr>
        <p:spPr>
          <a:xfrm>
            <a:off x="548640" y="1481328"/>
            <a:ext cx="6309360" cy="4754880"/>
          </a:xfrm>
          <a:prstGeom prst="roundRect">
            <a:avLst>
              <a:gd name="adj" fmla="val 2308"/>
            </a:avLst>
          </a:prstGeom>
          <a:solidFill>
            <a:schemeClr val="bg1"/>
          </a:solidFill>
          <a:ln/>
          <a:effectLst>
            <a:outerShdw sx="100000" sy="100000" kx="0" ky="0" algn="bl" rotWithShape="0" blurRad="101600" dist="25400" dir="5400000">
              <a:srgbClr val="000000">
                <a:alpha val="10000"/>
              </a:srgbClr>
            </a:outerShdw>
          </a:effectLst>
        </p:spPr>
      </p:sp>
      <p:sp>
        <p:nvSpPr>
          <p:cNvPr id="5" name="Speed vs quality circle"/>
          <p:cNvSpPr/>
          <p:nvPr/>
        </p:nvSpPr>
        <p:spPr>
          <a:xfrm>
            <a:off x="868680" y="1709928"/>
            <a:ext cx="411480" cy="411480"/>
          </a:xfrm>
          <a:prstGeom prst="ellipse">
            <a:avLst/>
          </a:prstGeom>
          <a:solidFill>
            <a:schemeClr val="accent1"/>
          </a:solidFill>
          <a:ln/>
        </p:spPr>
      </p:sp>
      <p:pic>
        <p:nvPicPr>
          <p:cNvPr id="6" name="Speed vs quality icon" descr="Speed vs quality">    </p:cNvPr>
          <p:cNvPicPr>
            <a:picLocks noChangeAspect="1"/>
          </p:cNvPicPr>
          <p:nvPr/>
        </p:nvPicPr>
        <p:blipFill>
          <a:blip r:embed="rId1"/>
          <a:stretch>
            <a:fillRect/>
          </a:stretch>
        </p:blipFill>
        <p:spPr>
          <a:xfrm>
            <a:off x="971550" y="1812798"/>
            <a:ext cx="205740" cy="205740"/>
          </a:xfrm>
          <a:prstGeom prst="rect">
            <a:avLst/>
          </a:prstGeom>
        </p:spPr>
      </p:pic>
      <p:sp>
        <p:nvSpPr>
          <p:cNvPr id="7" name="Text 4"/>
          <p:cNvSpPr txBox="1"/>
          <p:nvPr/>
        </p:nvSpPr>
        <p:spPr>
          <a:xfrm>
            <a:off x="1417320" y="1709928"/>
            <a:ext cx="5120640" cy="411480"/>
          </a:xfrm>
          <a:prstGeom prst="rect">
            <a:avLst/>
          </a:prstGeom>
          <a:noFill/>
          <a:ln/>
        </p:spPr>
        <p:txBody>
          <a:bodyPr wrap="square" lIns="0" tIns="0" rIns="0" bIns="0" rtlCol="0" anchor="ctr"/>
          <a:lstStyle/>
          <a:p>
            <a:pPr indent="0" marL="0">
              <a:buNone/>
            </a:pPr>
            <a:r>
              <a:rPr lang="en-US" sz="1600" b="1" dirty="0">
                <a:solidFill>
                  <a:schemeClr val="accent1"/>
                </a:solidFill>
              </a:rPr>
              <a:t>Speed vs. quality: 15 agents by tenure</a:t>
            </a:r>
            <a:endParaRPr lang="en-US" sz="1600" dirty="0"/>
          </a:p>
        </p:txBody>
      </p:sp>
      <p:graphicFrame>
        <p:nvGraphicFramePr>
          <p:cNvPr id="8" name="Speed vs quality scatter" descr="Scatter plot of each agent's average handling time versus audited QA score, coloured by tenure"/>
          <p:cNvGraphicFramePr/>
          <p:nvPr/>
        </p:nvGraphicFramePr>
        <p:xfrm>
          <a:off x="731520" y="2212848"/>
          <a:ext cx="5943600" cy="2514600"/>
        </p:xfrm>
        <a:graphic xmlns:a="http://schemas.openxmlformats.org/drawingml/2006/main">
          <a:graphicData uri="http://schemas.openxmlformats.org/drawingml/2006/chart">
            <c:chart xmlns:c="http://schemas.openxmlformats.org/drawingml/2006/chart" r:id="rId2"/>
          </a:graphicData>
        </a:graphic>
      </p:graphicFrame>
      <p:sp>
        <p:nvSpPr>
          <p:cNvPr id="9" name="Senior · AGENT_12–15 key"/>
          <p:cNvSpPr/>
          <p:nvPr/>
        </p:nvSpPr>
        <p:spPr>
          <a:xfrm>
            <a:off x="914400" y="4882896"/>
            <a:ext cx="164592" cy="164592"/>
          </a:xfrm>
          <a:prstGeom prst="ellipse">
            <a:avLst/>
          </a:prstGeom>
          <a:solidFill>
            <a:schemeClr val="accent3"/>
          </a:solidFill>
          <a:ln/>
        </p:spPr>
      </p:sp>
      <p:sp>
        <p:nvSpPr>
          <p:cNvPr id="10" name="Text 6"/>
          <p:cNvSpPr txBox="1"/>
          <p:nvPr/>
        </p:nvSpPr>
        <p:spPr>
          <a:xfrm>
            <a:off x="1207008" y="4818888"/>
            <a:ext cx="5303520" cy="292608"/>
          </a:xfrm>
          <a:prstGeom prst="rect">
            <a:avLst/>
          </a:prstGeom>
          <a:noFill/>
          <a:ln/>
        </p:spPr>
        <p:txBody>
          <a:bodyPr wrap="square" lIns="0" tIns="0" rIns="0" bIns="0" rtlCol="0" anchor="ctr"/>
          <a:lstStyle/>
          <a:p>
            <a:pPr indent="0" marL="0">
              <a:buNone/>
            </a:pPr>
            <a:r>
              <a:rPr lang="en-US" sz="1300" b="1" dirty="0">
                <a:solidFill>
                  <a:schemeClr val="tx1"/>
                </a:solidFill>
              </a:rPr>
              <a:t>Senior · AGENT_12–15</a:t>
            </a:r>
            <a:pPr indent="0" marL="0">
              <a:buNone/>
            </a:pPr>
            <a:r>
              <a:rPr lang="en-US" sz="1300" dirty="0">
                <a:solidFill>
                  <a:schemeClr val="accent4"/>
                </a:solidFill>
              </a:rPr>
              <a:t>   99.8% QA  ·  54.0s AHT (84s on manual)</a:t>
            </a:r>
            <a:endParaRPr lang="en-US" sz="1300" dirty="0"/>
          </a:p>
        </p:txBody>
      </p:sp>
      <p:sp>
        <p:nvSpPr>
          <p:cNvPr id="11" name="Core · AGENT_04–11 key"/>
          <p:cNvSpPr/>
          <p:nvPr/>
        </p:nvSpPr>
        <p:spPr>
          <a:xfrm>
            <a:off x="914400" y="5212080"/>
            <a:ext cx="164592" cy="164592"/>
          </a:xfrm>
          <a:prstGeom prst="ellipse">
            <a:avLst/>
          </a:prstGeom>
          <a:solidFill>
            <a:schemeClr val="accent1"/>
          </a:solidFill>
          <a:ln/>
        </p:spPr>
      </p:sp>
      <p:sp>
        <p:nvSpPr>
          <p:cNvPr id="12" name="Text 8"/>
          <p:cNvSpPr txBox="1"/>
          <p:nvPr/>
        </p:nvSpPr>
        <p:spPr>
          <a:xfrm>
            <a:off x="1207008" y="5148072"/>
            <a:ext cx="5303520" cy="292608"/>
          </a:xfrm>
          <a:prstGeom prst="rect">
            <a:avLst/>
          </a:prstGeom>
          <a:noFill/>
          <a:ln/>
        </p:spPr>
        <p:txBody>
          <a:bodyPr wrap="square" lIns="0" tIns="0" rIns="0" bIns="0" rtlCol="0" anchor="ctr"/>
          <a:lstStyle/>
          <a:p>
            <a:pPr indent="0" marL="0">
              <a:buNone/>
            </a:pPr>
            <a:r>
              <a:rPr lang="en-US" sz="1300" b="1" dirty="0">
                <a:solidFill>
                  <a:schemeClr val="tx1"/>
                </a:solidFill>
              </a:rPr>
              <a:t>Core · AGENT_04–11</a:t>
            </a:r>
            <a:pPr indent="0" marL="0">
              <a:buNone/>
            </a:pPr>
            <a:r>
              <a:rPr lang="en-US" sz="1300" dirty="0">
                <a:solidFill>
                  <a:schemeClr val="accent4"/>
                </a:solidFill>
              </a:rPr>
              <a:t>   99.2% QA  ·  48.0s AHT (97s on manual)</a:t>
            </a:r>
            <a:endParaRPr lang="en-US" sz="1300" dirty="0"/>
          </a:p>
        </p:txBody>
      </p:sp>
      <p:sp>
        <p:nvSpPr>
          <p:cNvPr id="13" name="New Hire · AGENT_01–03 key"/>
          <p:cNvSpPr/>
          <p:nvPr/>
        </p:nvSpPr>
        <p:spPr>
          <a:xfrm>
            <a:off x="914400" y="5541264"/>
            <a:ext cx="164592" cy="164592"/>
          </a:xfrm>
          <a:prstGeom prst="ellipse">
            <a:avLst/>
          </a:prstGeom>
          <a:solidFill>
            <a:schemeClr val="accent5"/>
          </a:solidFill>
          <a:ln/>
        </p:spPr>
      </p:sp>
      <p:sp>
        <p:nvSpPr>
          <p:cNvPr id="14" name="Text 10"/>
          <p:cNvSpPr txBox="1"/>
          <p:nvPr/>
        </p:nvSpPr>
        <p:spPr>
          <a:xfrm>
            <a:off x="1207008" y="5477256"/>
            <a:ext cx="5303520" cy="292608"/>
          </a:xfrm>
          <a:prstGeom prst="rect">
            <a:avLst/>
          </a:prstGeom>
          <a:noFill/>
          <a:ln/>
        </p:spPr>
        <p:txBody>
          <a:bodyPr wrap="square" lIns="0" tIns="0" rIns="0" bIns="0" rtlCol="0" anchor="ctr"/>
          <a:lstStyle/>
          <a:p>
            <a:pPr indent="0" marL="0">
              <a:buNone/>
            </a:pPr>
            <a:r>
              <a:rPr lang="en-US" sz="1300" b="1" dirty="0">
                <a:solidFill>
                  <a:schemeClr val="tx1"/>
                </a:solidFill>
              </a:rPr>
              <a:t>New Hire · AGENT_01–03</a:t>
            </a:r>
            <a:pPr indent="0" marL="0">
              <a:buNone/>
            </a:pPr>
            <a:r>
              <a:rPr lang="en-US" sz="1300" dirty="0">
                <a:solidFill>
                  <a:schemeClr val="accent4"/>
                </a:solidFill>
              </a:rPr>
              <a:t>   94.5% QA  ·  62.7s AHT (125s on manual)</a:t>
            </a:r>
            <a:endParaRPr lang="en-US" sz="1300" dirty="0"/>
          </a:p>
        </p:txBody>
      </p:sp>
      <p:sp>
        <p:nvSpPr>
          <p:cNvPr id="15" name="Text 11"/>
          <p:cNvSpPr txBox="1"/>
          <p:nvPr/>
        </p:nvSpPr>
        <p:spPr>
          <a:xfrm>
            <a:off x="914400" y="5824728"/>
            <a:ext cx="5577840" cy="320040"/>
          </a:xfrm>
          <a:prstGeom prst="rect">
            <a:avLst/>
          </a:prstGeom>
          <a:noFill/>
          <a:ln/>
        </p:spPr>
        <p:txBody>
          <a:bodyPr wrap="square" lIns="0" tIns="0" rIns="0" bIns="0" rtlCol="0" anchor="t"/>
          <a:lstStyle/>
          <a:p>
            <a:pPr indent="0" marL="0">
              <a:buNone/>
            </a:pPr>
            <a:r>
              <a:rPr lang="en-US" sz="1200" i="1" dirty="0">
                <a:solidFill>
                  <a:schemeClr val="accent4"/>
                </a:solidFill>
              </a:rPr>
              <a:t>New hires made 4 of 7 audit errors (6.8% error rate vs. 1.1% tenured); 3 of the 4 were false positives.</a:t>
            </a:r>
            <a:endParaRPr lang="en-US" sz="1200" dirty="0"/>
          </a:p>
        </p:txBody>
      </p:sp>
      <p:sp>
        <p:nvSpPr>
          <p:cNvPr id="16" name="Capacity card"/>
          <p:cNvSpPr/>
          <p:nvPr/>
        </p:nvSpPr>
        <p:spPr>
          <a:xfrm>
            <a:off x="7132320" y="1481328"/>
            <a:ext cx="4510735" cy="4754880"/>
          </a:xfrm>
          <a:prstGeom prst="roundRect">
            <a:avLst>
              <a:gd name="adj" fmla="val 2433"/>
            </a:avLst>
          </a:prstGeom>
          <a:solidFill>
            <a:schemeClr val="bg1"/>
          </a:solidFill>
          <a:ln/>
          <a:effectLst>
            <a:outerShdw sx="100000" sy="100000" kx="0" ky="0" algn="bl" rotWithShape="0" blurRad="101600" dist="25400" dir="5400000">
              <a:srgbClr val="000000">
                <a:alpha val="10000"/>
              </a:srgbClr>
            </a:outerShdw>
          </a:effectLst>
        </p:spPr>
      </p:sp>
      <p:sp>
        <p:nvSpPr>
          <p:cNvPr id="17" name="Capacity model circle"/>
          <p:cNvSpPr/>
          <p:nvPr/>
        </p:nvSpPr>
        <p:spPr>
          <a:xfrm>
            <a:off x="7452360" y="1709928"/>
            <a:ext cx="411480" cy="411480"/>
          </a:xfrm>
          <a:prstGeom prst="ellipse">
            <a:avLst/>
          </a:prstGeom>
          <a:solidFill>
            <a:schemeClr val="accent1"/>
          </a:solidFill>
          <a:ln/>
        </p:spPr>
      </p:sp>
      <p:pic>
        <p:nvPicPr>
          <p:cNvPr id="18" name="Capacity model icon" descr="Capacity model">    </p:cNvPr>
          <p:cNvPicPr>
            <a:picLocks noChangeAspect="1"/>
          </p:cNvPicPr>
          <p:nvPr/>
        </p:nvPicPr>
        <p:blipFill>
          <a:blip r:embed="rId3"/>
          <a:stretch>
            <a:fillRect/>
          </a:stretch>
        </p:blipFill>
        <p:spPr>
          <a:xfrm>
            <a:off x="7555230" y="1812798"/>
            <a:ext cx="205740" cy="205740"/>
          </a:xfrm>
          <a:prstGeom prst="rect">
            <a:avLst/>
          </a:prstGeom>
        </p:spPr>
      </p:pic>
      <p:sp>
        <p:nvSpPr>
          <p:cNvPr id="19" name="Text 14"/>
          <p:cNvSpPr txBox="1"/>
          <p:nvPr/>
        </p:nvSpPr>
        <p:spPr>
          <a:xfrm>
            <a:off x="8001000" y="1709928"/>
            <a:ext cx="3322015" cy="411480"/>
          </a:xfrm>
          <a:prstGeom prst="rect">
            <a:avLst/>
          </a:prstGeom>
          <a:noFill/>
          <a:ln/>
        </p:spPr>
        <p:txBody>
          <a:bodyPr wrap="square" lIns="0" tIns="0" rIns="0" bIns="0" rtlCol="0" anchor="ctr"/>
          <a:lstStyle/>
          <a:p>
            <a:pPr indent="0" marL="0">
              <a:buNone/>
            </a:pPr>
            <a:r>
              <a:rPr lang="en-US" sz="1600" b="1" dirty="0">
                <a:solidFill>
                  <a:schemeClr val="accent1"/>
                </a:solidFill>
              </a:rPr>
              <a:t>Capacity gap under the surge mix</a:t>
            </a:r>
            <a:endParaRPr lang="en-US" sz="1600" dirty="0"/>
          </a:p>
        </p:txBody>
      </p:sp>
      <p:sp>
        <p:nvSpPr>
          <p:cNvPr id="20" name="Text 15"/>
          <p:cNvSpPr txBox="1"/>
          <p:nvPr/>
        </p:nvSpPr>
        <p:spPr>
          <a:xfrm>
            <a:off x="7452360" y="2304288"/>
            <a:ext cx="2468880" cy="502920"/>
          </a:xfrm>
          <a:prstGeom prst="rect">
            <a:avLst/>
          </a:prstGeom>
          <a:noFill/>
          <a:ln/>
        </p:spPr>
        <p:txBody>
          <a:bodyPr wrap="square" lIns="0" tIns="0" rIns="0" bIns="0" rtlCol="0" anchor="t"/>
          <a:lstStyle/>
          <a:p>
            <a:pPr indent="0" marL="0">
              <a:buNone/>
            </a:pPr>
            <a:r>
              <a:rPr lang="en-US" sz="1300" b="1" dirty="0">
                <a:solidFill>
                  <a:schemeClr val="tx1"/>
                </a:solidFill>
              </a:rPr>
              <a:t>Standard 8.0h shift</a:t>
            </a:r>
            <a:endParaRPr lang="en-US" sz="1300" dirty="0"/>
          </a:p>
          <a:p>
            <a:pPr indent="0" marL="0">
              <a:buNone/>
            </a:pPr>
            <a:r>
              <a:rPr lang="en-US" sz="1100" dirty="0">
                <a:solidFill>
                  <a:schemeClr val="accent4"/>
                </a:solidFill>
              </a:rPr>
              <a:t>25% shrinkage · 80% occupancy</a:t>
            </a:r>
            <a:endParaRPr lang="en-US" sz="1300" dirty="0"/>
          </a:p>
        </p:txBody>
      </p:sp>
      <p:sp>
        <p:nvSpPr>
          <p:cNvPr id="21" name="Text 16"/>
          <p:cNvSpPr txBox="1"/>
          <p:nvPr/>
        </p:nvSpPr>
        <p:spPr>
          <a:xfrm>
            <a:off x="9829800" y="2304288"/>
            <a:ext cx="1493215" cy="502920"/>
          </a:xfrm>
          <a:prstGeom prst="rect">
            <a:avLst/>
          </a:prstGeom>
          <a:noFill/>
          <a:ln/>
        </p:spPr>
        <p:txBody>
          <a:bodyPr wrap="square" lIns="0" tIns="0" rIns="0" bIns="0" rtlCol="0" anchor="ctr"/>
          <a:lstStyle/>
          <a:p>
            <a:pPr algn="r" indent="0" marL="0">
              <a:buNone/>
            </a:pPr>
            <a:r>
              <a:rPr lang="en-US" sz="1500" b="1" dirty="0">
                <a:solidFill>
                  <a:schemeClr val="accent1"/>
                </a:solidFill>
              </a:rPr>
              <a:t>4.80 h/day</a:t>
            </a:r>
            <a:endParaRPr lang="en-US" sz="1500" dirty="0"/>
          </a:p>
        </p:txBody>
      </p:sp>
      <p:sp>
        <p:nvSpPr>
          <p:cNvPr id="22" name="Text 17"/>
          <p:cNvSpPr txBox="1"/>
          <p:nvPr/>
        </p:nvSpPr>
        <p:spPr>
          <a:xfrm>
            <a:off x="7452360" y="2871216"/>
            <a:ext cx="2468880" cy="502920"/>
          </a:xfrm>
          <a:prstGeom prst="rect">
            <a:avLst/>
          </a:prstGeom>
          <a:noFill/>
          <a:ln/>
        </p:spPr>
        <p:txBody>
          <a:bodyPr wrap="square" lIns="0" tIns="0" rIns="0" bIns="0" rtlCol="0" anchor="t"/>
          <a:lstStyle/>
          <a:p>
            <a:pPr indent="0" marL="0">
              <a:buNone/>
            </a:pPr>
            <a:r>
              <a:rPr lang="en-US" sz="1300" b="1" dirty="0">
                <a:solidFill>
                  <a:schemeClr val="tx1"/>
                </a:solidFill>
              </a:rPr>
              <a:t>Egregious 5.5h shift</a:t>
            </a:r>
            <a:endParaRPr lang="en-US" sz="1300" dirty="0"/>
          </a:p>
          <a:p>
            <a:pPr indent="0" marL="0">
              <a:buNone/>
            </a:pPr>
            <a:r>
              <a:rPr lang="en-US" sz="1100" dirty="0">
                <a:solidFill>
                  <a:schemeClr val="accent4"/>
                </a:solidFill>
              </a:rPr>
              <a:t>30% shrinkage · 80% occupancy</a:t>
            </a:r>
            <a:endParaRPr lang="en-US" sz="1300" dirty="0"/>
          </a:p>
        </p:txBody>
      </p:sp>
      <p:sp>
        <p:nvSpPr>
          <p:cNvPr id="23" name="Text 18"/>
          <p:cNvSpPr txBox="1"/>
          <p:nvPr/>
        </p:nvSpPr>
        <p:spPr>
          <a:xfrm>
            <a:off x="9829800" y="2871216"/>
            <a:ext cx="1493215" cy="502920"/>
          </a:xfrm>
          <a:prstGeom prst="rect">
            <a:avLst/>
          </a:prstGeom>
          <a:noFill/>
          <a:ln/>
        </p:spPr>
        <p:txBody>
          <a:bodyPr wrap="square" lIns="0" tIns="0" rIns="0" bIns="0" rtlCol="0" anchor="ctr"/>
          <a:lstStyle/>
          <a:p>
            <a:pPr algn="r" indent="0" marL="0">
              <a:buNone/>
            </a:pPr>
            <a:r>
              <a:rPr lang="en-US" sz="1500" b="1" dirty="0">
                <a:solidFill>
                  <a:schemeClr val="accent1"/>
                </a:solidFill>
              </a:rPr>
              <a:t>3.08 h/day</a:t>
            </a:r>
            <a:endParaRPr lang="en-US" sz="1500" dirty="0"/>
          </a:p>
        </p:txBody>
      </p:sp>
      <p:sp>
        <p:nvSpPr>
          <p:cNvPr id="24" name="Text 19"/>
          <p:cNvSpPr txBox="1"/>
          <p:nvPr/>
        </p:nvSpPr>
        <p:spPr>
          <a:xfrm>
            <a:off x="7452360" y="3438144"/>
            <a:ext cx="2468880" cy="502920"/>
          </a:xfrm>
          <a:prstGeom prst="rect">
            <a:avLst/>
          </a:prstGeom>
          <a:noFill/>
          <a:ln/>
        </p:spPr>
        <p:txBody>
          <a:bodyPr wrap="square" lIns="0" tIns="0" rIns="0" bIns="0" rtlCol="0" anchor="t"/>
          <a:lstStyle/>
          <a:p>
            <a:pPr indent="0" marL="0">
              <a:buNone/>
            </a:pPr>
            <a:r>
              <a:rPr lang="en-US" sz="1300" b="1" dirty="0">
                <a:solidFill>
                  <a:schemeClr val="tx1"/>
                </a:solidFill>
              </a:rPr>
              <a:t>Handling time per item</a:t>
            </a:r>
            <a:endParaRPr lang="en-US" sz="1300" dirty="0"/>
          </a:p>
          <a:p>
            <a:pPr indent="0" marL="0">
              <a:buNone/>
            </a:pPr>
            <a:r>
              <a:rPr lang="en-US" sz="1100" dirty="0">
                <a:solidFill>
                  <a:schemeClr val="accent4"/>
                </a:solidFill>
              </a:rPr>
              <a:t>Egregious share of hours 47% → 53%</a:t>
            </a:r>
            <a:endParaRPr lang="en-US" sz="1300" dirty="0"/>
          </a:p>
        </p:txBody>
      </p:sp>
      <p:sp>
        <p:nvSpPr>
          <p:cNvPr id="25" name="Text 20"/>
          <p:cNvSpPr txBox="1"/>
          <p:nvPr/>
        </p:nvSpPr>
        <p:spPr>
          <a:xfrm>
            <a:off x="9829800" y="3438144"/>
            <a:ext cx="1493215" cy="502920"/>
          </a:xfrm>
          <a:prstGeom prst="rect">
            <a:avLst/>
          </a:prstGeom>
          <a:noFill/>
          <a:ln/>
        </p:spPr>
        <p:txBody>
          <a:bodyPr wrap="square" lIns="0" tIns="0" rIns="0" bIns="0" rtlCol="0" anchor="ctr"/>
          <a:lstStyle/>
          <a:p>
            <a:pPr algn="r" indent="0" marL="0">
              <a:buNone/>
            </a:pPr>
            <a:r>
              <a:rPr lang="en-US" sz="1500" b="1" dirty="0">
                <a:solidFill>
                  <a:schemeClr val="accent1"/>
                </a:solidFill>
              </a:rPr>
              <a:t>49.7s → 65.3s</a:t>
            </a:r>
            <a:endParaRPr lang="en-US" sz="1500" dirty="0"/>
          </a:p>
        </p:txBody>
      </p:sp>
      <p:sp>
        <p:nvSpPr>
          <p:cNvPr id="26" name="Surge gap panel"/>
          <p:cNvSpPr/>
          <p:nvPr/>
        </p:nvSpPr>
        <p:spPr>
          <a:xfrm>
            <a:off x="7452360" y="4087368"/>
            <a:ext cx="3870655" cy="1920240"/>
          </a:xfrm>
          <a:prstGeom prst="roundRect">
            <a:avLst>
              <a:gd name="adj" fmla="val 3810"/>
            </a:avLst>
          </a:prstGeom>
          <a:solidFill>
            <a:schemeClr val="bg2"/>
          </a:solidFill>
          <a:ln/>
        </p:spPr>
      </p:sp>
      <p:sp>
        <p:nvSpPr>
          <p:cNvPr id="27" name="Text 22"/>
          <p:cNvSpPr txBox="1"/>
          <p:nvPr/>
        </p:nvSpPr>
        <p:spPr>
          <a:xfrm>
            <a:off x="7635240" y="4224528"/>
            <a:ext cx="3200400" cy="274320"/>
          </a:xfrm>
          <a:prstGeom prst="rect">
            <a:avLst/>
          </a:prstGeom>
          <a:noFill/>
          <a:ln/>
        </p:spPr>
        <p:txBody>
          <a:bodyPr wrap="square" lIns="0" tIns="0" rIns="0" bIns="0" rtlCol="0" anchor="t"/>
          <a:lstStyle/>
          <a:p>
            <a:pPr indent="0" marL="0">
              <a:buNone/>
            </a:pPr>
            <a:r>
              <a:rPr lang="en-US" sz="1300" b="1" dirty="0">
                <a:solidFill>
                  <a:schemeClr val="tx1"/>
                </a:solidFill>
              </a:rPr>
              <a:t>Sep 24–27, same daily volume</a:t>
            </a:r>
            <a:endParaRPr lang="en-US" sz="1300" dirty="0"/>
          </a:p>
        </p:txBody>
      </p:sp>
      <p:sp>
        <p:nvSpPr>
          <p:cNvPr id="28" name="Text 23"/>
          <p:cNvSpPr txBox="1"/>
          <p:nvPr/>
        </p:nvSpPr>
        <p:spPr>
          <a:xfrm>
            <a:off x="7635240" y="4617720"/>
            <a:ext cx="1188720" cy="292608"/>
          </a:xfrm>
          <a:prstGeom prst="rect">
            <a:avLst/>
          </a:prstGeom>
          <a:noFill/>
          <a:ln/>
        </p:spPr>
        <p:txBody>
          <a:bodyPr wrap="square" lIns="0" tIns="0" rIns="0" bIns="0" rtlCol="0" anchor="ctr"/>
          <a:lstStyle/>
          <a:p>
            <a:pPr indent="0" marL="0">
              <a:buNone/>
            </a:pPr>
            <a:r>
              <a:rPr lang="en-US" sz="1200" dirty="0">
                <a:solidFill>
                  <a:schemeClr val="accent4"/>
                </a:solidFill>
              </a:rPr>
              <a:t>Required</a:t>
            </a:r>
            <a:endParaRPr lang="en-US" sz="1200" dirty="0"/>
          </a:p>
        </p:txBody>
      </p:sp>
      <p:sp>
        <p:nvSpPr>
          <p:cNvPr id="29" name="Required FTE bar"/>
          <p:cNvSpPr/>
          <p:nvPr/>
        </p:nvSpPr>
        <p:spPr>
          <a:xfrm>
            <a:off x="8823960" y="4654296"/>
            <a:ext cx="1584655" cy="219456"/>
          </a:xfrm>
          <a:prstGeom prst="rect">
            <a:avLst/>
          </a:prstGeom>
          <a:solidFill>
            <a:schemeClr val="accent6"/>
          </a:solidFill>
          <a:ln/>
        </p:spPr>
      </p:sp>
      <p:sp>
        <p:nvSpPr>
          <p:cNvPr id="30" name="Text 25"/>
          <p:cNvSpPr txBox="1"/>
          <p:nvPr/>
        </p:nvSpPr>
        <p:spPr>
          <a:xfrm>
            <a:off x="10454335" y="4617720"/>
            <a:ext cx="822960" cy="292608"/>
          </a:xfrm>
          <a:prstGeom prst="rect">
            <a:avLst/>
          </a:prstGeom>
          <a:noFill/>
          <a:ln/>
        </p:spPr>
        <p:txBody>
          <a:bodyPr wrap="square" lIns="0" tIns="0" rIns="0" bIns="0" rtlCol="0" anchor="ctr"/>
          <a:lstStyle/>
          <a:p>
            <a:pPr indent="0" marL="0">
              <a:buNone/>
            </a:pPr>
            <a:r>
              <a:rPr lang="en-US" sz="1200" b="1" dirty="0">
                <a:solidFill>
                  <a:schemeClr val="tx1"/>
                </a:solidFill>
              </a:rPr>
              <a:t>19 FTEs</a:t>
            </a:r>
            <a:endParaRPr lang="en-US" sz="1200" dirty="0"/>
          </a:p>
        </p:txBody>
      </p:sp>
      <p:sp>
        <p:nvSpPr>
          <p:cNvPr id="31" name="Text 26"/>
          <p:cNvSpPr txBox="1"/>
          <p:nvPr/>
        </p:nvSpPr>
        <p:spPr>
          <a:xfrm>
            <a:off x="7635240" y="5029200"/>
            <a:ext cx="1188720" cy="292608"/>
          </a:xfrm>
          <a:prstGeom prst="rect">
            <a:avLst/>
          </a:prstGeom>
          <a:noFill/>
          <a:ln/>
        </p:spPr>
        <p:txBody>
          <a:bodyPr wrap="square" lIns="0" tIns="0" rIns="0" bIns="0" rtlCol="0" anchor="ctr"/>
          <a:lstStyle/>
          <a:p>
            <a:pPr indent="0" marL="0">
              <a:buNone/>
            </a:pPr>
            <a:r>
              <a:rPr lang="en-US" sz="1200" dirty="0">
                <a:solidFill>
                  <a:schemeClr val="accent4"/>
                </a:solidFill>
              </a:rPr>
              <a:t>Active roster</a:t>
            </a:r>
            <a:endParaRPr lang="en-US" sz="1200" dirty="0"/>
          </a:p>
        </p:txBody>
      </p:sp>
      <p:sp>
        <p:nvSpPr>
          <p:cNvPr id="32" name="Active roster FTE bar"/>
          <p:cNvSpPr/>
          <p:nvPr/>
        </p:nvSpPr>
        <p:spPr>
          <a:xfrm>
            <a:off x="8823960" y="5065776"/>
            <a:ext cx="1251044" cy="219456"/>
          </a:xfrm>
          <a:prstGeom prst="rect">
            <a:avLst/>
          </a:prstGeom>
          <a:solidFill>
            <a:schemeClr val="accent1"/>
          </a:solidFill>
          <a:ln/>
        </p:spPr>
      </p:sp>
      <p:sp>
        <p:nvSpPr>
          <p:cNvPr id="33" name="Text 28"/>
          <p:cNvSpPr txBox="1"/>
          <p:nvPr/>
        </p:nvSpPr>
        <p:spPr>
          <a:xfrm>
            <a:off x="10120724" y="5029200"/>
            <a:ext cx="822960" cy="292608"/>
          </a:xfrm>
          <a:prstGeom prst="rect">
            <a:avLst/>
          </a:prstGeom>
          <a:noFill/>
          <a:ln/>
        </p:spPr>
        <p:txBody>
          <a:bodyPr wrap="square" lIns="0" tIns="0" rIns="0" bIns="0" rtlCol="0" anchor="ctr"/>
          <a:lstStyle/>
          <a:p>
            <a:pPr indent="0" marL="0">
              <a:buNone/>
            </a:pPr>
            <a:r>
              <a:rPr lang="en-US" sz="1200" b="1" dirty="0">
                <a:solidFill>
                  <a:schemeClr val="tx1"/>
                </a:solidFill>
              </a:rPr>
              <a:t>15 FTEs</a:t>
            </a:r>
            <a:endParaRPr lang="en-US" sz="1200" dirty="0"/>
          </a:p>
        </p:txBody>
      </p:sp>
      <p:sp>
        <p:nvSpPr>
          <p:cNvPr id="34" name="Text 29"/>
          <p:cNvSpPr txBox="1"/>
          <p:nvPr/>
        </p:nvSpPr>
        <p:spPr>
          <a:xfrm>
            <a:off x="7635240" y="5367528"/>
            <a:ext cx="3504895" cy="365760"/>
          </a:xfrm>
          <a:prstGeom prst="rect">
            <a:avLst/>
          </a:prstGeom>
          <a:noFill/>
          <a:ln/>
        </p:spPr>
        <p:txBody>
          <a:bodyPr wrap="square" lIns="0" tIns="0" rIns="0" bIns="0" rtlCol="0" anchor="ctr"/>
          <a:lstStyle/>
          <a:p>
            <a:pPr indent="0" marL="0">
              <a:buNone/>
            </a:pPr>
            <a:r>
              <a:rPr lang="en-US" sz="2200" b="1" dirty="0">
                <a:solidFill>
                  <a:schemeClr val="accent6"/>
                </a:solidFill>
                <a:latin typeface="Arial" pitchFamily="34" charset="0"/>
                <a:ea typeface="Arial" pitchFamily="34" charset="-122"/>
                <a:cs typeface="Arial" pitchFamily="34" charset="-120"/>
              </a:rPr>
              <a:t>−4 FTE deficit</a:t>
            </a:r>
            <a:endParaRPr lang="en-US" sz="2200" dirty="0"/>
          </a:p>
        </p:txBody>
      </p:sp>
      <p:sp>
        <p:nvSpPr>
          <p:cNvPr id="35" name="Text 30"/>
          <p:cNvSpPr txBox="1"/>
          <p:nvPr/>
        </p:nvSpPr>
        <p:spPr>
          <a:xfrm>
            <a:off x="7635240" y="5715000"/>
            <a:ext cx="3504895" cy="228600"/>
          </a:xfrm>
          <a:prstGeom prst="rect">
            <a:avLst/>
          </a:prstGeom>
          <a:noFill/>
          <a:ln/>
        </p:spPr>
        <p:txBody>
          <a:bodyPr wrap="square" lIns="0" tIns="0" rIns="0" bIns="0" rtlCol="0" anchor="t"/>
          <a:lstStyle/>
          <a:p>
            <a:pPr indent="0" marL="0">
              <a:buNone/>
            </a:pPr>
            <a:r>
              <a:rPr lang="en-US" sz="1200" dirty="0">
                <a:solidFill>
                  <a:schemeClr val="tx1"/>
                </a:solidFill>
              </a:rPr>
              <a:t>Model assumes 15 FTEs sized to the pre-surge mix</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8229600" cy="292608"/>
          </a:xfrm>
          <a:prstGeom prst="rect">
            <a:avLst/>
          </a:prstGeom>
          <a:noFill/>
          <a:ln/>
        </p:spPr>
        <p:txBody>
          <a:bodyPr wrap="square" lIns="0" tIns="0" rIns="0" bIns="0" rtlCol="0" anchor="ctr"/>
          <a:lstStyle/>
          <a:p>
            <a:pPr indent="0" marL="0">
              <a:buNone/>
            </a:pPr>
            <a:r>
              <a:rPr lang="en-US" sz="1300" b="1" spc="200" kern="0" dirty="0">
                <a:solidFill>
                  <a:schemeClr val="accent2"/>
                </a:solidFill>
              </a:rPr>
              <a:t>NOW WHAT?  ·  ACTION PLAN</a:t>
            </a:r>
            <a:endParaRPr lang="en-US" sz="1300" dirty="0"/>
          </a:p>
        </p:txBody>
      </p:sp>
      <p:sp>
        <p:nvSpPr>
          <p:cNvPr id="3" name="Text 1"/>
          <p:cNvSpPr/>
          <p:nvPr>
            <p:ph idx="102" type="title" hasCustomPrompt="1"/>
          </p:nvPr>
        </p:nvSpPr>
        <p:spPr>
          <a:xfrm>
            <a:off x="548640" y="658368"/>
            <a:ext cx="11094415" cy="640080"/>
          </a:xfrm>
          <a:prstGeom prst="rect">
            <a:avLst/>
          </a:prstGeom>
          <a:noFill/>
          <a:ln/>
        </p:spPr>
        <p:txBody>
          <a:bodyPr wrap="square" lIns="0" tIns="0" rIns="0" bIns="0" rtlCol="0" anchor="ctr"/>
          <a:lstStyle/>
          <a:p>
            <a:pPr algn="l" indent="0" marL="0">
              <a:buNone/>
            </a:pPr>
            <a:r>
              <a:rPr lang="en-US" sz="3200" b="1" dirty="0">
                <a:solidFill>
                  <a:schemeClr val="bg1"/>
                </a:solidFill>
              </a:rPr>
              <a:t>Action Plan: Rebalance Capacity, Not Headcount</a:t>
            </a:r>
            <a:endParaRPr lang="en-US" sz="3200" dirty="0"/>
          </a:p>
        </p:txBody>
      </p:sp>
      <p:sp>
        <p:nvSpPr>
          <p:cNvPr id="4" name="ACTION 1 card"/>
          <p:cNvSpPr/>
          <p:nvPr/>
        </p:nvSpPr>
        <p:spPr>
          <a:xfrm>
            <a:off x="548640" y="1481328"/>
            <a:ext cx="3515258" cy="3401568"/>
          </a:xfrm>
          <a:prstGeom prst="roundRect">
            <a:avLst>
              <a:gd name="adj" fmla="val 3226"/>
            </a:avLst>
          </a:prstGeom>
          <a:solidFill>
            <a:schemeClr val="bg1"/>
          </a:solidFill>
          <a:ln/>
          <a:effectLst>
            <a:outerShdw sx="100000" sy="100000" kx="0" ky="0" algn="bl" rotWithShape="0" blurRad="101600" dist="25400" dir="5400000">
              <a:srgbClr val="000000">
                <a:alpha val="10000"/>
              </a:srgbClr>
            </a:outerShdw>
          </a:effectLst>
        </p:spPr>
      </p:sp>
      <p:sp>
        <p:nvSpPr>
          <p:cNvPr id="5" name="ACTION 1 circle"/>
          <p:cNvSpPr/>
          <p:nvPr/>
        </p:nvSpPr>
        <p:spPr>
          <a:xfrm>
            <a:off x="868680" y="1755648"/>
            <a:ext cx="566928" cy="566928"/>
          </a:xfrm>
          <a:prstGeom prst="ellipse">
            <a:avLst/>
          </a:prstGeom>
          <a:solidFill>
            <a:schemeClr val="accent1"/>
          </a:solidFill>
          <a:ln/>
        </p:spPr>
      </p:sp>
      <p:pic>
        <p:nvPicPr>
          <p:cNvPr id="6" name="ACTION 1 icon" descr="ACTION 1">    </p:cNvPr>
          <p:cNvPicPr>
            <a:picLocks noChangeAspect="1"/>
          </p:cNvPicPr>
          <p:nvPr/>
        </p:nvPicPr>
        <p:blipFill>
          <a:blip r:embed="rId1"/>
          <a:stretch>
            <a:fillRect/>
          </a:stretch>
        </p:blipFill>
        <p:spPr>
          <a:xfrm>
            <a:off x="1010412" y="1897380"/>
            <a:ext cx="283464" cy="283464"/>
          </a:xfrm>
          <a:prstGeom prst="rect">
            <a:avLst/>
          </a:prstGeom>
        </p:spPr>
      </p:pic>
      <p:sp>
        <p:nvSpPr>
          <p:cNvPr id="7" name="Text 4"/>
          <p:cNvSpPr txBox="1"/>
          <p:nvPr/>
        </p:nvSpPr>
        <p:spPr>
          <a:xfrm>
            <a:off x="1600200" y="1755648"/>
            <a:ext cx="2143658" cy="566928"/>
          </a:xfrm>
          <a:prstGeom prst="rect">
            <a:avLst/>
          </a:prstGeom>
          <a:noFill/>
          <a:ln/>
        </p:spPr>
        <p:txBody>
          <a:bodyPr wrap="square" lIns="0" tIns="0" rIns="0" bIns="0" rtlCol="0" anchor="ctr"/>
          <a:lstStyle/>
          <a:p>
            <a:pPr indent="0" marL="0">
              <a:buNone/>
            </a:pPr>
            <a:r>
              <a:rPr lang="en-US" sz="1300" b="1" spc="200" kern="0" dirty="0">
                <a:solidFill>
                  <a:schemeClr val="accent4"/>
                </a:solidFill>
              </a:rPr>
              <a:t>ACTION 1</a:t>
            </a:r>
            <a:endParaRPr lang="en-US" sz="1300" dirty="0"/>
          </a:p>
        </p:txBody>
      </p:sp>
      <p:sp>
        <p:nvSpPr>
          <p:cNvPr id="8" name="Text 5"/>
          <p:cNvSpPr txBox="1"/>
          <p:nvPr/>
        </p:nvSpPr>
        <p:spPr>
          <a:xfrm>
            <a:off x="868680" y="2468880"/>
            <a:ext cx="2875178" cy="640080"/>
          </a:xfrm>
          <a:prstGeom prst="rect">
            <a:avLst/>
          </a:prstGeom>
          <a:noFill/>
          <a:ln/>
        </p:spPr>
        <p:txBody>
          <a:bodyPr wrap="square" lIns="0" tIns="0" rIns="0" bIns="0" rtlCol="0" anchor="t"/>
          <a:lstStyle/>
          <a:p>
            <a:pPr indent="0" marL="0">
              <a:buNone/>
            </a:pPr>
            <a:r>
              <a:rPr lang="en-US" sz="1700" b="1" dirty="0">
                <a:solidFill>
                  <a:schemeClr val="accent1"/>
                </a:solidFill>
              </a:rPr>
              <a:t>Mix-triggered cross-queue flex staffing</a:t>
            </a:r>
            <a:endParaRPr lang="en-US" sz="1700" dirty="0"/>
          </a:p>
        </p:txBody>
      </p:sp>
      <p:sp>
        <p:nvSpPr>
          <p:cNvPr id="9" name="Text 6"/>
          <p:cNvSpPr txBox="1"/>
          <p:nvPr/>
        </p:nvSpPr>
        <p:spPr>
          <a:xfrm>
            <a:off x="868680" y="3218688"/>
            <a:ext cx="2875178" cy="1481328"/>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When Violence + TCO exceed 35% of daily intake, flex 4 FTEs from Spam &amp; Fraud</a:t>
            </a:r>
            <a:endParaRPr lang="en-US" sz="1400" dirty="0"/>
          </a:p>
          <a:p>
            <a:pPr marL="177800" indent="-177800">
              <a:spcAft>
                <a:spcPts val="800"/>
              </a:spcAft>
              <a:buSzPct val="100000"/>
              <a:buChar char="•"/>
            </a:pPr>
            <a:r>
              <a:rPr lang="en-US" sz="1400" dirty="0">
                <a:solidFill>
                  <a:schemeClr val="tx1"/>
                </a:solidFill>
              </a:rPr>
              <a:t>Spam &amp; Fraud use 22% of handling hours and Spam is already 75% automated</a:t>
            </a:r>
            <a:endParaRPr lang="en-US" sz="1400" dirty="0"/>
          </a:p>
        </p:txBody>
      </p:sp>
      <p:sp>
        <p:nvSpPr>
          <p:cNvPr id="10" name="ACTION 2 card"/>
          <p:cNvSpPr/>
          <p:nvPr/>
        </p:nvSpPr>
        <p:spPr>
          <a:xfrm>
            <a:off x="4338218" y="1481328"/>
            <a:ext cx="3515258" cy="3401568"/>
          </a:xfrm>
          <a:prstGeom prst="roundRect">
            <a:avLst>
              <a:gd name="adj" fmla="val 3226"/>
            </a:avLst>
          </a:prstGeom>
          <a:solidFill>
            <a:schemeClr val="bg1"/>
          </a:solidFill>
          <a:ln/>
          <a:effectLst>
            <a:outerShdw sx="100000" sy="100000" kx="0" ky="0" algn="bl" rotWithShape="0" blurRad="101600" dist="25400" dir="5400000">
              <a:srgbClr val="000000">
                <a:alpha val="10000"/>
              </a:srgbClr>
            </a:outerShdw>
          </a:effectLst>
        </p:spPr>
      </p:sp>
      <p:sp>
        <p:nvSpPr>
          <p:cNvPr id="11" name="ACTION 2 circle"/>
          <p:cNvSpPr/>
          <p:nvPr/>
        </p:nvSpPr>
        <p:spPr>
          <a:xfrm>
            <a:off x="4658258" y="1755648"/>
            <a:ext cx="566928" cy="566928"/>
          </a:xfrm>
          <a:prstGeom prst="ellipse">
            <a:avLst/>
          </a:prstGeom>
          <a:solidFill>
            <a:schemeClr val="accent2"/>
          </a:solidFill>
          <a:ln/>
        </p:spPr>
      </p:sp>
      <p:pic>
        <p:nvPicPr>
          <p:cNvPr id="12" name="ACTION 2 icon" descr="ACTION 2">    </p:cNvPr>
          <p:cNvPicPr>
            <a:picLocks noChangeAspect="1"/>
          </p:cNvPicPr>
          <p:nvPr/>
        </p:nvPicPr>
        <p:blipFill>
          <a:blip r:embed="rId2"/>
          <a:stretch>
            <a:fillRect/>
          </a:stretch>
        </p:blipFill>
        <p:spPr>
          <a:xfrm>
            <a:off x="4799990" y="1897380"/>
            <a:ext cx="283464" cy="283464"/>
          </a:xfrm>
          <a:prstGeom prst="rect">
            <a:avLst/>
          </a:prstGeom>
        </p:spPr>
      </p:pic>
      <p:sp>
        <p:nvSpPr>
          <p:cNvPr id="13" name="Text 9"/>
          <p:cNvSpPr txBox="1"/>
          <p:nvPr/>
        </p:nvSpPr>
        <p:spPr>
          <a:xfrm>
            <a:off x="5389778" y="1755648"/>
            <a:ext cx="2143658" cy="566928"/>
          </a:xfrm>
          <a:prstGeom prst="rect">
            <a:avLst/>
          </a:prstGeom>
          <a:noFill/>
          <a:ln/>
        </p:spPr>
        <p:txBody>
          <a:bodyPr wrap="square" lIns="0" tIns="0" rIns="0" bIns="0" rtlCol="0" anchor="ctr"/>
          <a:lstStyle/>
          <a:p>
            <a:pPr indent="0" marL="0">
              <a:buNone/>
            </a:pPr>
            <a:r>
              <a:rPr lang="en-US" sz="1300" b="1" spc="200" kern="0" dirty="0">
                <a:solidFill>
                  <a:schemeClr val="accent4"/>
                </a:solidFill>
              </a:rPr>
              <a:t>ACTION 2</a:t>
            </a:r>
            <a:endParaRPr lang="en-US" sz="1300" dirty="0"/>
          </a:p>
        </p:txBody>
      </p:sp>
      <p:sp>
        <p:nvSpPr>
          <p:cNvPr id="14" name="Text 10"/>
          <p:cNvSpPr txBox="1"/>
          <p:nvPr/>
        </p:nvSpPr>
        <p:spPr>
          <a:xfrm>
            <a:off x="4658258" y="2468880"/>
            <a:ext cx="2875178" cy="640080"/>
          </a:xfrm>
          <a:prstGeom prst="rect">
            <a:avLst/>
          </a:prstGeom>
          <a:noFill/>
          <a:ln/>
        </p:spPr>
        <p:txBody>
          <a:bodyPr wrap="square" lIns="0" tIns="0" rIns="0" bIns="0" rtlCol="0" anchor="t"/>
          <a:lstStyle/>
          <a:p>
            <a:pPr indent="0" marL="0">
              <a:buNone/>
            </a:pPr>
            <a:r>
              <a:rPr lang="en-US" sz="1700" b="1" dirty="0">
                <a:solidFill>
                  <a:schemeClr val="accent1"/>
                </a:solidFill>
              </a:rPr>
              <a:t>Smarter video routing &amp; triage pilot</a:t>
            </a:r>
            <a:endParaRPr lang="en-US" sz="1700" dirty="0"/>
          </a:p>
        </p:txBody>
      </p:sp>
      <p:sp>
        <p:nvSpPr>
          <p:cNvPr id="15" name="Text 11"/>
          <p:cNvSpPr txBox="1"/>
          <p:nvPr/>
        </p:nvSpPr>
        <p:spPr>
          <a:xfrm>
            <a:off x="4658258" y="3218688"/>
            <a:ext cx="2875178" cy="1481328"/>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Route video &amp; live to Core and Senior agents; new hires are 20–41% slower on them</a:t>
            </a:r>
            <a:endParaRPr lang="en-US" sz="1400" dirty="0"/>
          </a:p>
          <a:p>
            <a:pPr marL="177800" indent="-177800">
              <a:spcAft>
                <a:spcPts val="800"/>
              </a:spcAft>
              <a:buSzPct val="100000"/>
              <a:buChar char="•"/>
            </a:pPr>
            <a:r>
              <a:rPr lang="en-US" sz="1400" dirty="0">
                <a:solidFill>
                  <a:schemeClr val="tx1"/>
                </a:solidFill>
              </a:rPr>
              <a:t>Pilot wider auto-triage in Violence (33% automated) and TCO (24%) with QA sign-off</a:t>
            </a:r>
            <a:endParaRPr lang="en-US" sz="1400" dirty="0"/>
          </a:p>
        </p:txBody>
      </p:sp>
      <p:sp>
        <p:nvSpPr>
          <p:cNvPr id="16" name="ACTION 3 card"/>
          <p:cNvSpPr/>
          <p:nvPr/>
        </p:nvSpPr>
        <p:spPr>
          <a:xfrm>
            <a:off x="8127797" y="1481328"/>
            <a:ext cx="3515258" cy="3401568"/>
          </a:xfrm>
          <a:prstGeom prst="roundRect">
            <a:avLst>
              <a:gd name="adj" fmla="val 3226"/>
            </a:avLst>
          </a:prstGeom>
          <a:solidFill>
            <a:schemeClr val="bg1"/>
          </a:solidFill>
          <a:ln/>
          <a:effectLst>
            <a:outerShdw sx="100000" sy="100000" kx="0" ky="0" algn="bl" rotWithShape="0" blurRad="101600" dist="25400" dir="5400000">
              <a:srgbClr val="000000">
                <a:alpha val="10000"/>
              </a:srgbClr>
            </a:outerShdw>
          </a:effectLst>
        </p:spPr>
      </p:sp>
      <p:sp>
        <p:nvSpPr>
          <p:cNvPr id="17" name="ACTION 3 circle"/>
          <p:cNvSpPr/>
          <p:nvPr/>
        </p:nvSpPr>
        <p:spPr>
          <a:xfrm>
            <a:off x="8447837" y="1755648"/>
            <a:ext cx="566928" cy="566928"/>
          </a:xfrm>
          <a:prstGeom prst="ellipse">
            <a:avLst/>
          </a:prstGeom>
          <a:solidFill>
            <a:schemeClr val="accent3"/>
          </a:solidFill>
          <a:ln/>
        </p:spPr>
      </p:sp>
      <p:pic>
        <p:nvPicPr>
          <p:cNvPr id="18" name="ACTION 3 icon" descr="ACTION 3">    </p:cNvPr>
          <p:cNvPicPr>
            <a:picLocks noChangeAspect="1"/>
          </p:cNvPicPr>
          <p:nvPr/>
        </p:nvPicPr>
        <p:blipFill>
          <a:blip r:embed="rId3"/>
          <a:stretch>
            <a:fillRect/>
          </a:stretch>
        </p:blipFill>
        <p:spPr>
          <a:xfrm>
            <a:off x="8589569" y="1897380"/>
            <a:ext cx="283464" cy="283464"/>
          </a:xfrm>
          <a:prstGeom prst="rect">
            <a:avLst/>
          </a:prstGeom>
        </p:spPr>
      </p:pic>
      <p:sp>
        <p:nvSpPr>
          <p:cNvPr id="19" name="Text 14"/>
          <p:cNvSpPr txBox="1"/>
          <p:nvPr/>
        </p:nvSpPr>
        <p:spPr>
          <a:xfrm>
            <a:off x="9179357" y="1755648"/>
            <a:ext cx="2143658" cy="566928"/>
          </a:xfrm>
          <a:prstGeom prst="rect">
            <a:avLst/>
          </a:prstGeom>
          <a:noFill/>
          <a:ln/>
        </p:spPr>
        <p:txBody>
          <a:bodyPr wrap="square" lIns="0" tIns="0" rIns="0" bIns="0" rtlCol="0" anchor="ctr"/>
          <a:lstStyle/>
          <a:p>
            <a:pPr indent="0" marL="0">
              <a:buNone/>
            </a:pPr>
            <a:r>
              <a:rPr lang="en-US" sz="1300" b="1" spc="200" kern="0" dirty="0">
                <a:solidFill>
                  <a:schemeClr val="accent4"/>
                </a:solidFill>
              </a:rPr>
              <a:t>ACTION 3</a:t>
            </a:r>
            <a:endParaRPr lang="en-US" sz="1300" dirty="0"/>
          </a:p>
        </p:txBody>
      </p:sp>
      <p:sp>
        <p:nvSpPr>
          <p:cNvPr id="20" name="Text 15"/>
          <p:cNvSpPr txBox="1"/>
          <p:nvPr/>
        </p:nvSpPr>
        <p:spPr>
          <a:xfrm>
            <a:off x="8447837" y="2468880"/>
            <a:ext cx="2875178" cy="640080"/>
          </a:xfrm>
          <a:prstGeom prst="rect">
            <a:avLst/>
          </a:prstGeom>
          <a:noFill/>
          <a:ln/>
        </p:spPr>
        <p:txBody>
          <a:bodyPr wrap="square" lIns="0" tIns="0" rIns="0" bIns="0" rtlCol="0" anchor="t"/>
          <a:lstStyle/>
          <a:p>
            <a:pPr indent="0" marL="0">
              <a:buNone/>
            </a:pPr>
            <a:r>
              <a:rPr lang="en-US" sz="1700" b="1" dirty="0">
                <a:solidFill>
                  <a:schemeClr val="accent1"/>
                </a:solidFill>
              </a:rPr>
              <a:t>New-hire calibration &amp; wellness scheduling</a:t>
            </a:r>
            <a:endParaRPr lang="en-US" sz="1700" dirty="0"/>
          </a:p>
        </p:txBody>
      </p:sp>
      <p:sp>
        <p:nvSpPr>
          <p:cNvPr id="21" name="Text 16"/>
          <p:cNvSpPr txBox="1"/>
          <p:nvPr/>
        </p:nvSpPr>
        <p:spPr>
          <a:xfrm>
            <a:off x="8447837" y="3218688"/>
            <a:ext cx="2875178" cy="1481328"/>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Daily 20-minute calibration with senior mentors on over-enforcement (false positives)</a:t>
            </a:r>
            <a:endParaRPr lang="en-US" sz="1400" dirty="0"/>
          </a:p>
          <a:p>
            <a:pPr marL="177800" indent="-177800">
              <a:spcAft>
                <a:spcPts val="800"/>
              </a:spcAft>
              <a:buSzPct val="100000"/>
              <a:buChar char="•"/>
            </a:pPr>
            <a:r>
              <a:rPr lang="en-US" sz="1400" dirty="0">
                <a:solidFill>
                  <a:schemeClr val="tx1"/>
                </a:solidFill>
              </a:rPr>
              <a:t>Automate rotation: 5.5h caps and ≤2 consecutive hours in egregious queues</a:t>
            </a:r>
            <a:endParaRPr lang="en-US" sz="1400" dirty="0"/>
          </a:p>
        </p:txBody>
      </p:sp>
      <p:sp>
        <p:nvSpPr>
          <p:cNvPr id="22" name="Recovery targets banner"/>
          <p:cNvSpPr/>
          <p:nvPr/>
        </p:nvSpPr>
        <p:spPr>
          <a:xfrm>
            <a:off x="548640" y="5157216"/>
            <a:ext cx="11094415" cy="1078992"/>
          </a:xfrm>
          <a:prstGeom prst="roundRect">
            <a:avLst>
              <a:gd name="adj" fmla="val 10169"/>
            </a:avLst>
          </a:prstGeom>
          <a:solidFill>
            <a:schemeClr val="accent2"/>
          </a:solidFill>
          <a:ln/>
        </p:spPr>
      </p:sp>
      <p:sp>
        <p:nvSpPr>
          <p:cNvPr id="23" name="Text 18"/>
          <p:cNvSpPr txBox="1"/>
          <p:nvPr/>
        </p:nvSpPr>
        <p:spPr>
          <a:xfrm>
            <a:off x="868680" y="5294376"/>
            <a:ext cx="3301898" cy="566928"/>
          </a:xfrm>
          <a:prstGeom prst="rect">
            <a:avLst/>
          </a:prstGeom>
          <a:noFill/>
          <a:ln/>
        </p:spPr>
        <p:txBody>
          <a:bodyPr wrap="square" lIns="0" tIns="0" rIns="0" bIns="0" rtlCol="0" anchor="ctr"/>
          <a:lstStyle/>
          <a:p>
            <a:pPr indent="0" marL="0">
              <a:buNone/>
            </a:pPr>
            <a:r>
              <a:rPr lang="en-US" sz="3000" b="1" dirty="0">
                <a:solidFill>
                  <a:schemeClr val="accent1"/>
                </a:solidFill>
                <a:latin typeface="Arial" pitchFamily="34" charset="0"/>
                <a:ea typeface="Arial" pitchFamily="34" charset="-122"/>
                <a:cs typeface="Arial" pitchFamily="34" charset="-120"/>
              </a:rPr>
              <a:t>0 new hires</a:t>
            </a:r>
            <a:endParaRPr lang="en-US" sz="3000" dirty="0"/>
          </a:p>
        </p:txBody>
      </p:sp>
      <p:sp>
        <p:nvSpPr>
          <p:cNvPr id="24" name="Text 19"/>
          <p:cNvSpPr txBox="1"/>
          <p:nvPr/>
        </p:nvSpPr>
        <p:spPr>
          <a:xfrm>
            <a:off x="868680" y="5870448"/>
            <a:ext cx="3301898" cy="320040"/>
          </a:xfrm>
          <a:prstGeom prst="rect">
            <a:avLst/>
          </a:prstGeom>
          <a:noFill/>
          <a:ln/>
        </p:spPr>
        <p:txBody>
          <a:bodyPr wrap="square" lIns="0" tIns="0" rIns="0" bIns="0" rtlCol="0" anchor="t"/>
          <a:lstStyle/>
          <a:p>
            <a:pPr indent="0" marL="0">
              <a:buNone/>
            </a:pPr>
            <a:r>
              <a:rPr lang="en-US" sz="1400" dirty="0">
                <a:solidFill>
                  <a:schemeClr val="tx1"/>
                </a:solidFill>
              </a:rPr>
              <a:t>and zero external software spend</a:t>
            </a:r>
            <a:endParaRPr lang="en-US" sz="1400" dirty="0"/>
          </a:p>
        </p:txBody>
      </p:sp>
      <p:sp>
        <p:nvSpPr>
          <p:cNvPr id="25" name="Text 20"/>
          <p:cNvSpPr txBox="1"/>
          <p:nvPr/>
        </p:nvSpPr>
        <p:spPr>
          <a:xfrm>
            <a:off x="4353458" y="5294376"/>
            <a:ext cx="3301898" cy="566928"/>
          </a:xfrm>
          <a:prstGeom prst="rect">
            <a:avLst/>
          </a:prstGeom>
          <a:noFill/>
          <a:ln/>
        </p:spPr>
        <p:txBody>
          <a:bodyPr wrap="square" lIns="0" tIns="0" rIns="0" bIns="0" rtlCol="0" anchor="ctr"/>
          <a:lstStyle/>
          <a:p>
            <a:pPr indent="0" marL="0">
              <a:buNone/>
            </a:pPr>
            <a:r>
              <a:rPr lang="en-US" sz="3000" b="1" dirty="0">
                <a:solidFill>
                  <a:schemeClr val="accent1"/>
                </a:solidFill>
                <a:latin typeface="Arial" pitchFamily="34" charset="0"/>
                <a:ea typeface="Arial" pitchFamily="34" charset="-122"/>
                <a:cs typeface="Arial" pitchFamily="34" charset="-120"/>
              </a:rPr>
              <a:t>78.2% → ≥95%</a:t>
            </a:r>
            <a:endParaRPr lang="en-US" sz="3000" dirty="0"/>
          </a:p>
        </p:txBody>
      </p:sp>
      <p:sp>
        <p:nvSpPr>
          <p:cNvPr id="26" name="Text 21"/>
          <p:cNvSpPr txBox="1"/>
          <p:nvPr/>
        </p:nvSpPr>
        <p:spPr>
          <a:xfrm>
            <a:off x="4353458" y="5870448"/>
            <a:ext cx="3301898" cy="320040"/>
          </a:xfrm>
          <a:prstGeom prst="rect">
            <a:avLst/>
          </a:prstGeom>
          <a:noFill/>
          <a:ln/>
        </p:spPr>
        <p:txBody>
          <a:bodyPr wrap="square" lIns="0" tIns="0" rIns="0" bIns="0" rtlCol="0" anchor="t"/>
          <a:lstStyle/>
          <a:p>
            <a:pPr indent="0" marL="0">
              <a:buNone/>
            </a:pPr>
            <a:r>
              <a:rPr lang="en-US" sz="1400" dirty="0">
                <a:solidFill>
                  <a:schemeClr val="tx1"/>
                </a:solidFill>
              </a:rPr>
              <a:t>account SLA target within 14 days</a:t>
            </a:r>
            <a:endParaRPr lang="en-US" sz="1400" dirty="0"/>
          </a:p>
        </p:txBody>
      </p:sp>
      <p:sp>
        <p:nvSpPr>
          <p:cNvPr id="27" name="Text 22"/>
          <p:cNvSpPr txBox="1"/>
          <p:nvPr/>
        </p:nvSpPr>
        <p:spPr>
          <a:xfrm>
            <a:off x="7838237" y="5294376"/>
            <a:ext cx="3301898" cy="566928"/>
          </a:xfrm>
          <a:prstGeom prst="rect">
            <a:avLst/>
          </a:prstGeom>
          <a:noFill/>
          <a:ln/>
        </p:spPr>
        <p:txBody>
          <a:bodyPr wrap="square" lIns="0" tIns="0" rIns="0" bIns="0" rtlCol="0" anchor="ctr"/>
          <a:lstStyle/>
          <a:p>
            <a:pPr indent="0" marL="0">
              <a:buNone/>
            </a:pPr>
            <a:r>
              <a:rPr lang="en-US" sz="3000" b="1" dirty="0">
                <a:solidFill>
                  <a:schemeClr val="accent1"/>
                </a:solidFill>
                <a:latin typeface="Arial" pitchFamily="34" charset="0"/>
                <a:ea typeface="Arial" pitchFamily="34" charset="-122"/>
                <a:cs typeface="Arial" pitchFamily="34" charset="-120"/>
              </a:rPr>
              <a:t>56.7% → ≥95%</a:t>
            </a:r>
            <a:endParaRPr lang="en-US" sz="3000" dirty="0"/>
          </a:p>
        </p:txBody>
      </p:sp>
      <p:sp>
        <p:nvSpPr>
          <p:cNvPr id="28" name="Text 23"/>
          <p:cNvSpPr txBox="1"/>
          <p:nvPr/>
        </p:nvSpPr>
        <p:spPr>
          <a:xfrm>
            <a:off x="7838237" y="5870448"/>
            <a:ext cx="3301898" cy="320040"/>
          </a:xfrm>
          <a:prstGeom prst="rect">
            <a:avLst/>
          </a:prstGeom>
          <a:noFill/>
          <a:ln/>
        </p:spPr>
        <p:txBody>
          <a:bodyPr wrap="square" lIns="0" tIns="0" rIns="0" bIns="0" rtlCol="0" anchor="t"/>
          <a:lstStyle/>
          <a:p>
            <a:pPr indent="0" marL="0">
              <a:buNone/>
            </a:pPr>
            <a:r>
              <a:rPr lang="en-US" sz="1400" dirty="0">
                <a:solidFill>
                  <a:schemeClr val="tx1"/>
                </a:solidFill>
              </a:rPr>
              <a:t>TCO 1-hour emergency SLA target</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8229600" cy="292608"/>
          </a:xfrm>
          <a:prstGeom prst="rect">
            <a:avLst/>
          </a:prstGeom>
          <a:noFill/>
          <a:ln/>
        </p:spPr>
        <p:txBody>
          <a:bodyPr wrap="square" lIns="0" tIns="0" rIns="0" bIns="0" rtlCol="0" anchor="ctr"/>
          <a:lstStyle/>
          <a:p>
            <a:pPr indent="0" marL="0">
              <a:buNone/>
            </a:pPr>
            <a:r>
              <a:rPr lang="en-US" sz="1300" b="1" spc="200" kern="0" dirty="0">
                <a:solidFill>
                  <a:schemeClr val="accent3"/>
                </a:solidFill>
              </a:rPr>
              <a:t>APPENDIX  ·  LEADERSHIP Q&amp;A</a:t>
            </a:r>
            <a:endParaRPr lang="en-US" sz="1300" dirty="0"/>
          </a:p>
        </p:txBody>
      </p:sp>
      <p:sp>
        <p:nvSpPr>
          <p:cNvPr id="3" name="Text 1"/>
          <p:cNvSpPr/>
          <p:nvPr>
            <p:ph idx="102" type="title" hasCustomPrompt="1"/>
          </p:nvPr>
        </p:nvSpPr>
        <p:spPr>
          <a:xfrm>
            <a:off x="548640" y="658368"/>
            <a:ext cx="11094415" cy="640080"/>
          </a:xfrm>
          <a:prstGeom prst="rect">
            <a:avLst/>
          </a:prstGeom>
          <a:noFill/>
          <a:ln/>
        </p:spPr>
        <p:txBody>
          <a:bodyPr wrap="square" lIns="0" tIns="0" rIns="0" bIns="0" rtlCol="0" anchor="ctr"/>
          <a:lstStyle/>
          <a:p>
            <a:pPr algn="l" indent="0" marL="0">
              <a:buNone/>
            </a:pPr>
            <a:r>
              <a:rPr lang="en-US" sz="3200" b="1" dirty="0">
                <a:solidFill>
                  <a:schemeClr val="accent1"/>
                </a:solidFill>
              </a:rPr>
              <a:t>Anticipated Questions &amp; Defensible Responses</a:t>
            </a:r>
            <a:endParaRPr lang="en-US" sz="3200" dirty="0"/>
          </a:p>
        </p:txBody>
      </p:sp>
      <p:sp>
        <p:nvSpPr>
          <p:cNvPr id="4" name="Question 1 card"/>
          <p:cNvSpPr/>
          <p:nvPr/>
        </p:nvSpPr>
        <p:spPr>
          <a:xfrm>
            <a:off x="548640" y="1481328"/>
            <a:ext cx="11094415" cy="1463040"/>
          </a:xfrm>
          <a:prstGeom prst="roundRect">
            <a:avLst>
              <a:gd name="adj" fmla="val 7500"/>
            </a:avLst>
          </a:prstGeom>
          <a:solidFill>
            <a:schemeClr val="bg1"/>
          </a:solidFill>
          <a:ln/>
          <a:effectLst>
            <a:outerShdw sx="100000" sy="100000" kx="0" ky="0" algn="bl" rotWithShape="0" blurRad="101600" dist="25400" dir="5400000">
              <a:srgbClr val="000000">
                <a:alpha val="10000"/>
              </a:srgbClr>
            </a:outerShdw>
          </a:effectLst>
        </p:spPr>
      </p:sp>
      <p:sp>
        <p:nvSpPr>
          <p:cNvPr id="5" name="Question 1 circle"/>
          <p:cNvSpPr/>
          <p:nvPr/>
        </p:nvSpPr>
        <p:spPr>
          <a:xfrm>
            <a:off x="868680" y="1755648"/>
            <a:ext cx="502920" cy="502920"/>
          </a:xfrm>
          <a:prstGeom prst="ellipse">
            <a:avLst/>
          </a:prstGeom>
          <a:solidFill>
            <a:schemeClr val="accent1"/>
          </a:solidFill>
          <a:ln/>
        </p:spPr>
      </p:sp>
      <p:pic>
        <p:nvPicPr>
          <p:cNvPr id="6" name="Question 1 icon" descr="Question 1">    </p:cNvPr>
          <p:cNvPicPr>
            <a:picLocks noChangeAspect="1"/>
          </p:cNvPicPr>
          <p:nvPr/>
        </p:nvPicPr>
        <p:blipFill>
          <a:blip r:embed="rId1"/>
          <a:stretch>
            <a:fillRect/>
          </a:stretch>
        </p:blipFill>
        <p:spPr>
          <a:xfrm>
            <a:off x="994410" y="1881378"/>
            <a:ext cx="251460" cy="251460"/>
          </a:xfrm>
          <a:prstGeom prst="rect">
            <a:avLst/>
          </a:prstGeom>
        </p:spPr>
      </p:pic>
      <p:sp>
        <p:nvSpPr>
          <p:cNvPr id="7" name="Text 4"/>
          <p:cNvSpPr txBox="1"/>
          <p:nvPr/>
        </p:nvSpPr>
        <p:spPr>
          <a:xfrm>
            <a:off x="1600200" y="1682496"/>
            <a:ext cx="9722815" cy="365760"/>
          </a:xfrm>
          <a:prstGeom prst="rect">
            <a:avLst/>
          </a:prstGeom>
          <a:noFill/>
          <a:ln/>
        </p:spPr>
        <p:txBody>
          <a:bodyPr wrap="square" lIns="0" tIns="0" rIns="0" bIns="0" rtlCol="0" anchor="ctr"/>
          <a:lstStyle/>
          <a:p>
            <a:pPr indent="0" marL="0">
              <a:buNone/>
            </a:pPr>
            <a:r>
              <a:rPr lang="en-US" sz="1600" b="1" dirty="0">
                <a:solidFill>
                  <a:schemeClr val="accent1"/>
                </a:solidFill>
              </a:rPr>
              <a:t>Won't Spam SLA collapse if we flex capacity out of Spam &amp; Fraud?</a:t>
            </a:r>
            <a:endParaRPr lang="en-US" sz="1600" dirty="0"/>
          </a:p>
        </p:txBody>
      </p:sp>
      <p:sp>
        <p:nvSpPr>
          <p:cNvPr id="8" name="Text 5"/>
          <p:cNvSpPr txBox="1"/>
          <p:nvPr/>
        </p:nvSpPr>
        <p:spPr>
          <a:xfrm>
            <a:off x="1600200" y="2103120"/>
            <a:ext cx="9722815" cy="685800"/>
          </a:xfrm>
          <a:prstGeom prst="rect">
            <a:avLst/>
          </a:prstGeom>
          <a:noFill/>
          <a:ln/>
        </p:spPr>
        <p:txBody>
          <a:bodyPr wrap="square" lIns="0" tIns="0" rIns="0" bIns="0" rtlCol="0" anchor="t"/>
          <a:lstStyle/>
          <a:p>
            <a:pPr indent="0" marL="0">
              <a:buNone/>
            </a:pPr>
            <a:r>
              <a:rPr lang="en-US" sz="1400" dirty="0">
                <a:solidFill>
                  <a:schemeClr val="tx1"/>
                </a:solidFill>
              </a:rPr>
              <a:t>Unlikely. Spam runs at 12.3s AHT and 96.4% SLA with 75% of items automated, and Spam &amp; Fraud together use only 22% of handling hours. Flexing is triggered only on high-risk mix days.</a:t>
            </a:r>
            <a:endParaRPr lang="en-US" sz="1400" dirty="0"/>
          </a:p>
        </p:txBody>
      </p:sp>
      <p:sp>
        <p:nvSpPr>
          <p:cNvPr id="9" name="Question 2 card"/>
          <p:cNvSpPr/>
          <p:nvPr/>
        </p:nvSpPr>
        <p:spPr>
          <a:xfrm>
            <a:off x="548640" y="3127248"/>
            <a:ext cx="11094415" cy="1463040"/>
          </a:xfrm>
          <a:prstGeom prst="roundRect">
            <a:avLst>
              <a:gd name="adj" fmla="val 7500"/>
            </a:avLst>
          </a:prstGeom>
          <a:solidFill>
            <a:schemeClr val="bg1"/>
          </a:solidFill>
          <a:ln/>
          <a:effectLst>
            <a:outerShdw sx="100000" sy="100000" kx="0" ky="0" algn="bl" rotWithShape="0" blurRad="101600" dist="25400" dir="5400000">
              <a:srgbClr val="000000">
                <a:alpha val="10000"/>
              </a:srgbClr>
            </a:outerShdw>
          </a:effectLst>
        </p:spPr>
      </p:sp>
      <p:sp>
        <p:nvSpPr>
          <p:cNvPr id="10" name="Question 2 circle"/>
          <p:cNvSpPr/>
          <p:nvPr/>
        </p:nvSpPr>
        <p:spPr>
          <a:xfrm>
            <a:off x="868680" y="3401568"/>
            <a:ext cx="502920" cy="502920"/>
          </a:xfrm>
          <a:prstGeom prst="ellipse">
            <a:avLst/>
          </a:prstGeom>
          <a:solidFill>
            <a:schemeClr val="accent1"/>
          </a:solidFill>
          <a:ln/>
        </p:spPr>
      </p:sp>
      <p:pic>
        <p:nvPicPr>
          <p:cNvPr id="11" name="Question 2 icon" descr="Question 2">    </p:cNvPr>
          <p:cNvPicPr>
            <a:picLocks noChangeAspect="1"/>
          </p:cNvPicPr>
          <p:nvPr/>
        </p:nvPicPr>
        <p:blipFill>
          <a:blip r:embed="rId2"/>
          <a:stretch>
            <a:fillRect/>
          </a:stretch>
        </p:blipFill>
        <p:spPr>
          <a:xfrm>
            <a:off x="994410" y="3527298"/>
            <a:ext cx="251460" cy="251460"/>
          </a:xfrm>
          <a:prstGeom prst="rect">
            <a:avLst/>
          </a:prstGeom>
        </p:spPr>
      </p:pic>
      <p:sp>
        <p:nvSpPr>
          <p:cNvPr id="12" name="Text 8"/>
          <p:cNvSpPr txBox="1"/>
          <p:nvPr/>
        </p:nvSpPr>
        <p:spPr>
          <a:xfrm>
            <a:off x="1600200" y="3328416"/>
            <a:ext cx="9722815" cy="365760"/>
          </a:xfrm>
          <a:prstGeom prst="rect">
            <a:avLst/>
          </a:prstGeom>
          <a:noFill/>
          <a:ln/>
        </p:spPr>
        <p:txBody>
          <a:bodyPr wrap="square" lIns="0" tIns="0" rIns="0" bIns="0" rtlCol="0" anchor="ctr"/>
          <a:lstStyle/>
          <a:p>
            <a:pPr indent="0" marL="0">
              <a:buNone/>
            </a:pPr>
            <a:r>
              <a:rPr lang="en-US" sz="1600" b="1" dirty="0">
                <a:solidFill>
                  <a:schemeClr val="accent1"/>
                </a:solidFill>
              </a:rPr>
              <a:t>Why not mandate 8-hour shifts for everyone to clear the backlog?</a:t>
            </a:r>
            <a:endParaRPr lang="en-US" sz="1600" dirty="0"/>
          </a:p>
        </p:txBody>
      </p:sp>
      <p:sp>
        <p:nvSpPr>
          <p:cNvPr id="13" name="Text 9"/>
          <p:cNvSpPr txBox="1"/>
          <p:nvPr/>
        </p:nvSpPr>
        <p:spPr>
          <a:xfrm>
            <a:off x="1600200" y="3749040"/>
            <a:ext cx="9722815" cy="685800"/>
          </a:xfrm>
          <a:prstGeom prst="rect">
            <a:avLst/>
          </a:prstGeom>
          <a:noFill/>
          <a:ln/>
        </p:spPr>
        <p:txBody>
          <a:bodyPr wrap="square" lIns="0" tIns="0" rIns="0" bIns="0" rtlCol="0" anchor="t"/>
          <a:lstStyle/>
          <a:p>
            <a:pPr indent="0" marL="0">
              <a:buNone/>
            </a:pPr>
            <a:r>
              <a:rPr lang="en-US" sz="1400" dirty="0">
                <a:solidFill>
                  <a:schemeClr val="tx1"/>
                </a:solidFill>
              </a:rPr>
              <a:t>All 719 egregious items sit in the high-risk queues, and duty-of-care caps exposure at 5.5 hours. Violence QA already dipped to 88.9% during the surge (9 audits). Rotation protects accuracy.</a:t>
            </a:r>
            <a:endParaRPr lang="en-US" sz="1400" dirty="0"/>
          </a:p>
        </p:txBody>
      </p:sp>
      <p:sp>
        <p:nvSpPr>
          <p:cNvPr id="14" name="Question 3 card"/>
          <p:cNvSpPr/>
          <p:nvPr/>
        </p:nvSpPr>
        <p:spPr>
          <a:xfrm>
            <a:off x="548640" y="4773168"/>
            <a:ext cx="11094415" cy="1463040"/>
          </a:xfrm>
          <a:prstGeom prst="roundRect">
            <a:avLst>
              <a:gd name="adj" fmla="val 7500"/>
            </a:avLst>
          </a:prstGeom>
          <a:solidFill>
            <a:schemeClr val="bg1"/>
          </a:solidFill>
          <a:ln/>
          <a:effectLst>
            <a:outerShdw sx="100000" sy="100000" kx="0" ky="0" algn="bl" rotWithShape="0" blurRad="101600" dist="25400" dir="5400000">
              <a:srgbClr val="000000">
                <a:alpha val="10000"/>
              </a:srgbClr>
            </a:outerShdw>
          </a:effectLst>
        </p:spPr>
      </p:sp>
      <p:sp>
        <p:nvSpPr>
          <p:cNvPr id="15" name="Question 3 circle"/>
          <p:cNvSpPr/>
          <p:nvPr/>
        </p:nvSpPr>
        <p:spPr>
          <a:xfrm>
            <a:off x="868680" y="5047488"/>
            <a:ext cx="502920" cy="502920"/>
          </a:xfrm>
          <a:prstGeom prst="ellipse">
            <a:avLst/>
          </a:prstGeom>
          <a:solidFill>
            <a:schemeClr val="accent1"/>
          </a:solidFill>
          <a:ln/>
        </p:spPr>
      </p:sp>
      <p:pic>
        <p:nvPicPr>
          <p:cNvPr id="16" name="Question 3 icon" descr="Question 3">    </p:cNvPr>
          <p:cNvPicPr>
            <a:picLocks noChangeAspect="1"/>
          </p:cNvPicPr>
          <p:nvPr/>
        </p:nvPicPr>
        <p:blipFill>
          <a:blip r:embed="rId3"/>
          <a:stretch>
            <a:fillRect/>
          </a:stretch>
        </p:blipFill>
        <p:spPr>
          <a:xfrm>
            <a:off x="994410" y="5173218"/>
            <a:ext cx="251460" cy="251460"/>
          </a:xfrm>
          <a:prstGeom prst="rect">
            <a:avLst/>
          </a:prstGeom>
        </p:spPr>
      </p:pic>
      <p:sp>
        <p:nvSpPr>
          <p:cNvPr id="17" name="Text 12"/>
          <p:cNvSpPr txBox="1"/>
          <p:nvPr/>
        </p:nvSpPr>
        <p:spPr>
          <a:xfrm>
            <a:off x="1600200" y="4974336"/>
            <a:ext cx="9722815" cy="365760"/>
          </a:xfrm>
          <a:prstGeom prst="rect">
            <a:avLst/>
          </a:prstGeom>
          <a:noFill/>
          <a:ln/>
        </p:spPr>
        <p:txBody>
          <a:bodyPr wrap="square" lIns="0" tIns="0" rIns="0" bIns="0" rtlCol="0" anchor="ctr"/>
          <a:lstStyle/>
          <a:p>
            <a:pPr indent="0" marL="0">
              <a:buNone/>
            </a:pPr>
            <a:r>
              <a:rPr lang="en-US" sz="1600" b="1" dirty="0">
                <a:solidFill>
                  <a:schemeClr val="accent1"/>
                </a:solidFill>
              </a:rPr>
              <a:t>Does widening automated triage risk more false positives?</a:t>
            </a:r>
            <a:endParaRPr lang="en-US" sz="1600" dirty="0"/>
          </a:p>
        </p:txBody>
      </p:sp>
      <p:sp>
        <p:nvSpPr>
          <p:cNvPr id="18" name="Text 13"/>
          <p:cNvSpPr txBox="1"/>
          <p:nvPr/>
        </p:nvSpPr>
        <p:spPr>
          <a:xfrm>
            <a:off x="1600200" y="5394960"/>
            <a:ext cx="9722815" cy="685800"/>
          </a:xfrm>
          <a:prstGeom prst="rect">
            <a:avLst/>
          </a:prstGeom>
          <a:noFill/>
          <a:ln/>
        </p:spPr>
        <p:txBody>
          <a:bodyPr wrap="square" lIns="0" tIns="0" rIns="0" bIns="0" rtlCol="0" anchor="t"/>
          <a:lstStyle/>
          <a:p>
            <a:pPr indent="0" marL="0">
              <a:buNone/>
            </a:pPr>
            <a:r>
              <a:rPr lang="en-US" sz="1400" dirty="0">
                <a:solidFill>
                  <a:schemeClr val="tx1"/>
                </a:solidFill>
              </a:rPr>
              <a:t>We pilot with QA sign-off. Today auto-approved items audit at 100% (75 audits) and auto-rejected at 97.3% (81 audits), and appeals overturn only 15.8% of disputed decisions.</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ApexTrust Telus">
  <a:themeElements>
    <a:clrScheme name="ApexTrust Telus">
      <a:dk1>
        <a:srgbClr val="231833"/>
      </a:dk1>
      <a:lt1>
        <a:srgbClr val="FFFFFF"/>
      </a:lt1>
      <a:dk2>
        <a:srgbClr val="492C73"/>
      </a:dk2>
      <a:lt2>
        <a:srgbClr val="F2F2F2"/>
      </a:lt2>
      <a:accent1>
        <a:srgbClr val="492C73"/>
      </a:accent1>
      <a:accent2>
        <a:srgbClr val="6FD904"/>
      </a:accent2>
      <a:accent3>
        <a:srgbClr val="74BF04"/>
      </a:accent3>
      <a:accent4>
        <a:srgbClr val="66548C"/>
      </a:accent4>
      <a:accent5>
        <a:srgbClr val="E39A1C"/>
      </a:accent5>
      <a:accent6>
        <a:srgbClr val="C8475A"/>
      </a:accent6>
      <a:hlink>
        <a:srgbClr val="66548C"/>
      </a:hlink>
      <a:folHlink>
        <a:srgbClr val="492C73"/>
      </a:folHlink>
    </a:clrScheme>
    <a:fontScheme name="ApexTrust Telu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ApexTrust Operations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ApexTrust Operations — Content Moderation Executive Briefing</dc:title>
  <dc:subject>Queue Analytics, SLA Recovery &amp; Workforce Capacity Optimization</dc:subject>
  <dc:creator>Wesley Taguinod, Operations Business Analyst</dc:creator>
  <cp:lastModifiedBy>Wesley Taguinod, Operations Business Analyst</cp:lastModifiedBy>
  <cp:revision>1</cp:revision>
  <dcterms:created xsi:type="dcterms:W3CDTF">2026-10-08T16:13:56Z</dcterms:created>
  <dcterms:modified xsi:type="dcterms:W3CDTF">2026-10-08T16:13:57Z</dcterms:modified>
</cp:coreProperties>
</file>